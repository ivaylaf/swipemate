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898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90326-828C-88F5-67C7-DD672E3AA7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55E32F-0AE7-FC65-760E-79AA742D08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A39297-2F8D-6098-2C5B-E8F538EC7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4EEEB-4DE9-4BB6-A1EB-26E376F68671}" type="datetimeFigureOut">
              <a:rPr lang="bg-BG" smtClean="0"/>
              <a:t>31.5.2026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59BDBD-A4CA-2139-CAC6-731F5ECA9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A76AE-5CAB-6C93-789A-68800D6FF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F9DC5-48E2-47DF-A7FA-1AD42DC946EE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397835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7ED17-E467-9DFA-166E-5A7B73B1D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CA36A1-9F72-9A27-4A74-CEB377A109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C6D893-457F-671D-55A6-D2A0ECFC0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4EEEB-4DE9-4BB6-A1EB-26E376F68671}" type="datetimeFigureOut">
              <a:rPr lang="bg-BG" smtClean="0"/>
              <a:t>31.5.2026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00EE3E-2C6B-4B1A-4D62-0504589EC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322134-A9BD-F8F7-A071-A8721EA62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F9DC5-48E2-47DF-A7FA-1AD42DC946EE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851262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DCA44-1E58-236A-4507-0D735980E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FC08BE-291F-680C-D047-09E67A81A4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E5C82B-C677-5AA0-DE5B-8BF28F3B8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4EEEB-4DE9-4BB6-A1EB-26E376F68671}" type="datetimeFigureOut">
              <a:rPr lang="bg-BG" smtClean="0"/>
              <a:t>31.5.2026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A30DF5-E94E-A54E-947B-930286D8D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E7FCB9-CA78-B498-CF74-CA515A29E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F9DC5-48E2-47DF-A7FA-1AD42DC946EE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687845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B1251-8D3F-1F93-C9FA-AE4D686C6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0FD35-BFF4-C1D6-1494-7057DB4D2D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75A275-03D0-A1F1-AE56-A12AC54B56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52C05E-EC5C-47CD-72A7-43EF6F98A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4EEEB-4DE9-4BB6-A1EB-26E376F68671}" type="datetimeFigureOut">
              <a:rPr lang="bg-BG" smtClean="0"/>
              <a:t>31.5.2026 г.</a:t>
            </a:fld>
            <a:endParaRPr lang="bg-B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E99AD4-EBA8-B4B4-1316-72BFD4E15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2CAC3B-2E38-D690-5FD3-2262826EC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F9DC5-48E2-47DF-A7FA-1AD42DC946EE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70442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1A9E5-2A34-2C7A-F628-BC9ED8B0D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E8ECDB-F719-B724-172E-CB2C3BDAC5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A5C5DA-BDE6-7761-0BE5-2EA775DA58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CD7CD5-9E9D-8E1A-4CF7-1CEF1189A7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180B73-9B3B-7C87-391A-558B4B21B6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F8CF22-C0B0-9466-C86F-69C73DCAF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4EEEB-4DE9-4BB6-A1EB-26E376F68671}" type="datetimeFigureOut">
              <a:rPr lang="bg-BG" smtClean="0"/>
              <a:t>31.5.2026 г.</a:t>
            </a:fld>
            <a:endParaRPr lang="bg-B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AC2D77-53C0-0266-9E1E-FCB9D4F97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5B41DF-FEC4-C3F6-B5A1-312789274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F9DC5-48E2-47DF-A7FA-1AD42DC946EE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758595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8A81B-54C3-C6C3-B1D2-A95837A89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56933A-09AD-4E4D-AA27-9122BFBF7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4EEEB-4DE9-4BB6-A1EB-26E376F68671}" type="datetimeFigureOut">
              <a:rPr lang="bg-BG" smtClean="0"/>
              <a:t>31.5.2026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F3C43F-475C-DA23-85B7-411828D1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DE9955-2673-890A-0775-6B632D8AA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F9DC5-48E2-47DF-A7FA-1AD42DC946EE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051672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31BEF9-2EC6-871A-9EAB-1C24F3B4D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4EEEB-4DE9-4BB6-A1EB-26E376F68671}" type="datetimeFigureOut">
              <a:rPr lang="bg-BG" smtClean="0"/>
              <a:t>31.5.2026 г.</a:t>
            </a:fld>
            <a:endParaRPr lang="bg-B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C5492F-D2CB-1A0F-E8A8-5648BD332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32980C-1B1F-8750-2BF1-AD358A835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F9DC5-48E2-47DF-A7FA-1AD42DC946EE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51645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5679D-F623-E409-3D0E-0096E52E3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384A9-B63C-F70C-F79D-A36E4C3641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346BEB-CE95-9E88-B7A1-75C1B33DE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01DA76-5C15-E88D-85F9-41C7C8619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4EEEB-4DE9-4BB6-A1EB-26E376F68671}" type="datetimeFigureOut">
              <a:rPr lang="bg-BG" smtClean="0"/>
              <a:t>31.5.2026 г.</a:t>
            </a:fld>
            <a:endParaRPr lang="bg-B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79160A-C2C0-A7E4-5133-A3B5CA744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8D1E19-1615-8185-2446-79454F271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F9DC5-48E2-47DF-A7FA-1AD42DC946EE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160934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DADFD-A789-60A4-EC60-5BC4F12B5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82914A-C08E-ECE0-6E25-FBD90E3949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bg-B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DE62E3-B6E1-510D-1DFA-DC7E0E0860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D77140-4595-CB57-31E4-3A408DECE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4EEEB-4DE9-4BB6-A1EB-26E376F68671}" type="datetimeFigureOut">
              <a:rPr lang="bg-BG" smtClean="0"/>
              <a:t>31.5.2026 г.</a:t>
            </a:fld>
            <a:endParaRPr lang="bg-B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7418CE-5127-1BB6-27A3-D624C6B65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F81B08-28E3-D3CD-2B19-37FD1B928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F9DC5-48E2-47DF-A7FA-1AD42DC946EE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824725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EE199-C4E1-A5E5-1FB8-F1F86FC57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A0EC4C-51B1-F374-C67D-EF757BA692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6B2CE6-CA17-2D70-C908-A3010F25A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4EEEB-4DE9-4BB6-A1EB-26E376F68671}" type="datetimeFigureOut">
              <a:rPr lang="bg-BG" smtClean="0"/>
              <a:t>31.5.2026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49556D-A391-578B-47D0-BB1B9BF95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D5D433-88A7-85CC-AB69-F476800D1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F9DC5-48E2-47DF-A7FA-1AD42DC946EE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682787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20B5B6-EEB5-8603-6C80-4BB8242182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631F98-6C0F-FF7C-E7E0-A4AAB41D7D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5127E0-1F72-59E3-A75C-F14710B88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4EEEB-4DE9-4BB6-A1EB-26E376F68671}" type="datetimeFigureOut">
              <a:rPr lang="bg-BG" smtClean="0"/>
              <a:t>31.5.2026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6CE669-12B3-05E8-9AF5-170257598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83D33-383C-BDEA-C693-03CC7477C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F9DC5-48E2-47DF-A7FA-1AD42DC946EE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75064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1003AC-83FC-0C17-C820-2F8361DB6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CD387B-2C57-2154-6986-F871E48333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6BE9AD-75B5-182B-F170-BFB53BB363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64EEEB-4DE9-4BB6-A1EB-26E376F68671}" type="datetimeFigureOut">
              <a:rPr lang="bg-BG" smtClean="0"/>
              <a:t>31.5.2026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231AFD-5E07-42BF-916B-DF1DCE97C5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45A325-A2E1-7862-3E15-12EFD87355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9F9DC5-48E2-47DF-A7FA-1AD42DC946EE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22191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bg-B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5932069F-0C15-8884-D84E-0DD06A9700A8}"/>
              </a:ext>
            </a:extLst>
          </p:cNvPr>
          <p:cNvSpPr/>
          <p:nvPr/>
        </p:nvSpPr>
        <p:spPr>
          <a:xfrm>
            <a:off x="685800" y="584200"/>
            <a:ext cx="685800" cy="685800"/>
          </a:xfrm>
          <a:prstGeom prst="ellipse">
            <a:avLst/>
          </a:prstGeom>
          <a:solidFill>
            <a:srgbClr val="EC48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SM</a:t>
            </a:r>
            <a:endParaRPr lang="bg-BG" sz="13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9FA2AA-0449-33AF-A508-46D8E457C53D}"/>
              </a:ext>
            </a:extLst>
          </p:cNvPr>
          <p:cNvSpPr txBox="1"/>
          <p:nvPr/>
        </p:nvSpPr>
        <p:spPr>
          <a:xfrm>
            <a:off x="1574800" y="609600"/>
            <a:ext cx="4572000" cy="5232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3400" b="1">
                <a:solidFill>
                  <a:srgbClr val="111827"/>
                </a:solidFill>
                <a:latin typeface="Aptos" panose="020B0004020202020204" pitchFamily="34" charset="0"/>
              </a:rPr>
              <a:t>SwipeMate</a:t>
            </a:r>
            <a:endParaRPr lang="bg-BG" sz="3400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D84915-37AB-B405-6D8E-2AE6F5C5657B}"/>
              </a:ext>
            </a:extLst>
          </p:cNvPr>
          <p:cNvSpPr txBox="1"/>
          <p:nvPr/>
        </p:nvSpPr>
        <p:spPr>
          <a:xfrm>
            <a:off x="685800" y="1905000"/>
            <a:ext cx="7112000" cy="143116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3100" b="1">
                <a:solidFill>
                  <a:srgbClr val="111827"/>
                </a:solidFill>
                <a:latin typeface="Aptos" panose="020B0004020202020204" pitchFamily="34" charset="0"/>
              </a:rPr>
              <a:t>Мобилно приложение за колективно вземане на решения чрез swipe-базиран интерфейс</a:t>
            </a:r>
            <a:endParaRPr lang="bg-BG" sz="3100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9989CD-1504-02A7-6AB7-D71940911A91}"/>
              </a:ext>
            </a:extLst>
          </p:cNvPr>
          <p:cNvSpPr txBox="1"/>
          <p:nvPr/>
        </p:nvSpPr>
        <p:spPr>
          <a:xfrm>
            <a:off x="711200" y="3149600"/>
            <a:ext cx="7112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1500">
                <a:solidFill>
                  <a:srgbClr val="596275"/>
                </a:solidFill>
                <a:latin typeface="Aptos" panose="020B0004020202020204" pitchFamily="34" charset="0"/>
              </a:rPr>
              <a:t>Дипломен проект · Ивайла Георгиева Филипова · 2025/2026</a:t>
            </a:r>
            <a:endParaRPr lang="bg-BG" sz="1500">
              <a:solidFill>
                <a:srgbClr val="596275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E0B29D5-DF6C-288A-37AE-C4F17BDDABDB}"/>
              </a:ext>
            </a:extLst>
          </p:cNvPr>
          <p:cNvSpPr/>
          <p:nvPr/>
        </p:nvSpPr>
        <p:spPr>
          <a:xfrm>
            <a:off x="736600" y="3860800"/>
            <a:ext cx="1422400" cy="381000"/>
          </a:xfrm>
          <a:prstGeom prst="roundRect">
            <a:avLst/>
          </a:prstGeom>
          <a:solidFill>
            <a:srgbClr val="A855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.NET MAUI</a:t>
            </a:r>
            <a:endParaRPr lang="bg-BG" sz="11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DA0515B-ADBE-48D5-CEA7-4091A50A2A7E}"/>
              </a:ext>
            </a:extLst>
          </p:cNvPr>
          <p:cNvSpPr/>
          <p:nvPr/>
        </p:nvSpPr>
        <p:spPr>
          <a:xfrm>
            <a:off x="2336800" y="3860800"/>
            <a:ext cx="1651000" cy="381000"/>
          </a:xfrm>
          <a:prstGeom prst="roundRect">
            <a:avLst/>
          </a:prstGeom>
          <a:solidFill>
            <a:srgbClr val="EC48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ASP.NET Core</a:t>
            </a:r>
            <a:endParaRPr lang="bg-BG" sz="11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AE58A80-B50D-1B0D-83C1-15A9EF4D806E}"/>
              </a:ext>
            </a:extLst>
          </p:cNvPr>
          <p:cNvSpPr/>
          <p:nvPr/>
        </p:nvSpPr>
        <p:spPr>
          <a:xfrm>
            <a:off x="4165600" y="3860800"/>
            <a:ext cx="1422400" cy="381000"/>
          </a:xfrm>
          <a:prstGeom prst="roundRect">
            <a:avLst/>
          </a:prstGeom>
          <a:solidFill>
            <a:srgbClr val="0EA5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PostgreSQL</a:t>
            </a:r>
            <a:endParaRPr lang="bg-BG" sz="11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3B792FF-4F41-589E-57B3-BE8493EA10F3}"/>
              </a:ext>
            </a:extLst>
          </p:cNvPr>
          <p:cNvSpPr/>
          <p:nvPr/>
        </p:nvSpPr>
        <p:spPr>
          <a:xfrm>
            <a:off x="5765800" y="3860800"/>
            <a:ext cx="2032000" cy="381000"/>
          </a:xfrm>
          <a:prstGeom prst="roundRect">
            <a:avLst/>
          </a:prstGeom>
          <a:solidFill>
            <a:srgbClr val="22C55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Supabase + Render</a:t>
            </a:r>
            <a:endParaRPr lang="bg-BG" sz="11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22B7B3D-D91B-B645-CDBE-483CA11539EB}"/>
              </a:ext>
            </a:extLst>
          </p:cNvPr>
          <p:cNvSpPr/>
          <p:nvPr/>
        </p:nvSpPr>
        <p:spPr>
          <a:xfrm>
            <a:off x="8509000" y="1092200"/>
            <a:ext cx="2540000" cy="444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B7FEDC8-5FE1-1D22-BF1D-6988F58040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2603" y="1092200"/>
            <a:ext cx="2192795" cy="4445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55AA1BF-3BF7-DEC1-33F4-E689BEAB2D22}"/>
              </a:ext>
            </a:extLst>
          </p:cNvPr>
          <p:cNvSpPr txBox="1"/>
          <p:nvPr/>
        </p:nvSpPr>
        <p:spPr>
          <a:xfrm>
            <a:off x="736600" y="5969000"/>
            <a:ext cx="4318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300">
                <a:solidFill>
                  <a:srgbClr val="596275"/>
                </a:solidFill>
                <a:latin typeface="Aptos" panose="020B0004020202020204" pitchFamily="34" charset="0"/>
              </a:rPr>
              <a:t>Ръководител: Деница Грозева</a:t>
            </a:r>
          </a:p>
        </p:txBody>
      </p:sp>
    </p:spTree>
    <p:extLst>
      <p:ext uri="{BB962C8B-B14F-4D97-AF65-F5344CB8AC3E}">
        <p14:creationId xmlns:p14="http://schemas.microsoft.com/office/powerpoint/2010/main" val="6899744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F46FAB-C89F-D8BC-3614-10124F01BFA5}"/>
              </a:ext>
            </a:extLst>
          </p:cNvPr>
          <p:cNvSpPr txBox="1"/>
          <p:nvPr/>
        </p:nvSpPr>
        <p:spPr>
          <a:xfrm>
            <a:off x="533400" y="355600"/>
            <a:ext cx="863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bg-BG" sz="2500" b="1">
                <a:solidFill>
                  <a:srgbClr val="111827"/>
                </a:solidFill>
                <a:latin typeface="Aptos" panose="020B0004020202020204" pitchFamily="34" charset="0"/>
              </a:rPr>
              <a:t>1. Идеята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08A46F-9786-ED2E-A8DA-F1C06A9EA198}"/>
              </a:ext>
            </a:extLst>
          </p:cNvPr>
          <p:cNvSpPr txBox="1"/>
          <p:nvPr/>
        </p:nvSpPr>
        <p:spPr>
          <a:xfrm>
            <a:off x="558800" y="838200"/>
            <a:ext cx="965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200">
                <a:solidFill>
                  <a:srgbClr val="596275"/>
                </a:solidFill>
                <a:latin typeface="Aptos" panose="020B0004020202020204" pitchFamily="34" charset="0"/>
              </a:rPr>
              <a:t>Защо SwipeMate решава реален ежедневен проблем</a:t>
            </a:r>
            <a:endParaRPr lang="bg-BG" sz="1200">
              <a:solidFill>
                <a:srgbClr val="596275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893A7A-5D5F-9262-F5E3-A585EF36EE6E}"/>
              </a:ext>
            </a:extLst>
          </p:cNvPr>
          <p:cNvSpPr txBox="1"/>
          <p:nvPr/>
        </p:nvSpPr>
        <p:spPr>
          <a:xfrm>
            <a:off x="736600" y="1524000"/>
            <a:ext cx="5207000" cy="135421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2200" b="1">
                <a:solidFill>
                  <a:srgbClr val="111827"/>
                </a:solidFill>
                <a:latin typeface="Aptos" panose="020B0004020202020204" pitchFamily="34" charset="0"/>
              </a:rPr>
              <a:t>Когато група приятели избира филм, ресторант, рецепта или игра, решението често се губи в чатове, компромиси и дълги обсъждания.</a:t>
            </a:r>
            <a:endParaRPr lang="bg-BG" sz="2200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6E964B7-75E9-6214-22C7-8BB3C2A6A503}"/>
              </a:ext>
            </a:extLst>
          </p:cNvPr>
          <p:cNvSpPr/>
          <p:nvPr/>
        </p:nvSpPr>
        <p:spPr>
          <a:xfrm>
            <a:off x="736600" y="3581400"/>
            <a:ext cx="279400" cy="279400"/>
          </a:xfrm>
          <a:prstGeom prst="roundRect">
            <a:avLst/>
          </a:prstGeom>
          <a:solidFill>
            <a:srgbClr val="A855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100" b="1">
                <a:solidFill>
                  <a:srgbClr val="FFFFFF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F984FF-D352-0EBA-94D4-9F00959A8CBE}"/>
              </a:ext>
            </a:extLst>
          </p:cNvPr>
          <p:cNvSpPr txBox="1"/>
          <p:nvPr/>
        </p:nvSpPr>
        <p:spPr>
          <a:xfrm>
            <a:off x="1168400" y="3594100"/>
            <a:ext cx="4953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1400">
                <a:solidFill>
                  <a:srgbClr val="111827"/>
                </a:solidFill>
                <a:latin typeface="Aptos" panose="020B0004020202020204" pitchFamily="34" charset="0"/>
              </a:rPr>
              <a:t>общ избор чрез кратки swipe действия</a:t>
            </a:r>
            <a:endParaRPr lang="bg-BG" sz="1400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6B31B2F-5584-CDFD-B342-A6CF41EFD770}"/>
              </a:ext>
            </a:extLst>
          </p:cNvPr>
          <p:cNvSpPr/>
          <p:nvPr/>
        </p:nvSpPr>
        <p:spPr>
          <a:xfrm>
            <a:off x="736600" y="3949700"/>
            <a:ext cx="279400" cy="279400"/>
          </a:xfrm>
          <a:prstGeom prst="roundRect">
            <a:avLst/>
          </a:prstGeom>
          <a:solidFill>
            <a:srgbClr val="A855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100" b="1">
                <a:solidFill>
                  <a:srgbClr val="FFFFFF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8CD738-9F30-33F0-DAED-48755FACEA0D}"/>
              </a:ext>
            </a:extLst>
          </p:cNvPr>
          <p:cNvSpPr txBox="1"/>
          <p:nvPr/>
        </p:nvSpPr>
        <p:spPr>
          <a:xfrm>
            <a:off x="1168400" y="3962400"/>
            <a:ext cx="4953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1400">
                <a:solidFill>
                  <a:srgbClr val="111827"/>
                </a:solidFill>
                <a:latin typeface="Aptos" panose="020B0004020202020204" pitchFamily="34" charset="0"/>
              </a:rPr>
              <a:t>всеки участник задава свои филтри</a:t>
            </a:r>
            <a:endParaRPr lang="bg-BG" sz="1400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7806EB3-AAAF-29DF-CDE2-5693D714C44F}"/>
              </a:ext>
            </a:extLst>
          </p:cNvPr>
          <p:cNvSpPr/>
          <p:nvPr/>
        </p:nvSpPr>
        <p:spPr>
          <a:xfrm>
            <a:off x="736600" y="4318000"/>
            <a:ext cx="279400" cy="279400"/>
          </a:xfrm>
          <a:prstGeom prst="roundRect">
            <a:avLst/>
          </a:prstGeom>
          <a:solidFill>
            <a:srgbClr val="A855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100" b="1">
                <a:solidFill>
                  <a:srgbClr val="FFFFFF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BC3090-39C9-CED8-DBC5-36101D9E89B9}"/>
              </a:ext>
            </a:extLst>
          </p:cNvPr>
          <p:cNvSpPr txBox="1"/>
          <p:nvPr/>
        </p:nvSpPr>
        <p:spPr>
          <a:xfrm>
            <a:off x="1168400" y="4330700"/>
            <a:ext cx="4953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1400">
                <a:solidFill>
                  <a:srgbClr val="111827"/>
                </a:solidFill>
                <a:latin typeface="Aptos" panose="020B0004020202020204" pitchFamily="34" charset="0"/>
              </a:rPr>
              <a:t>системата търси съвпадение между всички</a:t>
            </a:r>
            <a:endParaRPr lang="bg-BG" sz="1400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5E7EE1E-94E5-ED2A-F8FB-E885B6437051}"/>
              </a:ext>
            </a:extLst>
          </p:cNvPr>
          <p:cNvSpPr/>
          <p:nvPr/>
        </p:nvSpPr>
        <p:spPr>
          <a:xfrm>
            <a:off x="736600" y="4686300"/>
            <a:ext cx="279400" cy="279400"/>
          </a:xfrm>
          <a:prstGeom prst="roundRect">
            <a:avLst/>
          </a:prstGeom>
          <a:solidFill>
            <a:srgbClr val="A855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100" b="1">
                <a:solidFill>
                  <a:srgbClr val="FFFFFF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826B68-5B8A-F8B7-C0AB-35E59F8E3556}"/>
              </a:ext>
            </a:extLst>
          </p:cNvPr>
          <p:cNvSpPr txBox="1"/>
          <p:nvPr/>
        </p:nvSpPr>
        <p:spPr>
          <a:xfrm>
            <a:off x="1168400" y="4699000"/>
            <a:ext cx="4953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1400">
                <a:solidFill>
                  <a:srgbClr val="111827"/>
                </a:solidFill>
                <a:latin typeface="Aptos" panose="020B0004020202020204" pitchFamily="34" charset="0"/>
              </a:rPr>
              <a:t>насочено към реални сценарии за български потребители</a:t>
            </a:r>
            <a:endParaRPr lang="bg-BG" sz="1400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3392908-07FB-623E-C542-5460765A9F73}"/>
              </a:ext>
            </a:extLst>
          </p:cNvPr>
          <p:cNvSpPr/>
          <p:nvPr/>
        </p:nvSpPr>
        <p:spPr>
          <a:xfrm>
            <a:off x="6794500" y="1397000"/>
            <a:ext cx="4191000" cy="381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6BDD4CD-04A9-EAD2-8E03-8AFB16A9C092}"/>
              </a:ext>
            </a:extLst>
          </p:cNvPr>
          <p:cNvSpPr/>
          <p:nvPr/>
        </p:nvSpPr>
        <p:spPr>
          <a:xfrm>
            <a:off x="7302500" y="1905000"/>
            <a:ext cx="431800" cy="431800"/>
          </a:xfrm>
          <a:prstGeom prst="roundRect">
            <a:avLst/>
          </a:prstGeom>
          <a:solidFill>
            <a:srgbClr val="0EA5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1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4F5F12-60E3-E5F7-178D-BAD82AFDBA91}"/>
              </a:ext>
            </a:extLst>
          </p:cNvPr>
          <p:cNvSpPr txBox="1"/>
          <p:nvPr/>
        </p:nvSpPr>
        <p:spPr>
          <a:xfrm>
            <a:off x="7886700" y="1879600"/>
            <a:ext cx="27178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600" b="1">
                <a:solidFill>
                  <a:srgbClr val="111827"/>
                </a:solidFill>
                <a:latin typeface="Aptos" panose="020B0004020202020204" pitchFamily="34" charset="0"/>
              </a:rPr>
              <a:t>Категория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F35A08-1A28-1B1A-4F59-A7A01EC93E21}"/>
              </a:ext>
            </a:extLst>
          </p:cNvPr>
          <p:cNvSpPr txBox="1"/>
          <p:nvPr/>
        </p:nvSpPr>
        <p:spPr>
          <a:xfrm>
            <a:off x="7886700" y="2184400"/>
            <a:ext cx="27178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1100">
                <a:solidFill>
                  <a:srgbClr val="596275"/>
                </a:solidFill>
                <a:latin typeface="Aptos" panose="020B0004020202020204" pitchFamily="34" charset="0"/>
              </a:rPr>
              <a:t>филми, ресторанти, рецепти или игри</a:t>
            </a:r>
            <a:endParaRPr lang="bg-BG" sz="1100">
              <a:solidFill>
                <a:srgbClr val="596275"/>
              </a:solidFill>
              <a:latin typeface="Aptos" panose="020B000402020202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296C486-FA25-F2AA-3802-C9C3FDFE3936}"/>
              </a:ext>
            </a:extLst>
          </p:cNvPr>
          <p:cNvSpPr/>
          <p:nvPr/>
        </p:nvSpPr>
        <p:spPr>
          <a:xfrm>
            <a:off x="7302500" y="2794000"/>
            <a:ext cx="431800" cy="431800"/>
          </a:xfrm>
          <a:prstGeom prst="roundRect">
            <a:avLst/>
          </a:prstGeom>
          <a:solidFill>
            <a:srgbClr val="EC48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1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DA3732F-C52A-AA66-F91F-50284B56EBD4}"/>
              </a:ext>
            </a:extLst>
          </p:cNvPr>
          <p:cNvSpPr txBox="1"/>
          <p:nvPr/>
        </p:nvSpPr>
        <p:spPr>
          <a:xfrm>
            <a:off x="7886700" y="2768600"/>
            <a:ext cx="27178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600" b="1">
                <a:solidFill>
                  <a:srgbClr val="111827"/>
                </a:solidFill>
                <a:latin typeface="Aptos" panose="020B0004020202020204" pitchFamily="34" charset="0"/>
              </a:rPr>
              <a:t>Приятели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381F03-F3AC-14CD-F460-04B6AFDFD1EC}"/>
              </a:ext>
            </a:extLst>
          </p:cNvPr>
          <p:cNvSpPr txBox="1"/>
          <p:nvPr/>
        </p:nvSpPr>
        <p:spPr>
          <a:xfrm>
            <a:off x="7886700" y="3073400"/>
            <a:ext cx="27178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100">
                <a:solidFill>
                  <a:srgbClr val="596275"/>
                </a:solidFill>
                <a:latin typeface="Aptos" panose="020B0004020202020204" pitchFamily="34" charset="0"/>
              </a:rPr>
              <a:t>покани към реални потребители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734356E-9D55-9232-A635-33F656EDF6ED}"/>
              </a:ext>
            </a:extLst>
          </p:cNvPr>
          <p:cNvSpPr/>
          <p:nvPr/>
        </p:nvSpPr>
        <p:spPr>
          <a:xfrm>
            <a:off x="7302500" y="3683000"/>
            <a:ext cx="431800" cy="431800"/>
          </a:xfrm>
          <a:prstGeom prst="roundRect">
            <a:avLst/>
          </a:prstGeom>
          <a:solidFill>
            <a:srgbClr val="A855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1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DB3FAA4-5DFF-D198-90EB-980AB2372AB4}"/>
              </a:ext>
            </a:extLst>
          </p:cNvPr>
          <p:cNvSpPr txBox="1"/>
          <p:nvPr/>
        </p:nvSpPr>
        <p:spPr>
          <a:xfrm>
            <a:off x="7886700" y="3657600"/>
            <a:ext cx="27178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600" b="1">
                <a:solidFill>
                  <a:srgbClr val="111827"/>
                </a:solidFill>
                <a:latin typeface="Aptos" panose="020B0004020202020204" pitchFamily="34" charset="0"/>
              </a:rPr>
              <a:t>Филтри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995BE07-23D9-FA8B-5131-608DC120C407}"/>
              </a:ext>
            </a:extLst>
          </p:cNvPr>
          <p:cNvSpPr txBox="1"/>
          <p:nvPr/>
        </p:nvSpPr>
        <p:spPr>
          <a:xfrm>
            <a:off x="7886700" y="3962400"/>
            <a:ext cx="27178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100">
                <a:solidFill>
                  <a:srgbClr val="596275"/>
                </a:solidFill>
                <a:latin typeface="Aptos" panose="020B0004020202020204" pitchFamily="34" charset="0"/>
              </a:rPr>
              <a:t>обединяване на предпочитанията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ABF4960-F9A0-EF6D-3133-9A4A38B695E1}"/>
              </a:ext>
            </a:extLst>
          </p:cNvPr>
          <p:cNvSpPr/>
          <p:nvPr/>
        </p:nvSpPr>
        <p:spPr>
          <a:xfrm>
            <a:off x="7302500" y="4572000"/>
            <a:ext cx="431800" cy="431800"/>
          </a:xfrm>
          <a:prstGeom prst="roundRect">
            <a:avLst/>
          </a:prstGeom>
          <a:solidFill>
            <a:srgbClr val="22C55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100" b="1">
                <a:solidFill>
                  <a:srgbClr val="FFFFFF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F95F911-C46E-8ADF-0EDF-C7DEE20EDF39}"/>
              </a:ext>
            </a:extLst>
          </p:cNvPr>
          <p:cNvSpPr txBox="1"/>
          <p:nvPr/>
        </p:nvSpPr>
        <p:spPr>
          <a:xfrm>
            <a:off x="7886700" y="4546600"/>
            <a:ext cx="27178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600" b="1">
                <a:solidFill>
                  <a:srgbClr val="111827"/>
                </a:solidFill>
                <a:latin typeface="Aptos" panose="020B0004020202020204" pitchFamily="34" charset="0"/>
              </a:rPr>
              <a:t>Match</a:t>
            </a:r>
            <a:endParaRPr lang="bg-BG" sz="1600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583D13F-CDBE-6132-6604-A118C0CD478B}"/>
              </a:ext>
            </a:extLst>
          </p:cNvPr>
          <p:cNvSpPr txBox="1"/>
          <p:nvPr/>
        </p:nvSpPr>
        <p:spPr>
          <a:xfrm>
            <a:off x="7886700" y="4851400"/>
            <a:ext cx="27178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1100">
                <a:solidFill>
                  <a:srgbClr val="596275"/>
                </a:solidFill>
                <a:latin typeface="Aptos" panose="020B0004020202020204" pitchFamily="34" charset="0"/>
              </a:rPr>
              <a:t>общ избор, когато всички харесат вариант</a:t>
            </a:r>
            <a:endParaRPr lang="bg-BG" sz="1100">
              <a:solidFill>
                <a:srgbClr val="596275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1503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5CC3F93-506C-219E-D80F-F527003C5E8E}"/>
              </a:ext>
            </a:extLst>
          </p:cNvPr>
          <p:cNvSpPr txBox="1"/>
          <p:nvPr/>
        </p:nvSpPr>
        <p:spPr>
          <a:xfrm>
            <a:off x="533400" y="355600"/>
            <a:ext cx="863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bg-BG" sz="2500" b="1">
                <a:solidFill>
                  <a:srgbClr val="111827"/>
                </a:solidFill>
                <a:latin typeface="Aptos" panose="020B0004020202020204" pitchFamily="34" charset="0"/>
              </a:rPr>
              <a:t>2. Цел и функционалности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31E1A6-83A4-485B-1CFF-AF4B0DFEA170}"/>
              </a:ext>
            </a:extLst>
          </p:cNvPr>
          <p:cNvSpPr txBox="1"/>
          <p:nvPr/>
        </p:nvSpPr>
        <p:spPr>
          <a:xfrm>
            <a:off x="558800" y="838200"/>
            <a:ext cx="965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200">
                <a:solidFill>
                  <a:srgbClr val="596275"/>
                </a:solidFill>
                <a:latin typeface="Aptos" panose="020B0004020202020204" pitchFamily="34" charset="0"/>
              </a:rPr>
              <a:t>Какво покрива приложението според заданието</a:t>
            </a:r>
            <a:endParaRPr lang="bg-BG" sz="1200">
              <a:solidFill>
                <a:srgbClr val="596275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F793FF3-410D-3004-E402-FBA9F532545D}"/>
              </a:ext>
            </a:extLst>
          </p:cNvPr>
          <p:cNvSpPr/>
          <p:nvPr/>
        </p:nvSpPr>
        <p:spPr>
          <a:xfrm>
            <a:off x="584200" y="1498600"/>
            <a:ext cx="3302000" cy="355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1A7922-048D-36A2-7610-27104F2D5DBD}"/>
              </a:ext>
            </a:extLst>
          </p:cNvPr>
          <p:cNvSpPr txBox="1"/>
          <p:nvPr/>
        </p:nvSpPr>
        <p:spPr>
          <a:xfrm>
            <a:off x="914400" y="1803400"/>
            <a:ext cx="2286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2000" b="1">
                <a:solidFill>
                  <a:srgbClr val="111827"/>
                </a:solidFill>
                <a:latin typeface="Aptos" panose="020B0004020202020204" pitchFamily="34" charset="0"/>
              </a:rPr>
              <a:t>Потребител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6DB63ED-802D-BB48-7B9F-F276D264681E}"/>
              </a:ext>
            </a:extLst>
          </p:cNvPr>
          <p:cNvSpPr/>
          <p:nvPr/>
        </p:nvSpPr>
        <p:spPr>
          <a:xfrm>
            <a:off x="914400" y="2413000"/>
            <a:ext cx="279400" cy="279400"/>
          </a:xfrm>
          <a:prstGeom prst="roundRect">
            <a:avLst/>
          </a:prstGeom>
          <a:solidFill>
            <a:srgbClr val="A855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100" b="1">
                <a:solidFill>
                  <a:srgbClr val="FFFFFF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238A66-7ED0-BFDD-2651-5D120D352725}"/>
              </a:ext>
            </a:extLst>
          </p:cNvPr>
          <p:cNvSpPr txBox="1"/>
          <p:nvPr/>
        </p:nvSpPr>
        <p:spPr>
          <a:xfrm>
            <a:off x="1346200" y="2425700"/>
            <a:ext cx="2413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300">
                <a:solidFill>
                  <a:srgbClr val="111827"/>
                </a:solidFill>
                <a:latin typeface="Aptos" panose="020B0004020202020204" pitchFamily="34" charset="0"/>
              </a:rPr>
              <a:t>регистрация и вход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87E0329-D36F-3DF8-E6F0-49F1FA8D2CE5}"/>
              </a:ext>
            </a:extLst>
          </p:cNvPr>
          <p:cNvSpPr/>
          <p:nvPr/>
        </p:nvSpPr>
        <p:spPr>
          <a:xfrm>
            <a:off x="914400" y="2781300"/>
            <a:ext cx="279400" cy="279400"/>
          </a:xfrm>
          <a:prstGeom prst="roundRect">
            <a:avLst/>
          </a:prstGeom>
          <a:solidFill>
            <a:srgbClr val="A855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100" b="1">
                <a:solidFill>
                  <a:srgbClr val="FFFFFF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952FCE-70C9-FEED-EBBA-4C3DFF3783F9}"/>
              </a:ext>
            </a:extLst>
          </p:cNvPr>
          <p:cNvSpPr txBox="1"/>
          <p:nvPr/>
        </p:nvSpPr>
        <p:spPr>
          <a:xfrm>
            <a:off x="1346200" y="2794000"/>
            <a:ext cx="2413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300">
                <a:solidFill>
                  <a:srgbClr val="111827"/>
                </a:solidFill>
                <a:latin typeface="Aptos" panose="020B0004020202020204" pitchFamily="34" charset="0"/>
              </a:rPr>
              <a:t>профил и редакция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14C47EA-5FFE-F827-1E30-3BB8789C6C5D}"/>
              </a:ext>
            </a:extLst>
          </p:cNvPr>
          <p:cNvSpPr/>
          <p:nvPr/>
        </p:nvSpPr>
        <p:spPr>
          <a:xfrm>
            <a:off x="914400" y="3149600"/>
            <a:ext cx="279400" cy="279400"/>
          </a:xfrm>
          <a:prstGeom prst="roundRect">
            <a:avLst/>
          </a:prstGeom>
          <a:solidFill>
            <a:srgbClr val="A855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100" b="1">
                <a:solidFill>
                  <a:srgbClr val="FFFFFF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F245DD-BAC2-0347-0C28-B685729DE063}"/>
              </a:ext>
            </a:extLst>
          </p:cNvPr>
          <p:cNvSpPr txBox="1"/>
          <p:nvPr/>
        </p:nvSpPr>
        <p:spPr>
          <a:xfrm>
            <a:off x="1346200" y="3162300"/>
            <a:ext cx="2413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300">
                <a:solidFill>
                  <a:srgbClr val="111827"/>
                </a:solidFill>
                <a:latin typeface="Aptos" panose="020B0004020202020204" pitchFamily="34" charset="0"/>
              </a:rPr>
              <a:t>приятели и покани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37DB35B-50AF-EDD9-8471-73D0267514C4}"/>
              </a:ext>
            </a:extLst>
          </p:cNvPr>
          <p:cNvSpPr/>
          <p:nvPr/>
        </p:nvSpPr>
        <p:spPr>
          <a:xfrm>
            <a:off x="914400" y="3517900"/>
            <a:ext cx="279400" cy="279400"/>
          </a:xfrm>
          <a:prstGeom prst="roundRect">
            <a:avLst/>
          </a:prstGeom>
          <a:solidFill>
            <a:srgbClr val="A855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100" b="1">
                <a:solidFill>
                  <a:srgbClr val="FFFFFF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6A3FDA-1D12-341C-6DE4-20209C319A15}"/>
              </a:ext>
            </a:extLst>
          </p:cNvPr>
          <p:cNvSpPr txBox="1"/>
          <p:nvPr/>
        </p:nvSpPr>
        <p:spPr>
          <a:xfrm>
            <a:off x="1346200" y="3530600"/>
            <a:ext cx="2413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300">
                <a:solidFill>
                  <a:srgbClr val="111827"/>
                </a:solidFill>
                <a:latin typeface="Aptos" panose="020B0004020202020204" pitchFamily="34" charset="0"/>
              </a:rPr>
              <a:t>история на сесиите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49F710A-C632-30DB-BADF-80EB65E786D8}"/>
              </a:ext>
            </a:extLst>
          </p:cNvPr>
          <p:cNvSpPr/>
          <p:nvPr/>
        </p:nvSpPr>
        <p:spPr>
          <a:xfrm>
            <a:off x="4445000" y="1498600"/>
            <a:ext cx="3302000" cy="355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1777B7-AD42-C1BB-2A1E-FB1C48D91143}"/>
              </a:ext>
            </a:extLst>
          </p:cNvPr>
          <p:cNvSpPr txBox="1"/>
          <p:nvPr/>
        </p:nvSpPr>
        <p:spPr>
          <a:xfrm>
            <a:off x="4775200" y="1803400"/>
            <a:ext cx="2413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2000" b="1">
                <a:solidFill>
                  <a:srgbClr val="111827"/>
                </a:solidFill>
                <a:latin typeface="Aptos" panose="020B0004020202020204" pitchFamily="34" charset="0"/>
              </a:rPr>
              <a:t>Групова сесия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5028837-E38B-0278-B721-DA5F12919000}"/>
              </a:ext>
            </a:extLst>
          </p:cNvPr>
          <p:cNvSpPr/>
          <p:nvPr/>
        </p:nvSpPr>
        <p:spPr>
          <a:xfrm>
            <a:off x="4775200" y="2413000"/>
            <a:ext cx="279400" cy="279400"/>
          </a:xfrm>
          <a:prstGeom prst="roundRect">
            <a:avLst/>
          </a:prstGeom>
          <a:solidFill>
            <a:srgbClr val="A855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100" b="1">
                <a:solidFill>
                  <a:srgbClr val="FFFFFF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7050D9-0BF4-9FF9-D1A7-43552248B93E}"/>
              </a:ext>
            </a:extLst>
          </p:cNvPr>
          <p:cNvSpPr txBox="1"/>
          <p:nvPr/>
        </p:nvSpPr>
        <p:spPr>
          <a:xfrm>
            <a:off x="5207000" y="2425700"/>
            <a:ext cx="2540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300">
                <a:solidFill>
                  <a:srgbClr val="111827"/>
                </a:solidFill>
                <a:latin typeface="Aptos" panose="020B0004020202020204" pitchFamily="34" charset="0"/>
              </a:rPr>
              <a:t>избор на категория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698C617-B6E8-3744-745B-A5E61AF83598}"/>
              </a:ext>
            </a:extLst>
          </p:cNvPr>
          <p:cNvSpPr/>
          <p:nvPr/>
        </p:nvSpPr>
        <p:spPr>
          <a:xfrm>
            <a:off x="4775200" y="2781300"/>
            <a:ext cx="279400" cy="279400"/>
          </a:xfrm>
          <a:prstGeom prst="roundRect">
            <a:avLst/>
          </a:prstGeom>
          <a:solidFill>
            <a:srgbClr val="A855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100" b="1">
                <a:solidFill>
                  <a:srgbClr val="FFFFFF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982EA21-1739-E302-BAED-303B0516091F}"/>
              </a:ext>
            </a:extLst>
          </p:cNvPr>
          <p:cNvSpPr txBox="1"/>
          <p:nvPr/>
        </p:nvSpPr>
        <p:spPr>
          <a:xfrm>
            <a:off x="5207000" y="2794000"/>
            <a:ext cx="2540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300">
                <a:solidFill>
                  <a:srgbClr val="111827"/>
                </a:solidFill>
                <a:latin typeface="Aptos" panose="020B0004020202020204" pitchFamily="34" charset="0"/>
              </a:rPr>
              <a:t>филтриране на предложения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83C9873-A886-9A94-19D7-22C0AD120921}"/>
              </a:ext>
            </a:extLst>
          </p:cNvPr>
          <p:cNvSpPr/>
          <p:nvPr/>
        </p:nvSpPr>
        <p:spPr>
          <a:xfrm>
            <a:off x="4775200" y="3149600"/>
            <a:ext cx="279400" cy="279400"/>
          </a:xfrm>
          <a:prstGeom prst="roundRect">
            <a:avLst/>
          </a:prstGeom>
          <a:solidFill>
            <a:srgbClr val="A855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100" b="1">
                <a:solidFill>
                  <a:srgbClr val="FFFFFF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9490712-1FEE-9BC6-D601-5D6B880E3329}"/>
              </a:ext>
            </a:extLst>
          </p:cNvPr>
          <p:cNvSpPr txBox="1"/>
          <p:nvPr/>
        </p:nvSpPr>
        <p:spPr>
          <a:xfrm>
            <a:off x="5207000" y="3162300"/>
            <a:ext cx="2540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>
                <a:solidFill>
                  <a:srgbClr val="111827"/>
                </a:solidFill>
                <a:latin typeface="Aptos" panose="020B0004020202020204" pitchFamily="34" charset="0"/>
              </a:rPr>
              <a:t>swipe </a:t>
            </a:r>
            <a:r>
              <a:rPr lang="bg-BG" sz="1300">
                <a:solidFill>
                  <a:srgbClr val="111827"/>
                </a:solidFill>
                <a:latin typeface="Aptos" panose="020B0004020202020204" pitchFamily="34" charset="0"/>
              </a:rPr>
              <a:t>за/против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0DCB07E-01DD-0525-C713-54784D0A1DBE}"/>
              </a:ext>
            </a:extLst>
          </p:cNvPr>
          <p:cNvSpPr/>
          <p:nvPr/>
        </p:nvSpPr>
        <p:spPr>
          <a:xfrm>
            <a:off x="4775200" y="3517900"/>
            <a:ext cx="279400" cy="279400"/>
          </a:xfrm>
          <a:prstGeom prst="roundRect">
            <a:avLst/>
          </a:prstGeom>
          <a:solidFill>
            <a:srgbClr val="A855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100" b="1">
                <a:solidFill>
                  <a:srgbClr val="FFFFFF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0771E1F-8EBE-8FC8-826D-08C6111E3483}"/>
              </a:ext>
            </a:extLst>
          </p:cNvPr>
          <p:cNvSpPr txBox="1"/>
          <p:nvPr/>
        </p:nvSpPr>
        <p:spPr>
          <a:xfrm>
            <a:off x="5207000" y="3530600"/>
            <a:ext cx="2540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300">
                <a:solidFill>
                  <a:srgbClr val="111827"/>
                </a:solidFill>
                <a:latin typeface="Aptos" panose="020B0004020202020204" pitchFamily="34" charset="0"/>
              </a:rPr>
              <a:t>автоматично откриване на </a:t>
            </a:r>
            <a:r>
              <a:rPr lang="en-US" sz="1300">
                <a:solidFill>
                  <a:srgbClr val="111827"/>
                </a:solidFill>
                <a:latin typeface="Aptos" panose="020B0004020202020204" pitchFamily="34" charset="0"/>
              </a:rPr>
              <a:t>match</a:t>
            </a:r>
            <a:endParaRPr lang="bg-BG" sz="1300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A644EAC-3768-8B36-AA67-D47C2B1EA2CE}"/>
              </a:ext>
            </a:extLst>
          </p:cNvPr>
          <p:cNvSpPr/>
          <p:nvPr/>
        </p:nvSpPr>
        <p:spPr>
          <a:xfrm>
            <a:off x="8305800" y="1498600"/>
            <a:ext cx="3302000" cy="355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24DFCB2-0E08-3084-8736-9F9348C0A855}"/>
              </a:ext>
            </a:extLst>
          </p:cNvPr>
          <p:cNvSpPr txBox="1"/>
          <p:nvPr/>
        </p:nvSpPr>
        <p:spPr>
          <a:xfrm>
            <a:off x="8636000" y="1803400"/>
            <a:ext cx="2413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2000" b="1">
                <a:solidFill>
                  <a:srgbClr val="111827"/>
                </a:solidFill>
                <a:latin typeface="Aptos" panose="020B0004020202020204" pitchFamily="34" charset="0"/>
              </a:rPr>
              <a:t>Администрация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F12C3FD-2287-DB26-F0E2-9B920CAD4B89}"/>
              </a:ext>
            </a:extLst>
          </p:cNvPr>
          <p:cNvSpPr/>
          <p:nvPr/>
        </p:nvSpPr>
        <p:spPr>
          <a:xfrm>
            <a:off x="8636000" y="2413000"/>
            <a:ext cx="279400" cy="279400"/>
          </a:xfrm>
          <a:prstGeom prst="roundRect">
            <a:avLst/>
          </a:prstGeom>
          <a:solidFill>
            <a:srgbClr val="A855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100" b="1">
                <a:solidFill>
                  <a:srgbClr val="FFFFFF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EE010D1-7607-946F-1B7F-69644E622878}"/>
              </a:ext>
            </a:extLst>
          </p:cNvPr>
          <p:cNvSpPr txBox="1"/>
          <p:nvPr/>
        </p:nvSpPr>
        <p:spPr>
          <a:xfrm>
            <a:off x="9067800" y="2425700"/>
            <a:ext cx="26035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300">
                <a:solidFill>
                  <a:srgbClr val="111827"/>
                </a:solidFill>
                <a:latin typeface="Aptos" panose="020B0004020202020204" pitchFamily="34" charset="0"/>
              </a:rPr>
              <a:t>списък с потребители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180F2960-FE16-769D-7694-F9C8235908EC}"/>
              </a:ext>
            </a:extLst>
          </p:cNvPr>
          <p:cNvSpPr/>
          <p:nvPr/>
        </p:nvSpPr>
        <p:spPr>
          <a:xfrm>
            <a:off x="8636000" y="2781300"/>
            <a:ext cx="279400" cy="279400"/>
          </a:xfrm>
          <a:prstGeom prst="roundRect">
            <a:avLst/>
          </a:prstGeom>
          <a:solidFill>
            <a:srgbClr val="A855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100" b="1">
                <a:solidFill>
                  <a:srgbClr val="FFFFFF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282F705-A378-99C3-9C40-60D395915367}"/>
              </a:ext>
            </a:extLst>
          </p:cNvPr>
          <p:cNvSpPr txBox="1"/>
          <p:nvPr/>
        </p:nvSpPr>
        <p:spPr>
          <a:xfrm>
            <a:off x="9067800" y="2794000"/>
            <a:ext cx="26035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300">
                <a:solidFill>
                  <a:srgbClr val="111827"/>
                </a:solidFill>
                <a:latin typeface="Aptos" panose="020B0004020202020204" pitchFamily="34" charset="0"/>
              </a:rPr>
              <a:t>блокиране и отблокиране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44B01A64-DF55-A5DA-1DE7-2EAFDE61233E}"/>
              </a:ext>
            </a:extLst>
          </p:cNvPr>
          <p:cNvSpPr/>
          <p:nvPr/>
        </p:nvSpPr>
        <p:spPr>
          <a:xfrm>
            <a:off x="8636000" y="3149600"/>
            <a:ext cx="279400" cy="279400"/>
          </a:xfrm>
          <a:prstGeom prst="roundRect">
            <a:avLst/>
          </a:prstGeom>
          <a:solidFill>
            <a:srgbClr val="A855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100" b="1">
                <a:solidFill>
                  <a:srgbClr val="FFFFFF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71DC318-6328-9E4A-14F3-A8A216ABC9CE}"/>
              </a:ext>
            </a:extLst>
          </p:cNvPr>
          <p:cNvSpPr txBox="1"/>
          <p:nvPr/>
        </p:nvSpPr>
        <p:spPr>
          <a:xfrm>
            <a:off x="9067800" y="3162300"/>
            <a:ext cx="26035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300">
                <a:solidFill>
                  <a:srgbClr val="111827"/>
                </a:solidFill>
                <a:latin typeface="Aptos" panose="020B0004020202020204" pitchFamily="34" charset="0"/>
              </a:rPr>
              <a:t>преглед на каталог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D190984A-C20B-8C8A-A6FB-12D4E3B78915}"/>
              </a:ext>
            </a:extLst>
          </p:cNvPr>
          <p:cNvSpPr/>
          <p:nvPr/>
        </p:nvSpPr>
        <p:spPr>
          <a:xfrm>
            <a:off x="8636000" y="3517900"/>
            <a:ext cx="279400" cy="279400"/>
          </a:xfrm>
          <a:prstGeom prst="roundRect">
            <a:avLst/>
          </a:prstGeom>
          <a:solidFill>
            <a:srgbClr val="A855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100" b="1">
                <a:solidFill>
                  <a:srgbClr val="FFFFFF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FFB344E-AC9B-F0C3-D162-1E4E9D55DFBA}"/>
              </a:ext>
            </a:extLst>
          </p:cNvPr>
          <p:cNvSpPr txBox="1"/>
          <p:nvPr/>
        </p:nvSpPr>
        <p:spPr>
          <a:xfrm>
            <a:off x="9067800" y="3530600"/>
            <a:ext cx="26035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300">
                <a:solidFill>
                  <a:srgbClr val="111827"/>
                </a:solidFill>
                <a:latin typeface="Aptos" panose="020B0004020202020204" pitchFamily="34" charset="0"/>
              </a:rPr>
              <a:t>деактивиране на предложения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334A13C-94C9-7642-0B84-D2D63D50C776}"/>
              </a:ext>
            </a:extLst>
          </p:cNvPr>
          <p:cNvSpPr txBox="1"/>
          <p:nvPr/>
        </p:nvSpPr>
        <p:spPr>
          <a:xfrm>
            <a:off x="914400" y="5562600"/>
            <a:ext cx="10414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bg-BG" b="1">
                <a:solidFill>
                  <a:srgbClr val="6D28D9"/>
                </a:solidFill>
                <a:latin typeface="Aptos" panose="020B0004020202020204" pitchFamily="34" charset="0"/>
              </a:rPr>
              <a:t>Резултат: работещо мобилно приложение с </a:t>
            </a:r>
            <a:r>
              <a:rPr lang="en-US" b="1">
                <a:solidFill>
                  <a:srgbClr val="6D28D9"/>
                </a:solidFill>
                <a:latin typeface="Aptos" panose="020B0004020202020204" pitchFamily="34" charset="0"/>
              </a:rPr>
              <a:t>frontend, backend, </a:t>
            </a:r>
            <a:r>
              <a:rPr lang="bg-BG" b="1">
                <a:solidFill>
                  <a:srgbClr val="6D28D9"/>
                </a:solidFill>
                <a:latin typeface="Aptos" panose="020B0004020202020204" pitchFamily="34" charset="0"/>
              </a:rPr>
              <a:t>база данни и </a:t>
            </a:r>
            <a:r>
              <a:rPr lang="en-US" b="1">
                <a:solidFill>
                  <a:srgbClr val="6D28D9"/>
                </a:solidFill>
                <a:latin typeface="Aptos" panose="020B0004020202020204" pitchFamily="34" charset="0"/>
              </a:rPr>
              <a:t>cloud deployment.</a:t>
            </a:r>
            <a:endParaRPr lang="bg-BG" b="1">
              <a:solidFill>
                <a:srgbClr val="6D28D9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0488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FC0B598-3991-F2AA-AF1E-1FC082FD1484}"/>
              </a:ext>
            </a:extLst>
          </p:cNvPr>
          <p:cNvSpPr txBox="1"/>
          <p:nvPr/>
        </p:nvSpPr>
        <p:spPr>
          <a:xfrm>
            <a:off x="533400" y="355600"/>
            <a:ext cx="863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bg-BG" sz="2500" b="1">
                <a:solidFill>
                  <a:srgbClr val="111827"/>
                </a:solidFill>
                <a:latin typeface="Aptos" panose="020B0004020202020204" pitchFamily="34" charset="0"/>
              </a:rPr>
              <a:t>3. Използвани технологии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B02A59-438B-D305-2A37-595989E18590}"/>
              </a:ext>
            </a:extLst>
          </p:cNvPr>
          <p:cNvSpPr txBox="1"/>
          <p:nvPr/>
        </p:nvSpPr>
        <p:spPr>
          <a:xfrm>
            <a:off x="558800" y="838200"/>
            <a:ext cx="965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200">
                <a:solidFill>
                  <a:srgbClr val="596275"/>
                </a:solidFill>
                <a:latin typeface="Aptos" panose="020B0004020202020204" pitchFamily="34" charset="0"/>
              </a:rPr>
              <a:t>Избрани са технологии, подходящи за мобилно приложение с реален backend</a:t>
            </a:r>
            <a:endParaRPr lang="bg-BG" sz="1200">
              <a:solidFill>
                <a:srgbClr val="596275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5CD152F-D4AC-A834-B0B2-1F3BA495847A}"/>
              </a:ext>
            </a:extLst>
          </p:cNvPr>
          <p:cNvSpPr/>
          <p:nvPr/>
        </p:nvSpPr>
        <p:spPr>
          <a:xfrm>
            <a:off x="635000" y="1524000"/>
            <a:ext cx="3429000" cy="127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B990FC1-131E-830B-7E17-59FCCDE2C872}"/>
              </a:ext>
            </a:extLst>
          </p:cNvPr>
          <p:cNvSpPr/>
          <p:nvPr/>
        </p:nvSpPr>
        <p:spPr>
          <a:xfrm>
            <a:off x="863600" y="1727200"/>
            <a:ext cx="1168400" cy="279400"/>
          </a:xfrm>
          <a:prstGeom prst="roundRect">
            <a:avLst/>
          </a:prstGeom>
          <a:solidFill>
            <a:srgbClr val="A855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mobile UI</a:t>
            </a:r>
            <a:endParaRPr lang="bg-BG" sz="11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E64E36-2519-1AEB-584B-BC8897293B45}"/>
              </a:ext>
            </a:extLst>
          </p:cNvPr>
          <p:cNvSpPr txBox="1"/>
          <p:nvPr/>
        </p:nvSpPr>
        <p:spPr>
          <a:xfrm>
            <a:off x="863600" y="2057400"/>
            <a:ext cx="2921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700" b="1">
                <a:solidFill>
                  <a:srgbClr val="111827"/>
                </a:solidFill>
                <a:latin typeface="Aptos" panose="020B0004020202020204" pitchFamily="34" charset="0"/>
              </a:rPr>
              <a:t>.NET MAUI</a:t>
            </a:r>
            <a:endParaRPr lang="bg-BG" sz="1700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AFAB1C-CF5F-3547-7886-5E0EC5844534}"/>
              </a:ext>
            </a:extLst>
          </p:cNvPr>
          <p:cNvSpPr txBox="1"/>
          <p:nvPr/>
        </p:nvSpPr>
        <p:spPr>
          <a:xfrm>
            <a:off x="863600" y="2387600"/>
            <a:ext cx="2921000" cy="16158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050">
                <a:solidFill>
                  <a:srgbClr val="596275"/>
                </a:solidFill>
                <a:latin typeface="Aptos" panose="020B0004020202020204" pitchFamily="34" charset="0"/>
              </a:rPr>
              <a:t>една </a:t>
            </a:r>
            <a:r>
              <a:rPr lang="en-US" sz="1050">
                <a:solidFill>
                  <a:srgbClr val="596275"/>
                </a:solidFill>
                <a:latin typeface="Aptos" panose="020B0004020202020204" pitchFamily="34" charset="0"/>
              </a:rPr>
              <a:t>codebase </a:t>
            </a:r>
            <a:r>
              <a:rPr lang="bg-BG" sz="1050">
                <a:solidFill>
                  <a:srgbClr val="596275"/>
                </a:solidFill>
                <a:latin typeface="Aptos" panose="020B0004020202020204" pitchFamily="34" charset="0"/>
              </a:rPr>
              <a:t>основа за </a:t>
            </a:r>
            <a:r>
              <a:rPr lang="en-US" sz="1050">
                <a:solidFill>
                  <a:srgbClr val="596275"/>
                </a:solidFill>
                <a:latin typeface="Aptos" panose="020B0004020202020204" pitchFamily="34" charset="0"/>
              </a:rPr>
              <a:t>Android </a:t>
            </a:r>
            <a:r>
              <a:rPr lang="bg-BG" sz="1050">
                <a:solidFill>
                  <a:srgbClr val="596275"/>
                </a:solidFill>
                <a:latin typeface="Aptos" panose="020B0004020202020204" pitchFamily="34" charset="0"/>
              </a:rPr>
              <a:t>и </a:t>
            </a:r>
            <a:r>
              <a:rPr lang="en-US" sz="1050">
                <a:solidFill>
                  <a:srgbClr val="596275"/>
                </a:solidFill>
                <a:latin typeface="Aptos" panose="020B0004020202020204" pitchFamily="34" charset="0"/>
              </a:rPr>
              <a:t>Windows</a:t>
            </a:r>
            <a:endParaRPr lang="bg-BG" sz="1050">
              <a:solidFill>
                <a:srgbClr val="596275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2F10048-C6A0-184F-D1F8-94D3112C81A2}"/>
              </a:ext>
            </a:extLst>
          </p:cNvPr>
          <p:cNvSpPr/>
          <p:nvPr/>
        </p:nvSpPr>
        <p:spPr>
          <a:xfrm>
            <a:off x="4445000" y="1524000"/>
            <a:ext cx="3429000" cy="127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8893D16-F78E-6C6A-36FA-7E37B96BA7CD}"/>
              </a:ext>
            </a:extLst>
          </p:cNvPr>
          <p:cNvSpPr/>
          <p:nvPr/>
        </p:nvSpPr>
        <p:spPr>
          <a:xfrm>
            <a:off x="4673600" y="1727200"/>
            <a:ext cx="1168400" cy="279400"/>
          </a:xfrm>
          <a:prstGeom prst="roundRect">
            <a:avLst/>
          </a:prstGeom>
          <a:solidFill>
            <a:srgbClr val="EC48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backend</a:t>
            </a:r>
            <a:endParaRPr lang="bg-BG" sz="11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52A7DF-AF83-E40B-512E-F7B5BCDE014C}"/>
              </a:ext>
            </a:extLst>
          </p:cNvPr>
          <p:cNvSpPr txBox="1"/>
          <p:nvPr/>
        </p:nvSpPr>
        <p:spPr>
          <a:xfrm>
            <a:off x="4673600" y="2057400"/>
            <a:ext cx="2921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700" b="1">
                <a:solidFill>
                  <a:srgbClr val="111827"/>
                </a:solidFill>
                <a:latin typeface="Aptos" panose="020B0004020202020204" pitchFamily="34" charset="0"/>
              </a:rPr>
              <a:t>ASP.NET Core Web API</a:t>
            </a:r>
            <a:endParaRPr lang="bg-BG" sz="1700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02182C-8629-8004-5C9A-A9EAAA4A6409}"/>
              </a:ext>
            </a:extLst>
          </p:cNvPr>
          <p:cNvSpPr txBox="1"/>
          <p:nvPr/>
        </p:nvSpPr>
        <p:spPr>
          <a:xfrm>
            <a:off x="4673600" y="2387600"/>
            <a:ext cx="2921000" cy="3231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50">
                <a:solidFill>
                  <a:srgbClr val="596275"/>
                </a:solidFill>
                <a:latin typeface="Aptos" panose="020B0004020202020204" pitchFamily="34" charset="0"/>
              </a:rPr>
              <a:t>REST endpoints, JWT authentication, business logic</a:t>
            </a:r>
            <a:endParaRPr lang="bg-BG" sz="1050">
              <a:solidFill>
                <a:srgbClr val="596275"/>
              </a:solidFill>
              <a:latin typeface="Aptos" panose="020B000402020202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F274999-A2F5-5B0B-B43B-D9E7EEF0E473}"/>
              </a:ext>
            </a:extLst>
          </p:cNvPr>
          <p:cNvSpPr/>
          <p:nvPr/>
        </p:nvSpPr>
        <p:spPr>
          <a:xfrm>
            <a:off x="8255000" y="1524000"/>
            <a:ext cx="3429000" cy="127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78BE3BB-66FF-207A-96A8-1F180F77AACD}"/>
              </a:ext>
            </a:extLst>
          </p:cNvPr>
          <p:cNvSpPr/>
          <p:nvPr/>
        </p:nvSpPr>
        <p:spPr>
          <a:xfrm>
            <a:off x="8483600" y="1727200"/>
            <a:ext cx="1168400" cy="279400"/>
          </a:xfrm>
          <a:prstGeom prst="roundRect">
            <a:avLst/>
          </a:prstGeom>
          <a:solidFill>
            <a:srgbClr val="0EA5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data access</a:t>
            </a:r>
            <a:endParaRPr lang="bg-BG" sz="11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05B93B-0C01-C7A5-A651-7343CFC870E0}"/>
              </a:ext>
            </a:extLst>
          </p:cNvPr>
          <p:cNvSpPr txBox="1"/>
          <p:nvPr/>
        </p:nvSpPr>
        <p:spPr>
          <a:xfrm>
            <a:off x="8483600" y="2057400"/>
            <a:ext cx="2921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700" b="1">
                <a:solidFill>
                  <a:srgbClr val="111827"/>
                </a:solidFill>
                <a:latin typeface="Aptos" panose="020B0004020202020204" pitchFamily="34" charset="0"/>
              </a:rPr>
              <a:t>Entity Framework Core</a:t>
            </a:r>
            <a:endParaRPr lang="bg-BG" sz="1700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AC2113-EAF8-4BC1-8572-60B1BDC685F2}"/>
              </a:ext>
            </a:extLst>
          </p:cNvPr>
          <p:cNvSpPr txBox="1"/>
          <p:nvPr/>
        </p:nvSpPr>
        <p:spPr>
          <a:xfrm>
            <a:off x="8483600" y="2387600"/>
            <a:ext cx="2921000" cy="16158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1050">
                <a:solidFill>
                  <a:srgbClr val="596275"/>
                </a:solidFill>
                <a:latin typeface="Aptos" panose="020B0004020202020204" pitchFamily="34" charset="0"/>
              </a:rPr>
              <a:t>работа с PostgreSQL чрез модели и миграции</a:t>
            </a:r>
            <a:endParaRPr lang="bg-BG" sz="1050">
              <a:solidFill>
                <a:srgbClr val="596275"/>
              </a:solidFill>
              <a:latin typeface="Aptos" panose="020B000402020202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54665CC-19EA-3AAA-3146-11642ABAA022}"/>
              </a:ext>
            </a:extLst>
          </p:cNvPr>
          <p:cNvSpPr/>
          <p:nvPr/>
        </p:nvSpPr>
        <p:spPr>
          <a:xfrm>
            <a:off x="635000" y="3175000"/>
            <a:ext cx="3429000" cy="127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242C19D-669B-76B5-55BE-E69B8FEF1CE6}"/>
              </a:ext>
            </a:extLst>
          </p:cNvPr>
          <p:cNvSpPr/>
          <p:nvPr/>
        </p:nvSpPr>
        <p:spPr>
          <a:xfrm>
            <a:off x="863600" y="3378200"/>
            <a:ext cx="1168400" cy="279400"/>
          </a:xfrm>
          <a:prstGeom prst="roundRect">
            <a:avLst/>
          </a:prstGeom>
          <a:solidFill>
            <a:srgbClr val="22C55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database</a:t>
            </a:r>
            <a:endParaRPr lang="bg-BG" sz="11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5104210-2633-C35F-867C-62077D5F1E98}"/>
              </a:ext>
            </a:extLst>
          </p:cNvPr>
          <p:cNvSpPr txBox="1"/>
          <p:nvPr/>
        </p:nvSpPr>
        <p:spPr>
          <a:xfrm>
            <a:off x="863600" y="3708400"/>
            <a:ext cx="2921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700" b="1">
                <a:solidFill>
                  <a:srgbClr val="111827"/>
                </a:solidFill>
                <a:latin typeface="Aptos" panose="020B0004020202020204" pitchFamily="34" charset="0"/>
              </a:rPr>
              <a:t>PostgreSQL / Supabase</a:t>
            </a:r>
            <a:endParaRPr lang="bg-BG" sz="1700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45C3C7-4512-8FA4-9015-1FD7582E6FE7}"/>
              </a:ext>
            </a:extLst>
          </p:cNvPr>
          <p:cNvSpPr txBox="1"/>
          <p:nvPr/>
        </p:nvSpPr>
        <p:spPr>
          <a:xfrm>
            <a:off x="863600" y="4038600"/>
            <a:ext cx="2921000" cy="3231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1050">
                <a:solidFill>
                  <a:srgbClr val="596275"/>
                </a:solidFill>
                <a:latin typeface="Aptos" panose="020B0004020202020204" pitchFamily="34" charset="0"/>
              </a:rPr>
              <a:t>релационна cloud база за потребители, сесии и каталог</a:t>
            </a:r>
            <a:endParaRPr lang="bg-BG" sz="1050">
              <a:solidFill>
                <a:srgbClr val="596275"/>
              </a:solidFill>
              <a:latin typeface="Aptos" panose="020B000402020202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12BF0B0-AE0D-81D3-CBE8-43381474DB7C}"/>
              </a:ext>
            </a:extLst>
          </p:cNvPr>
          <p:cNvSpPr/>
          <p:nvPr/>
        </p:nvSpPr>
        <p:spPr>
          <a:xfrm>
            <a:off x="4445000" y="3175000"/>
            <a:ext cx="3429000" cy="127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FA573CC-808E-9269-FB0D-956AF2E3A9BE}"/>
              </a:ext>
            </a:extLst>
          </p:cNvPr>
          <p:cNvSpPr/>
          <p:nvPr/>
        </p:nvSpPr>
        <p:spPr>
          <a:xfrm>
            <a:off x="4673600" y="3378200"/>
            <a:ext cx="1168400" cy="279400"/>
          </a:xfrm>
          <a:prstGeom prst="roundRect">
            <a:avLst/>
          </a:prstGeom>
          <a:solidFill>
            <a:srgbClr val="F9731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hosting</a:t>
            </a:r>
            <a:endParaRPr lang="bg-BG" sz="11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F1E29C3-222A-28AD-F766-C85E537BDFA9}"/>
              </a:ext>
            </a:extLst>
          </p:cNvPr>
          <p:cNvSpPr txBox="1"/>
          <p:nvPr/>
        </p:nvSpPr>
        <p:spPr>
          <a:xfrm>
            <a:off x="4673600" y="3708400"/>
            <a:ext cx="2921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700" b="1">
                <a:solidFill>
                  <a:srgbClr val="111827"/>
                </a:solidFill>
                <a:latin typeface="Aptos" panose="020B0004020202020204" pitchFamily="34" charset="0"/>
              </a:rPr>
              <a:t>Render</a:t>
            </a:r>
            <a:endParaRPr lang="bg-BG" sz="1700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ED25D1D-9587-80C5-7C40-FE4B5CF78226}"/>
              </a:ext>
            </a:extLst>
          </p:cNvPr>
          <p:cNvSpPr txBox="1"/>
          <p:nvPr/>
        </p:nvSpPr>
        <p:spPr>
          <a:xfrm>
            <a:off x="4673600" y="4038600"/>
            <a:ext cx="2921000" cy="16158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1050">
                <a:solidFill>
                  <a:srgbClr val="596275"/>
                </a:solidFill>
                <a:latin typeface="Aptos" panose="020B0004020202020204" pitchFamily="34" charset="0"/>
              </a:rPr>
              <a:t>публикуване на backend API онлайн</a:t>
            </a:r>
            <a:endParaRPr lang="bg-BG" sz="1050">
              <a:solidFill>
                <a:srgbClr val="596275"/>
              </a:solidFill>
              <a:latin typeface="Aptos" panose="020B0004020202020204" pitchFamily="34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1FA7FF8-F0AF-F63A-4B38-B31E67385CB0}"/>
              </a:ext>
            </a:extLst>
          </p:cNvPr>
          <p:cNvSpPr/>
          <p:nvPr/>
        </p:nvSpPr>
        <p:spPr>
          <a:xfrm>
            <a:off x="8255000" y="3175000"/>
            <a:ext cx="3429000" cy="127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027AC0E-18BC-9EB7-B34F-D4DADD436CE4}"/>
              </a:ext>
            </a:extLst>
          </p:cNvPr>
          <p:cNvSpPr/>
          <p:nvPr/>
        </p:nvSpPr>
        <p:spPr>
          <a:xfrm>
            <a:off x="8483600" y="3378200"/>
            <a:ext cx="1168400" cy="279400"/>
          </a:xfrm>
          <a:prstGeom prst="roundRect">
            <a:avLst/>
          </a:prstGeom>
          <a:solidFill>
            <a:srgbClr val="6D28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design</a:t>
            </a:r>
            <a:endParaRPr lang="bg-BG" sz="11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3F78110-6125-0626-AF6C-6BAE82C736C2}"/>
              </a:ext>
            </a:extLst>
          </p:cNvPr>
          <p:cNvSpPr txBox="1"/>
          <p:nvPr/>
        </p:nvSpPr>
        <p:spPr>
          <a:xfrm>
            <a:off x="8483600" y="3708400"/>
            <a:ext cx="2921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700" b="1">
                <a:solidFill>
                  <a:srgbClr val="111827"/>
                </a:solidFill>
                <a:latin typeface="Aptos" panose="020B0004020202020204" pitchFamily="34" charset="0"/>
              </a:rPr>
              <a:t>Figma</a:t>
            </a:r>
            <a:endParaRPr lang="bg-BG" sz="1700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E4FFE73-0FEE-160E-3419-03F4FB677DDF}"/>
              </a:ext>
            </a:extLst>
          </p:cNvPr>
          <p:cNvSpPr txBox="1"/>
          <p:nvPr/>
        </p:nvSpPr>
        <p:spPr>
          <a:xfrm>
            <a:off x="8483600" y="4038600"/>
            <a:ext cx="2921000" cy="16158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1050">
                <a:solidFill>
                  <a:srgbClr val="596275"/>
                </a:solidFill>
                <a:latin typeface="Aptos" panose="020B0004020202020204" pitchFamily="34" charset="0"/>
              </a:rPr>
              <a:t>начален дизайн и визуална посока</a:t>
            </a:r>
            <a:endParaRPr lang="bg-BG" sz="1050">
              <a:solidFill>
                <a:srgbClr val="596275"/>
              </a:solidFill>
              <a:latin typeface="Aptos" panose="020B00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C1F7072-91F9-ACAD-8486-18C993D31938}"/>
              </a:ext>
            </a:extLst>
          </p:cNvPr>
          <p:cNvSpPr txBox="1"/>
          <p:nvPr/>
        </p:nvSpPr>
        <p:spPr>
          <a:xfrm>
            <a:off x="812800" y="5334000"/>
            <a:ext cx="10541000" cy="5232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ru-RU" sz="1700" b="1">
                <a:solidFill>
                  <a:srgbClr val="111827"/>
                </a:solidFill>
                <a:latin typeface="Aptos" panose="020B0004020202020204" pitchFamily="34" charset="0"/>
              </a:rPr>
              <a:t>Комбинацията позволява проектът да бъде демонстриран както локално, така и чрез онлайн API и cloud база.</a:t>
            </a:r>
            <a:endParaRPr lang="bg-BG" sz="1700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061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F9E350-E99F-0DA9-C9DA-B99DC656392B}"/>
              </a:ext>
            </a:extLst>
          </p:cNvPr>
          <p:cNvSpPr txBox="1"/>
          <p:nvPr/>
        </p:nvSpPr>
        <p:spPr>
          <a:xfrm>
            <a:off x="533400" y="355600"/>
            <a:ext cx="863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bg-BG" sz="2500" b="1">
                <a:solidFill>
                  <a:srgbClr val="111827"/>
                </a:solidFill>
                <a:latin typeface="Aptos" panose="020B0004020202020204" pitchFamily="34" charset="0"/>
              </a:rPr>
              <a:t>4. Архитектура на системата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CB3633-3F6D-E8A9-E3AB-3B9E1DD758D8}"/>
              </a:ext>
            </a:extLst>
          </p:cNvPr>
          <p:cNvSpPr txBox="1"/>
          <p:nvPr/>
        </p:nvSpPr>
        <p:spPr>
          <a:xfrm>
            <a:off x="558800" y="838200"/>
            <a:ext cx="965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200">
                <a:solidFill>
                  <a:srgbClr val="596275"/>
                </a:solidFill>
                <a:latin typeface="Aptos" panose="020B0004020202020204" pitchFamily="34" charset="0"/>
              </a:rPr>
              <a:t>Клиент-сървърна архитектура с отделени мобилен клиент, API и база данни</a:t>
            </a:r>
            <a:endParaRPr lang="bg-BG" sz="1200">
              <a:solidFill>
                <a:srgbClr val="596275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3A574A1-2438-4F38-FF5E-A25E136F017D}"/>
              </a:ext>
            </a:extLst>
          </p:cNvPr>
          <p:cNvSpPr/>
          <p:nvPr/>
        </p:nvSpPr>
        <p:spPr>
          <a:xfrm>
            <a:off x="889000" y="2286000"/>
            <a:ext cx="2286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111827"/>
                </a:solidFill>
                <a:latin typeface="Aptos" panose="020B0004020202020204" pitchFamily="34" charset="0"/>
              </a:rPr>
              <a:t>Android / Windows </a:t>
            </a:r>
            <a:r>
              <a:rPr lang="bg-BG" sz="1100" b="1">
                <a:solidFill>
                  <a:srgbClr val="111827"/>
                </a:solidFill>
                <a:latin typeface="Aptos" panose="020B0004020202020204" pitchFamily="34" charset="0"/>
              </a:rPr>
              <a:t>клиент
.</a:t>
            </a:r>
            <a:r>
              <a:rPr lang="en-US" sz="1100" b="1">
                <a:solidFill>
                  <a:srgbClr val="111827"/>
                </a:solidFill>
                <a:latin typeface="Aptos" panose="020B0004020202020204" pitchFamily="34" charset="0"/>
              </a:rPr>
              <a:t>NET MAUI</a:t>
            </a:r>
            <a:endParaRPr lang="bg-BG" sz="1100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C5B16BD-1824-7B63-21D0-63E8E2CF6842}"/>
              </a:ext>
            </a:extLst>
          </p:cNvPr>
          <p:cNvSpPr/>
          <p:nvPr/>
        </p:nvSpPr>
        <p:spPr>
          <a:xfrm>
            <a:off x="4953000" y="2286000"/>
            <a:ext cx="2286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111827"/>
                </a:solidFill>
                <a:latin typeface="Aptos" panose="020B0004020202020204" pitchFamily="34" charset="0"/>
              </a:rPr>
              <a:t>REST API
ASP.NET Core</a:t>
            </a:r>
            <a:endParaRPr lang="bg-BG" sz="1100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ED5632B-B5C7-8AB1-0E4B-A3C91F2665CD}"/>
              </a:ext>
            </a:extLst>
          </p:cNvPr>
          <p:cNvSpPr/>
          <p:nvPr/>
        </p:nvSpPr>
        <p:spPr>
          <a:xfrm>
            <a:off x="9017000" y="2286000"/>
            <a:ext cx="2286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111827"/>
                </a:solidFill>
                <a:latin typeface="Aptos" panose="020B0004020202020204" pitchFamily="34" charset="0"/>
              </a:rPr>
              <a:t>PostgreSQL </a:t>
            </a:r>
            <a:r>
              <a:rPr lang="bg-BG" sz="1100" b="1">
                <a:solidFill>
                  <a:srgbClr val="111827"/>
                </a:solidFill>
                <a:latin typeface="Aptos" panose="020B0004020202020204" pitchFamily="34" charset="0"/>
              </a:rPr>
              <a:t>база
</a:t>
            </a:r>
            <a:r>
              <a:rPr lang="en-US" sz="1100" b="1">
                <a:solidFill>
                  <a:srgbClr val="111827"/>
                </a:solidFill>
                <a:latin typeface="Aptos" panose="020B0004020202020204" pitchFamily="34" charset="0"/>
              </a:rPr>
              <a:t>Supabase</a:t>
            </a:r>
            <a:endParaRPr lang="bg-BG" sz="1100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E1DF8CE-76AD-AB7B-5D54-39613328ED9D}"/>
              </a:ext>
            </a:extLst>
          </p:cNvPr>
          <p:cNvCxnSpPr/>
          <p:nvPr/>
        </p:nvCxnSpPr>
        <p:spPr>
          <a:xfrm>
            <a:off x="3175000" y="2857500"/>
            <a:ext cx="1778000" cy="0"/>
          </a:xfrm>
          <a:prstGeom prst="line">
            <a:avLst/>
          </a:prstGeom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90C5EE6-1168-6AB4-A671-25A1A9F22420}"/>
              </a:ext>
            </a:extLst>
          </p:cNvPr>
          <p:cNvCxnSpPr/>
          <p:nvPr/>
        </p:nvCxnSpPr>
        <p:spPr>
          <a:xfrm>
            <a:off x="7239000" y="2857500"/>
            <a:ext cx="1778000" cy="0"/>
          </a:xfrm>
          <a:prstGeom prst="line">
            <a:avLst/>
          </a:prstGeom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761E285-554C-960D-960C-F62F047DB4E6}"/>
              </a:ext>
            </a:extLst>
          </p:cNvPr>
          <p:cNvSpPr/>
          <p:nvPr/>
        </p:nvSpPr>
        <p:spPr>
          <a:xfrm>
            <a:off x="3581400" y="2476500"/>
            <a:ext cx="1143000" cy="355600"/>
          </a:xfrm>
          <a:prstGeom prst="roundRect">
            <a:avLst/>
          </a:prstGeom>
          <a:solidFill>
            <a:srgbClr val="A855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HTTPS + JWT</a:t>
            </a:r>
            <a:endParaRPr lang="bg-BG" sz="11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5C43FD7-94AE-AD85-168D-AA68115817A4}"/>
              </a:ext>
            </a:extLst>
          </p:cNvPr>
          <p:cNvSpPr/>
          <p:nvPr/>
        </p:nvSpPr>
        <p:spPr>
          <a:xfrm>
            <a:off x="7670800" y="2476500"/>
            <a:ext cx="1016000" cy="355600"/>
          </a:xfrm>
          <a:prstGeom prst="roundRect">
            <a:avLst/>
          </a:prstGeom>
          <a:solidFill>
            <a:srgbClr val="0EA5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EF Core</a:t>
            </a:r>
            <a:endParaRPr lang="bg-BG" sz="11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8A9A4F7-2BF4-3E32-4603-9DA9E10169CE}"/>
              </a:ext>
            </a:extLst>
          </p:cNvPr>
          <p:cNvSpPr/>
          <p:nvPr/>
        </p:nvSpPr>
        <p:spPr>
          <a:xfrm>
            <a:off x="4953000" y="4191000"/>
            <a:ext cx="228600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100" b="1">
                <a:solidFill>
                  <a:srgbClr val="111827"/>
                </a:solidFill>
                <a:latin typeface="Aptos" panose="020B0004020202020204" pitchFamily="34" charset="0"/>
              </a:rPr>
              <a:t>Render hosting
публичен backend URL</a:t>
            </a:r>
            <a:endParaRPr lang="bg-BG" sz="1100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D387C4A-789A-445A-4E20-CA9CFB7CBD68}"/>
              </a:ext>
            </a:extLst>
          </p:cNvPr>
          <p:cNvCxnSpPr/>
          <p:nvPr/>
        </p:nvCxnSpPr>
        <p:spPr>
          <a:xfrm>
            <a:off x="6096000" y="3429000"/>
            <a:ext cx="0" cy="762000"/>
          </a:xfrm>
          <a:prstGeom prst="line">
            <a:avLst/>
          </a:prstGeom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E6A261B-5E37-2528-CF2D-FB69F65D7F88}"/>
              </a:ext>
            </a:extLst>
          </p:cNvPr>
          <p:cNvSpPr txBox="1"/>
          <p:nvPr/>
        </p:nvSpPr>
        <p:spPr>
          <a:xfrm>
            <a:off x="1143000" y="5588000"/>
            <a:ext cx="9906000" cy="5232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ru-RU" sz="1700">
                <a:solidFill>
                  <a:srgbClr val="111827"/>
                </a:solidFill>
                <a:latin typeface="Aptos" panose="020B0004020202020204" pitchFamily="34" charset="0"/>
              </a:rPr>
              <a:t>Потребителят работи само с мобилното приложение. API слоят валидира заявките, проверява token-а и записва действията в базата.</a:t>
            </a:r>
            <a:endParaRPr lang="bg-BG" sz="1700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40948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D477C4-0766-98BF-4389-5DCBFF78D1B7}"/>
              </a:ext>
            </a:extLst>
          </p:cNvPr>
          <p:cNvSpPr txBox="1"/>
          <p:nvPr/>
        </p:nvSpPr>
        <p:spPr>
          <a:xfrm>
            <a:off x="533400" y="355600"/>
            <a:ext cx="863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2500" b="1">
                <a:solidFill>
                  <a:srgbClr val="111827"/>
                </a:solidFill>
                <a:latin typeface="Aptos" panose="020B0004020202020204" pitchFamily="34" charset="0"/>
              </a:rPr>
              <a:t>5. Структура на базата данни</a:t>
            </a:r>
            <a:endParaRPr lang="bg-BG" sz="2500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DDC606-C7DA-8375-AB27-14E3FEBFF84D}"/>
              </a:ext>
            </a:extLst>
          </p:cNvPr>
          <p:cNvSpPr txBox="1"/>
          <p:nvPr/>
        </p:nvSpPr>
        <p:spPr>
          <a:xfrm>
            <a:off x="558800" y="838200"/>
            <a:ext cx="965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200">
                <a:solidFill>
                  <a:srgbClr val="596275"/>
                </a:solidFill>
                <a:latin typeface="Aptos" panose="020B0004020202020204" pitchFamily="34" charset="0"/>
              </a:rPr>
              <a:t>Основните таблици пазят потребители, приятелства, сесии, филтри, гласове и съвпадения</a:t>
            </a:r>
            <a:endParaRPr lang="bg-BG" sz="1200">
              <a:solidFill>
                <a:srgbClr val="596275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FF34956-C938-2B6E-A0CC-3A4E0946A993}"/>
              </a:ext>
            </a:extLst>
          </p:cNvPr>
          <p:cNvSpPr/>
          <p:nvPr/>
        </p:nvSpPr>
        <p:spPr>
          <a:xfrm>
            <a:off x="889000" y="1371600"/>
            <a:ext cx="2667000" cy="863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111827"/>
                </a:solidFill>
                <a:latin typeface="Aptos" panose="020B0004020202020204" pitchFamily="34" charset="0"/>
              </a:rPr>
              <a:t>ApplicationUser
</a:t>
            </a:r>
            <a:r>
              <a:rPr lang="bg-BG" sz="1100" b="1">
                <a:solidFill>
                  <a:srgbClr val="111827"/>
                </a:solidFill>
                <a:latin typeface="Aptos" panose="020B0004020202020204" pitchFamily="34" charset="0"/>
              </a:rPr>
              <a:t>профил, </a:t>
            </a:r>
            <a:r>
              <a:rPr lang="en-US" sz="1100" b="1">
                <a:solidFill>
                  <a:srgbClr val="111827"/>
                </a:solidFill>
                <a:latin typeface="Aptos" panose="020B0004020202020204" pitchFamily="34" charset="0"/>
              </a:rPr>
              <a:t>email, </a:t>
            </a:r>
            <a:r>
              <a:rPr lang="bg-BG" sz="1100" b="1">
                <a:solidFill>
                  <a:srgbClr val="111827"/>
                </a:solidFill>
                <a:latin typeface="Aptos" panose="020B0004020202020204" pitchFamily="34" charset="0"/>
              </a:rPr>
              <a:t>роли, блокиране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2D11410-53D2-FE62-CC82-A945CE17F27D}"/>
              </a:ext>
            </a:extLst>
          </p:cNvPr>
          <p:cNvSpPr/>
          <p:nvPr/>
        </p:nvSpPr>
        <p:spPr>
          <a:xfrm>
            <a:off x="889000" y="2857500"/>
            <a:ext cx="2667000" cy="863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111827"/>
                </a:solidFill>
                <a:latin typeface="Aptos" panose="020B0004020202020204" pitchFamily="34" charset="0"/>
              </a:rPr>
              <a:t>FriendRequest
</a:t>
            </a:r>
            <a:r>
              <a:rPr lang="bg-BG" sz="1100" b="1">
                <a:solidFill>
                  <a:srgbClr val="111827"/>
                </a:solidFill>
                <a:latin typeface="Aptos" panose="020B0004020202020204" pitchFamily="34" charset="0"/>
              </a:rPr>
              <a:t>заявки за приятелство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5E1EA87-A3FA-0011-534C-42313E826D7F}"/>
              </a:ext>
            </a:extLst>
          </p:cNvPr>
          <p:cNvSpPr/>
          <p:nvPr/>
        </p:nvSpPr>
        <p:spPr>
          <a:xfrm>
            <a:off x="889000" y="4254500"/>
            <a:ext cx="2667000" cy="863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111827"/>
                </a:solidFill>
                <a:latin typeface="Aptos" panose="020B0004020202020204" pitchFamily="34" charset="0"/>
              </a:rPr>
              <a:t>Friendship
</a:t>
            </a:r>
            <a:r>
              <a:rPr lang="bg-BG" sz="1100" b="1">
                <a:solidFill>
                  <a:srgbClr val="111827"/>
                </a:solidFill>
                <a:latin typeface="Aptos" panose="020B0004020202020204" pitchFamily="34" charset="0"/>
              </a:rPr>
              <a:t>приети връзки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01B85E9-F8B0-5B40-3DB5-3AE199E7B448}"/>
              </a:ext>
            </a:extLst>
          </p:cNvPr>
          <p:cNvSpPr/>
          <p:nvPr/>
        </p:nvSpPr>
        <p:spPr>
          <a:xfrm>
            <a:off x="4699000" y="1371600"/>
            <a:ext cx="2667000" cy="863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111827"/>
                </a:solidFill>
                <a:latin typeface="Aptos" panose="020B0004020202020204" pitchFamily="34" charset="0"/>
              </a:rPr>
              <a:t>MatchSession
</a:t>
            </a:r>
            <a:r>
              <a:rPr lang="bg-BG" sz="1100" b="1">
                <a:solidFill>
                  <a:srgbClr val="111827"/>
                </a:solidFill>
                <a:latin typeface="Aptos" panose="020B0004020202020204" pitchFamily="34" charset="0"/>
              </a:rPr>
              <a:t>категория, създател, статус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58B36F2-484A-B1AE-B13D-02E697C68FBC}"/>
              </a:ext>
            </a:extLst>
          </p:cNvPr>
          <p:cNvSpPr/>
          <p:nvPr/>
        </p:nvSpPr>
        <p:spPr>
          <a:xfrm>
            <a:off x="4699000" y="2857500"/>
            <a:ext cx="2667000" cy="863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111827"/>
                </a:solidFill>
                <a:latin typeface="Aptos" panose="020B0004020202020204" pitchFamily="34" charset="0"/>
              </a:rPr>
              <a:t>SessionInvitation
</a:t>
            </a:r>
            <a:r>
              <a:rPr lang="bg-BG" sz="1100" b="1">
                <a:solidFill>
                  <a:srgbClr val="111827"/>
                </a:solidFill>
                <a:latin typeface="Aptos" panose="020B0004020202020204" pitchFamily="34" charset="0"/>
              </a:rPr>
              <a:t>покани за участие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9E40078-FAE4-09F5-83CA-D7D264366867}"/>
              </a:ext>
            </a:extLst>
          </p:cNvPr>
          <p:cNvSpPr/>
          <p:nvPr/>
        </p:nvSpPr>
        <p:spPr>
          <a:xfrm>
            <a:off x="4699000" y="4254500"/>
            <a:ext cx="2667000" cy="863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111827"/>
                </a:solidFill>
                <a:latin typeface="Aptos" panose="020B0004020202020204" pitchFamily="34" charset="0"/>
              </a:rPr>
              <a:t>SessionFilter
</a:t>
            </a:r>
            <a:r>
              <a:rPr lang="bg-BG" sz="1100" b="1">
                <a:solidFill>
                  <a:srgbClr val="111827"/>
                </a:solidFill>
                <a:latin typeface="Aptos" panose="020B0004020202020204" pitchFamily="34" charset="0"/>
              </a:rPr>
              <a:t>лични филтри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ACFBA91-90BB-C2B9-6EB3-25DB7260845D}"/>
              </a:ext>
            </a:extLst>
          </p:cNvPr>
          <p:cNvSpPr/>
          <p:nvPr/>
        </p:nvSpPr>
        <p:spPr>
          <a:xfrm>
            <a:off x="8572500" y="1371600"/>
            <a:ext cx="2667000" cy="863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111827"/>
                </a:solidFill>
                <a:latin typeface="Aptos" panose="020B0004020202020204" pitchFamily="34" charset="0"/>
              </a:rPr>
              <a:t>SwipeVote
</a:t>
            </a:r>
            <a:r>
              <a:rPr lang="bg-BG" sz="1100" b="1">
                <a:solidFill>
                  <a:srgbClr val="111827"/>
                </a:solidFill>
                <a:latin typeface="Aptos" panose="020B0004020202020204" pitchFamily="34" charset="0"/>
              </a:rPr>
              <a:t>гласове за/против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C5B1859-85DF-E44C-22F1-D9722F504458}"/>
              </a:ext>
            </a:extLst>
          </p:cNvPr>
          <p:cNvSpPr/>
          <p:nvPr/>
        </p:nvSpPr>
        <p:spPr>
          <a:xfrm>
            <a:off x="8572500" y="2857500"/>
            <a:ext cx="2667000" cy="863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111827"/>
                </a:solidFill>
                <a:latin typeface="Aptos" panose="020B0004020202020204" pitchFamily="34" charset="0"/>
              </a:rPr>
              <a:t>SessionMatch
</a:t>
            </a:r>
            <a:r>
              <a:rPr lang="bg-BG" sz="1100" b="1">
                <a:solidFill>
                  <a:srgbClr val="111827"/>
                </a:solidFill>
                <a:latin typeface="Aptos" panose="020B0004020202020204" pitchFamily="34" charset="0"/>
              </a:rPr>
              <a:t>записани </a:t>
            </a:r>
            <a:r>
              <a:rPr lang="en-US" sz="1100" b="1">
                <a:solidFill>
                  <a:srgbClr val="111827"/>
                </a:solidFill>
                <a:latin typeface="Aptos" panose="020B0004020202020204" pitchFamily="34" charset="0"/>
              </a:rPr>
              <a:t>match </a:t>
            </a:r>
            <a:r>
              <a:rPr lang="bg-BG" sz="1100" b="1">
                <a:solidFill>
                  <a:srgbClr val="111827"/>
                </a:solidFill>
                <a:latin typeface="Aptos" panose="020B0004020202020204" pitchFamily="34" charset="0"/>
              </a:rPr>
              <a:t>резултати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B45BDE0-29F3-730C-DA48-AFE971DF2F18}"/>
              </a:ext>
            </a:extLst>
          </p:cNvPr>
          <p:cNvSpPr/>
          <p:nvPr/>
        </p:nvSpPr>
        <p:spPr>
          <a:xfrm>
            <a:off x="8572500" y="4254500"/>
            <a:ext cx="2667000" cy="863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b="1">
                <a:solidFill>
                  <a:srgbClr val="111827"/>
                </a:solidFill>
                <a:latin typeface="Aptos" panose="020B0004020202020204" pitchFamily="34" charset="0"/>
              </a:rPr>
              <a:t>CatalogItem
филми, ресторанти, рецепти, игри</a:t>
            </a:r>
            <a:endParaRPr lang="bg-BG" sz="1100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4EFE8FE-4726-99F4-56D4-9FFC66748427}"/>
              </a:ext>
            </a:extLst>
          </p:cNvPr>
          <p:cNvCxnSpPr/>
          <p:nvPr/>
        </p:nvCxnSpPr>
        <p:spPr>
          <a:xfrm>
            <a:off x="3556000" y="1803400"/>
            <a:ext cx="1143000" cy="0"/>
          </a:xfrm>
          <a:prstGeom prst="line">
            <a:avLst/>
          </a:prstGeom>
          <a:ln w="19050">
            <a:solidFill>
              <a:srgbClr val="5962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9A2564-2693-A820-D924-BB47936F6FA5}"/>
              </a:ext>
            </a:extLst>
          </p:cNvPr>
          <p:cNvCxnSpPr/>
          <p:nvPr/>
        </p:nvCxnSpPr>
        <p:spPr>
          <a:xfrm>
            <a:off x="3556000" y="3289300"/>
            <a:ext cx="1143000" cy="0"/>
          </a:xfrm>
          <a:prstGeom prst="line">
            <a:avLst/>
          </a:prstGeom>
          <a:ln w="19050">
            <a:solidFill>
              <a:srgbClr val="5962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89900F7-7A74-5F94-C2CD-1407CE3362B2}"/>
              </a:ext>
            </a:extLst>
          </p:cNvPr>
          <p:cNvCxnSpPr/>
          <p:nvPr/>
        </p:nvCxnSpPr>
        <p:spPr>
          <a:xfrm>
            <a:off x="7366000" y="1803400"/>
            <a:ext cx="1206500" cy="0"/>
          </a:xfrm>
          <a:prstGeom prst="line">
            <a:avLst/>
          </a:prstGeom>
          <a:ln w="19050">
            <a:solidFill>
              <a:srgbClr val="5962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979A48E-8523-0D93-A544-EDCC9FB626F1}"/>
              </a:ext>
            </a:extLst>
          </p:cNvPr>
          <p:cNvCxnSpPr/>
          <p:nvPr/>
        </p:nvCxnSpPr>
        <p:spPr>
          <a:xfrm>
            <a:off x="7366000" y="3289300"/>
            <a:ext cx="1206500" cy="0"/>
          </a:xfrm>
          <a:prstGeom prst="line">
            <a:avLst/>
          </a:prstGeom>
          <a:ln w="19050">
            <a:solidFill>
              <a:srgbClr val="5962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787696B-FD9D-CEA1-0FE8-8C462C20C9F6}"/>
              </a:ext>
            </a:extLst>
          </p:cNvPr>
          <p:cNvCxnSpPr/>
          <p:nvPr/>
        </p:nvCxnSpPr>
        <p:spPr>
          <a:xfrm>
            <a:off x="7366000" y="4686300"/>
            <a:ext cx="1206500" cy="0"/>
          </a:xfrm>
          <a:prstGeom prst="line">
            <a:avLst/>
          </a:prstGeom>
          <a:ln w="19050">
            <a:solidFill>
              <a:srgbClr val="5962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C256161-7C72-D692-58F3-3B551A0003DF}"/>
              </a:ext>
            </a:extLst>
          </p:cNvPr>
          <p:cNvSpPr txBox="1"/>
          <p:nvPr/>
        </p:nvSpPr>
        <p:spPr>
          <a:xfrm>
            <a:off x="1041400" y="5740400"/>
            <a:ext cx="10160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ru-RU" sz="1500">
                <a:solidFill>
                  <a:srgbClr val="596275"/>
                </a:solidFill>
                <a:latin typeface="Aptos" panose="020B0004020202020204" pitchFamily="34" charset="0"/>
              </a:rPr>
              <a:t>Схемата отделя самоличност, социални връзки, сесии, филтри и каталог, което прави системата по-лесна за поддръжка и тестване.</a:t>
            </a:r>
            <a:endParaRPr lang="bg-BG" sz="1500">
              <a:solidFill>
                <a:srgbClr val="596275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5163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B087E5-C314-FFE5-07B5-19086E1F89E3}"/>
              </a:ext>
            </a:extLst>
          </p:cNvPr>
          <p:cNvSpPr txBox="1"/>
          <p:nvPr/>
        </p:nvSpPr>
        <p:spPr>
          <a:xfrm>
            <a:off x="533400" y="355600"/>
            <a:ext cx="863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500" b="1">
                <a:solidFill>
                  <a:srgbClr val="111827"/>
                </a:solidFill>
                <a:latin typeface="Aptos" panose="020B0004020202020204" pitchFamily="34" charset="0"/>
              </a:rPr>
              <a:t>6. Use case </a:t>
            </a:r>
            <a:r>
              <a:rPr lang="bg-BG" sz="2500" b="1">
                <a:solidFill>
                  <a:srgbClr val="111827"/>
                </a:solidFill>
                <a:latin typeface="Aptos" panose="020B0004020202020204" pitchFamily="34" charset="0"/>
              </a:rPr>
              <a:t>диаграма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D752C1-95E1-4CE7-9764-6D4C5AFEC932}"/>
              </a:ext>
            </a:extLst>
          </p:cNvPr>
          <p:cNvSpPr txBox="1"/>
          <p:nvPr/>
        </p:nvSpPr>
        <p:spPr>
          <a:xfrm>
            <a:off x="558800" y="838200"/>
            <a:ext cx="965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200">
                <a:solidFill>
                  <a:srgbClr val="596275"/>
                </a:solidFill>
                <a:latin typeface="Aptos" panose="020B0004020202020204" pitchFamily="34" charset="0"/>
              </a:rPr>
              <a:t>Роли и основни действия в системата</a:t>
            </a:r>
            <a:endParaRPr lang="bg-BG" sz="1200">
              <a:solidFill>
                <a:srgbClr val="596275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C6F7B1C-213C-3639-DADC-B0B3EE0625A1}"/>
              </a:ext>
            </a:extLst>
          </p:cNvPr>
          <p:cNvSpPr/>
          <p:nvPr/>
        </p:nvSpPr>
        <p:spPr>
          <a:xfrm>
            <a:off x="889000" y="1524000"/>
            <a:ext cx="1524000" cy="60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100" b="1">
                <a:solidFill>
                  <a:srgbClr val="111827"/>
                </a:solidFill>
                <a:latin typeface="Aptos" panose="020B0004020202020204" pitchFamily="34" charset="0"/>
              </a:rPr>
              <a:t>Потребител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CC0DF23-BC3A-CC3E-E6E4-07D4F62A4655}"/>
              </a:ext>
            </a:extLst>
          </p:cNvPr>
          <p:cNvSpPr/>
          <p:nvPr/>
        </p:nvSpPr>
        <p:spPr>
          <a:xfrm>
            <a:off x="889000" y="4572000"/>
            <a:ext cx="1524000" cy="60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100" b="1">
                <a:solidFill>
                  <a:srgbClr val="111827"/>
                </a:solidFill>
                <a:latin typeface="Aptos" panose="020B0004020202020204" pitchFamily="34" charset="0"/>
              </a:rPr>
              <a:t>Администратор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03C1652-E41F-57A1-E1BE-E33D1BFF52AA}"/>
              </a:ext>
            </a:extLst>
          </p:cNvPr>
          <p:cNvSpPr/>
          <p:nvPr/>
        </p:nvSpPr>
        <p:spPr>
          <a:xfrm>
            <a:off x="4064000" y="1143000"/>
            <a:ext cx="2286000" cy="533400"/>
          </a:xfrm>
          <a:prstGeom prst="ellipse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100" b="1">
                <a:solidFill>
                  <a:srgbClr val="111827"/>
                </a:solidFill>
                <a:latin typeface="Aptos" panose="020B0004020202020204" pitchFamily="34" charset="0"/>
              </a:rPr>
              <a:t>Регистрация / вход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5E784D9-8930-9D7B-FA40-E6F357F0F578}"/>
              </a:ext>
            </a:extLst>
          </p:cNvPr>
          <p:cNvSpPr/>
          <p:nvPr/>
        </p:nvSpPr>
        <p:spPr>
          <a:xfrm>
            <a:off x="7239000" y="1143000"/>
            <a:ext cx="2286000" cy="533400"/>
          </a:xfrm>
          <a:prstGeom prst="ellipse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100" b="1">
                <a:solidFill>
                  <a:srgbClr val="111827"/>
                </a:solidFill>
                <a:latin typeface="Aptos" panose="020B0004020202020204" pitchFamily="34" charset="0"/>
              </a:rPr>
              <a:t>Управление на профил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2337569-7CB3-4DB0-391C-E60E33DD718D}"/>
              </a:ext>
            </a:extLst>
          </p:cNvPr>
          <p:cNvSpPr/>
          <p:nvPr/>
        </p:nvSpPr>
        <p:spPr>
          <a:xfrm>
            <a:off x="4064000" y="2159000"/>
            <a:ext cx="2286000" cy="533400"/>
          </a:xfrm>
          <a:prstGeom prst="ellipse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100" b="1">
                <a:solidFill>
                  <a:srgbClr val="111827"/>
                </a:solidFill>
                <a:latin typeface="Aptos" panose="020B0004020202020204" pitchFamily="34" charset="0"/>
              </a:rPr>
              <a:t>Добавяне на приятели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22851EC-16B4-6839-8650-5323A2870DF3}"/>
              </a:ext>
            </a:extLst>
          </p:cNvPr>
          <p:cNvSpPr/>
          <p:nvPr/>
        </p:nvSpPr>
        <p:spPr>
          <a:xfrm>
            <a:off x="7239000" y="2159000"/>
            <a:ext cx="2286000" cy="533400"/>
          </a:xfrm>
          <a:prstGeom prst="ellipse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100" b="1">
                <a:solidFill>
                  <a:srgbClr val="111827"/>
                </a:solidFill>
                <a:latin typeface="Aptos" panose="020B0004020202020204" pitchFamily="34" charset="0"/>
              </a:rPr>
              <a:t>Създаване на сесия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834222C-A452-B0BA-CCBA-4F4414B02C7A}"/>
              </a:ext>
            </a:extLst>
          </p:cNvPr>
          <p:cNvSpPr/>
          <p:nvPr/>
        </p:nvSpPr>
        <p:spPr>
          <a:xfrm>
            <a:off x="4064000" y="3175000"/>
            <a:ext cx="2286000" cy="533400"/>
          </a:xfrm>
          <a:prstGeom prst="ellipse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100" b="1">
                <a:solidFill>
                  <a:srgbClr val="111827"/>
                </a:solidFill>
                <a:latin typeface="Aptos" panose="020B0004020202020204" pitchFamily="34" charset="0"/>
              </a:rPr>
              <a:t>Задаване на филтри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F195EE0-3CC1-1759-6DF0-A5482F4CB30A}"/>
              </a:ext>
            </a:extLst>
          </p:cNvPr>
          <p:cNvSpPr/>
          <p:nvPr/>
        </p:nvSpPr>
        <p:spPr>
          <a:xfrm>
            <a:off x="7239000" y="3175000"/>
            <a:ext cx="2286000" cy="533400"/>
          </a:xfrm>
          <a:prstGeom prst="ellipse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100" b="1">
                <a:solidFill>
                  <a:srgbClr val="111827"/>
                </a:solidFill>
                <a:latin typeface="Aptos" panose="020B0004020202020204" pitchFamily="34" charset="0"/>
              </a:rPr>
              <a:t>Гласуване и </a:t>
            </a:r>
            <a:r>
              <a:rPr lang="en-US" sz="1100" b="1">
                <a:solidFill>
                  <a:srgbClr val="111827"/>
                </a:solidFill>
                <a:latin typeface="Aptos" panose="020B0004020202020204" pitchFamily="34" charset="0"/>
              </a:rPr>
              <a:t>match</a:t>
            </a:r>
            <a:endParaRPr lang="bg-BG" sz="1100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E96F424-301C-351E-62A8-1BB9C9762089}"/>
              </a:ext>
            </a:extLst>
          </p:cNvPr>
          <p:cNvSpPr/>
          <p:nvPr/>
        </p:nvSpPr>
        <p:spPr>
          <a:xfrm>
            <a:off x="5651500" y="4191000"/>
            <a:ext cx="2286000" cy="533400"/>
          </a:xfrm>
          <a:prstGeom prst="ellipse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100" b="1">
                <a:solidFill>
                  <a:srgbClr val="111827"/>
                </a:solidFill>
                <a:latin typeface="Aptos" panose="020B0004020202020204" pitchFamily="34" charset="0"/>
              </a:rPr>
              <a:t>Преглед на история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C5A3BFA-7D35-DE3C-C099-0250BA7DEDAE}"/>
              </a:ext>
            </a:extLst>
          </p:cNvPr>
          <p:cNvSpPr/>
          <p:nvPr/>
        </p:nvSpPr>
        <p:spPr>
          <a:xfrm>
            <a:off x="4064000" y="5334000"/>
            <a:ext cx="2286000" cy="533400"/>
          </a:xfrm>
          <a:prstGeom prst="ellipse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100" b="1">
                <a:solidFill>
                  <a:srgbClr val="111827"/>
                </a:solidFill>
                <a:latin typeface="Aptos" panose="020B0004020202020204" pitchFamily="34" charset="0"/>
              </a:rPr>
              <a:t>Блокиране на потребител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9F3AFD1-53F4-71C6-4EB3-C9C9959A97AF}"/>
              </a:ext>
            </a:extLst>
          </p:cNvPr>
          <p:cNvSpPr/>
          <p:nvPr/>
        </p:nvSpPr>
        <p:spPr>
          <a:xfrm>
            <a:off x="7239000" y="5334000"/>
            <a:ext cx="2286000" cy="533400"/>
          </a:xfrm>
          <a:prstGeom prst="ellipse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100" b="1">
                <a:solidFill>
                  <a:srgbClr val="111827"/>
                </a:solidFill>
                <a:latin typeface="Aptos" panose="020B0004020202020204" pitchFamily="34" charset="0"/>
              </a:rPr>
              <a:t>Управление на каталог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BA87935-0682-91B0-E574-C29C894ED558}"/>
              </a:ext>
            </a:extLst>
          </p:cNvPr>
          <p:cNvCxnSpPr/>
          <p:nvPr/>
        </p:nvCxnSpPr>
        <p:spPr>
          <a:xfrm flipV="1">
            <a:off x="2413000" y="1409700"/>
            <a:ext cx="1651000" cy="419100"/>
          </a:xfrm>
          <a:prstGeom prst="line">
            <a:avLst/>
          </a:prstGeom>
          <a:ln w="19050">
            <a:solidFill>
              <a:srgbClr val="5962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2545B56-2C94-E64F-856B-FAC81F137325}"/>
              </a:ext>
            </a:extLst>
          </p:cNvPr>
          <p:cNvCxnSpPr/>
          <p:nvPr/>
        </p:nvCxnSpPr>
        <p:spPr>
          <a:xfrm flipV="1">
            <a:off x="2413000" y="1409700"/>
            <a:ext cx="4826000" cy="419100"/>
          </a:xfrm>
          <a:prstGeom prst="line">
            <a:avLst/>
          </a:prstGeom>
          <a:ln w="19050">
            <a:solidFill>
              <a:srgbClr val="5962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631CC23-2002-38A1-9350-59A12EA9364A}"/>
              </a:ext>
            </a:extLst>
          </p:cNvPr>
          <p:cNvCxnSpPr/>
          <p:nvPr/>
        </p:nvCxnSpPr>
        <p:spPr>
          <a:xfrm>
            <a:off x="2413000" y="1828800"/>
            <a:ext cx="1651000" cy="596900"/>
          </a:xfrm>
          <a:prstGeom prst="line">
            <a:avLst/>
          </a:prstGeom>
          <a:ln w="19050">
            <a:solidFill>
              <a:srgbClr val="5962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22BEE06-AEBD-7498-E9CC-462BDEFD90EF}"/>
              </a:ext>
            </a:extLst>
          </p:cNvPr>
          <p:cNvCxnSpPr/>
          <p:nvPr/>
        </p:nvCxnSpPr>
        <p:spPr>
          <a:xfrm>
            <a:off x="2413000" y="1828800"/>
            <a:ext cx="4826000" cy="596900"/>
          </a:xfrm>
          <a:prstGeom prst="line">
            <a:avLst/>
          </a:prstGeom>
          <a:ln w="19050">
            <a:solidFill>
              <a:srgbClr val="5962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4E5B3BF-558B-E073-6E84-2A647D9FDFA4}"/>
              </a:ext>
            </a:extLst>
          </p:cNvPr>
          <p:cNvCxnSpPr/>
          <p:nvPr/>
        </p:nvCxnSpPr>
        <p:spPr>
          <a:xfrm>
            <a:off x="2413000" y="1828800"/>
            <a:ext cx="1651000" cy="1612900"/>
          </a:xfrm>
          <a:prstGeom prst="line">
            <a:avLst/>
          </a:prstGeom>
          <a:ln w="19050">
            <a:solidFill>
              <a:srgbClr val="5962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E26BC15-B79F-9AC3-2E82-5F86FAE51341}"/>
              </a:ext>
            </a:extLst>
          </p:cNvPr>
          <p:cNvCxnSpPr/>
          <p:nvPr/>
        </p:nvCxnSpPr>
        <p:spPr>
          <a:xfrm>
            <a:off x="2413000" y="1828800"/>
            <a:ext cx="4826000" cy="1612900"/>
          </a:xfrm>
          <a:prstGeom prst="line">
            <a:avLst/>
          </a:prstGeom>
          <a:ln w="19050">
            <a:solidFill>
              <a:srgbClr val="5962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2D763CE-D590-B6DD-1689-FE175CDE028F}"/>
              </a:ext>
            </a:extLst>
          </p:cNvPr>
          <p:cNvCxnSpPr/>
          <p:nvPr/>
        </p:nvCxnSpPr>
        <p:spPr>
          <a:xfrm>
            <a:off x="2413000" y="1828800"/>
            <a:ext cx="3238500" cy="2628900"/>
          </a:xfrm>
          <a:prstGeom prst="line">
            <a:avLst/>
          </a:prstGeom>
          <a:ln w="19050">
            <a:solidFill>
              <a:srgbClr val="5962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4248C79-6C40-76AE-F4F6-DEDCC13396CE}"/>
              </a:ext>
            </a:extLst>
          </p:cNvPr>
          <p:cNvCxnSpPr/>
          <p:nvPr/>
        </p:nvCxnSpPr>
        <p:spPr>
          <a:xfrm>
            <a:off x="2413000" y="4876800"/>
            <a:ext cx="1651000" cy="723900"/>
          </a:xfrm>
          <a:prstGeom prst="line">
            <a:avLst/>
          </a:prstGeom>
          <a:ln w="19050">
            <a:solidFill>
              <a:srgbClr val="5962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A3FB009-9B6C-3511-6B6A-F2B31946E38A}"/>
              </a:ext>
            </a:extLst>
          </p:cNvPr>
          <p:cNvCxnSpPr/>
          <p:nvPr/>
        </p:nvCxnSpPr>
        <p:spPr>
          <a:xfrm>
            <a:off x="2413000" y="4876800"/>
            <a:ext cx="4826000" cy="723900"/>
          </a:xfrm>
          <a:prstGeom prst="line">
            <a:avLst/>
          </a:prstGeom>
          <a:ln w="19050">
            <a:solidFill>
              <a:srgbClr val="5962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32713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0BAB29-7AE9-39B5-D23A-578D12C887F8}"/>
              </a:ext>
            </a:extLst>
          </p:cNvPr>
          <p:cNvSpPr txBox="1"/>
          <p:nvPr/>
        </p:nvSpPr>
        <p:spPr>
          <a:xfrm>
            <a:off x="533400" y="355600"/>
            <a:ext cx="863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2500" b="1">
                <a:solidFill>
                  <a:srgbClr val="111827"/>
                </a:solidFill>
                <a:latin typeface="Aptos" panose="020B0004020202020204" pitchFamily="34" charset="0"/>
              </a:rPr>
              <a:t>7. Алгоритъм на груповия избор</a:t>
            </a:r>
            <a:endParaRPr lang="bg-BG" sz="2500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8E8853-A870-3293-B497-D5D2BD9FFF11}"/>
              </a:ext>
            </a:extLst>
          </p:cNvPr>
          <p:cNvSpPr txBox="1"/>
          <p:nvPr/>
        </p:nvSpPr>
        <p:spPr>
          <a:xfrm>
            <a:off x="558800" y="838200"/>
            <a:ext cx="965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200">
                <a:solidFill>
                  <a:srgbClr val="596275"/>
                </a:solidFill>
                <a:latin typeface="Aptos" panose="020B0004020202020204" pitchFamily="34" charset="0"/>
              </a:rPr>
              <a:t>Всеки участник участва самостоятелно, а резултатът е общ</a:t>
            </a:r>
            <a:endParaRPr lang="bg-BG" sz="1200">
              <a:solidFill>
                <a:srgbClr val="596275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BAE3F3D-9B1F-B97B-F7A3-E92402C3D366}"/>
              </a:ext>
            </a:extLst>
          </p:cNvPr>
          <p:cNvSpPr/>
          <p:nvPr/>
        </p:nvSpPr>
        <p:spPr>
          <a:xfrm>
            <a:off x="889000" y="1905000"/>
            <a:ext cx="1905000" cy="266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EC8390D-D7BC-7802-4CD7-CBA686BC4D2B}"/>
              </a:ext>
            </a:extLst>
          </p:cNvPr>
          <p:cNvSpPr/>
          <p:nvPr/>
        </p:nvSpPr>
        <p:spPr>
          <a:xfrm>
            <a:off x="1549400" y="1625600"/>
            <a:ext cx="584200" cy="584200"/>
          </a:xfrm>
          <a:prstGeom prst="roundRect">
            <a:avLst/>
          </a:prstGeom>
          <a:solidFill>
            <a:srgbClr val="0EA5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1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D0BCAD-A0A3-A653-8B63-C6A40B3E8176}"/>
              </a:ext>
            </a:extLst>
          </p:cNvPr>
          <p:cNvSpPr txBox="1"/>
          <p:nvPr/>
        </p:nvSpPr>
        <p:spPr>
          <a:xfrm>
            <a:off x="1117600" y="2514600"/>
            <a:ext cx="14478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bg-BG" sz="1700" b="1">
                <a:solidFill>
                  <a:srgbClr val="111827"/>
                </a:solidFill>
                <a:latin typeface="Aptos" panose="020B0004020202020204" pitchFamily="34" charset="0"/>
              </a:rPr>
              <a:t>Създаване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331003-4695-AB06-5DCD-5C0F74DFBB7C}"/>
              </a:ext>
            </a:extLst>
          </p:cNvPr>
          <p:cNvSpPr txBox="1"/>
          <p:nvPr/>
        </p:nvSpPr>
        <p:spPr>
          <a:xfrm>
            <a:off x="1066800" y="3048000"/>
            <a:ext cx="15494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bg-BG" sz="1100">
                <a:solidFill>
                  <a:srgbClr val="596275"/>
                </a:solidFill>
                <a:latin typeface="Aptos" panose="020B0004020202020204" pitchFamily="34" charset="0"/>
              </a:rPr>
              <a:t>категория и приятели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DF1A7CF-E547-0CCF-7183-500E5EB153EB}"/>
              </a:ext>
            </a:extLst>
          </p:cNvPr>
          <p:cNvCxnSpPr/>
          <p:nvPr/>
        </p:nvCxnSpPr>
        <p:spPr>
          <a:xfrm>
            <a:off x="2794000" y="3200400"/>
            <a:ext cx="381000" cy="0"/>
          </a:xfrm>
          <a:prstGeom prst="line">
            <a:avLst/>
          </a:prstGeom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0F90535-9273-1358-1C11-1B50706FBC8F}"/>
              </a:ext>
            </a:extLst>
          </p:cNvPr>
          <p:cNvSpPr/>
          <p:nvPr/>
        </p:nvSpPr>
        <p:spPr>
          <a:xfrm>
            <a:off x="3175000" y="1905000"/>
            <a:ext cx="1905000" cy="266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ABA9671-7CF7-7C21-1AE3-2D5E85B171C8}"/>
              </a:ext>
            </a:extLst>
          </p:cNvPr>
          <p:cNvSpPr/>
          <p:nvPr/>
        </p:nvSpPr>
        <p:spPr>
          <a:xfrm>
            <a:off x="3835400" y="1625600"/>
            <a:ext cx="584200" cy="584200"/>
          </a:xfrm>
          <a:prstGeom prst="roundRect">
            <a:avLst/>
          </a:prstGeom>
          <a:solidFill>
            <a:srgbClr val="EC48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1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A95D79-66BA-7244-5C95-0523CC406CC6}"/>
              </a:ext>
            </a:extLst>
          </p:cNvPr>
          <p:cNvSpPr txBox="1"/>
          <p:nvPr/>
        </p:nvSpPr>
        <p:spPr>
          <a:xfrm>
            <a:off x="3403600" y="2514600"/>
            <a:ext cx="14478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bg-BG" sz="1700" b="1">
                <a:solidFill>
                  <a:srgbClr val="111827"/>
                </a:solidFill>
                <a:latin typeface="Aptos" panose="020B0004020202020204" pitchFamily="34" charset="0"/>
              </a:rPr>
              <a:t>Покана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F062AA-59F5-93C1-B2E3-94C796144851}"/>
              </a:ext>
            </a:extLst>
          </p:cNvPr>
          <p:cNvSpPr txBox="1"/>
          <p:nvPr/>
        </p:nvSpPr>
        <p:spPr>
          <a:xfrm>
            <a:off x="3352800" y="3048000"/>
            <a:ext cx="15494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bg-BG" sz="1100">
                <a:solidFill>
                  <a:srgbClr val="596275"/>
                </a:solidFill>
                <a:latin typeface="Aptos" panose="020B0004020202020204" pitchFamily="34" charset="0"/>
              </a:rPr>
              <a:t>приемане или отказ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8AA596F-ABC0-903C-554E-3791CB78E8D7}"/>
              </a:ext>
            </a:extLst>
          </p:cNvPr>
          <p:cNvCxnSpPr/>
          <p:nvPr/>
        </p:nvCxnSpPr>
        <p:spPr>
          <a:xfrm>
            <a:off x="5080000" y="3200400"/>
            <a:ext cx="381000" cy="0"/>
          </a:xfrm>
          <a:prstGeom prst="line">
            <a:avLst/>
          </a:prstGeom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4B47831-0852-5A87-D869-E24FC1650BF1}"/>
              </a:ext>
            </a:extLst>
          </p:cNvPr>
          <p:cNvSpPr/>
          <p:nvPr/>
        </p:nvSpPr>
        <p:spPr>
          <a:xfrm>
            <a:off x="5461000" y="1905000"/>
            <a:ext cx="1905000" cy="266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3DFB49C-4985-FD61-179D-4CC1F431F9B1}"/>
              </a:ext>
            </a:extLst>
          </p:cNvPr>
          <p:cNvSpPr/>
          <p:nvPr/>
        </p:nvSpPr>
        <p:spPr>
          <a:xfrm>
            <a:off x="6121400" y="1625600"/>
            <a:ext cx="584200" cy="584200"/>
          </a:xfrm>
          <a:prstGeom prst="roundRect">
            <a:avLst/>
          </a:prstGeom>
          <a:solidFill>
            <a:srgbClr val="A855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1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5E7F88-65DB-7786-8A07-7E4C110351C1}"/>
              </a:ext>
            </a:extLst>
          </p:cNvPr>
          <p:cNvSpPr txBox="1"/>
          <p:nvPr/>
        </p:nvSpPr>
        <p:spPr>
          <a:xfrm>
            <a:off x="5689600" y="2514600"/>
            <a:ext cx="14478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bg-BG" sz="1700" b="1">
                <a:solidFill>
                  <a:srgbClr val="111827"/>
                </a:solidFill>
                <a:latin typeface="Aptos" panose="020B0004020202020204" pitchFamily="34" charset="0"/>
              </a:rPr>
              <a:t>Филтри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6571FE-6AB7-38D7-34B3-03C247B91CCE}"/>
              </a:ext>
            </a:extLst>
          </p:cNvPr>
          <p:cNvSpPr txBox="1"/>
          <p:nvPr/>
        </p:nvSpPr>
        <p:spPr>
          <a:xfrm>
            <a:off x="5638800" y="3048000"/>
            <a:ext cx="15494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bg-BG" sz="1100">
                <a:solidFill>
                  <a:srgbClr val="596275"/>
                </a:solidFill>
                <a:latin typeface="Aptos" panose="020B0004020202020204" pitchFamily="34" charset="0"/>
              </a:rPr>
              <a:t>обединени предпочитания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881C3AD-BE0F-5B35-B6E1-09F39A171211}"/>
              </a:ext>
            </a:extLst>
          </p:cNvPr>
          <p:cNvCxnSpPr/>
          <p:nvPr/>
        </p:nvCxnSpPr>
        <p:spPr>
          <a:xfrm>
            <a:off x="7366000" y="3200400"/>
            <a:ext cx="381000" cy="0"/>
          </a:xfrm>
          <a:prstGeom prst="line">
            <a:avLst/>
          </a:prstGeom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EA940D7-01E5-5DE4-C373-BD06164C9855}"/>
              </a:ext>
            </a:extLst>
          </p:cNvPr>
          <p:cNvSpPr/>
          <p:nvPr/>
        </p:nvSpPr>
        <p:spPr>
          <a:xfrm>
            <a:off x="7747000" y="1905000"/>
            <a:ext cx="1905000" cy="266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086CF2F-00DD-AAB8-FA97-6617F334EC13}"/>
              </a:ext>
            </a:extLst>
          </p:cNvPr>
          <p:cNvSpPr/>
          <p:nvPr/>
        </p:nvSpPr>
        <p:spPr>
          <a:xfrm>
            <a:off x="8407400" y="1625600"/>
            <a:ext cx="584200" cy="584200"/>
          </a:xfrm>
          <a:prstGeom prst="roundRect">
            <a:avLst/>
          </a:prstGeom>
          <a:solidFill>
            <a:srgbClr val="F9731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100" b="1">
                <a:solidFill>
                  <a:srgbClr val="FFFFFF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F32F800-B38A-69BE-A53F-15AB0CE42F66}"/>
              </a:ext>
            </a:extLst>
          </p:cNvPr>
          <p:cNvSpPr txBox="1"/>
          <p:nvPr/>
        </p:nvSpPr>
        <p:spPr>
          <a:xfrm>
            <a:off x="7975600" y="2514600"/>
            <a:ext cx="14478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700" b="1">
                <a:solidFill>
                  <a:srgbClr val="111827"/>
                </a:solidFill>
                <a:latin typeface="Aptos" panose="020B0004020202020204" pitchFamily="34" charset="0"/>
              </a:rPr>
              <a:t>Swipe</a:t>
            </a:r>
            <a:endParaRPr lang="bg-BG" sz="1700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1241F9F-255C-7B2B-AB61-BBC865A4CCD6}"/>
              </a:ext>
            </a:extLst>
          </p:cNvPr>
          <p:cNvSpPr txBox="1"/>
          <p:nvPr/>
        </p:nvSpPr>
        <p:spPr>
          <a:xfrm>
            <a:off x="7924800" y="3048000"/>
            <a:ext cx="15494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bg-BG" sz="1100">
                <a:solidFill>
                  <a:srgbClr val="596275"/>
                </a:solidFill>
                <a:latin typeface="Aptos" panose="020B0004020202020204" pitchFamily="34" charset="0"/>
              </a:rPr>
              <a:t>за или против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C8FFB0A-37CA-01E7-A563-040F2F4BBAC3}"/>
              </a:ext>
            </a:extLst>
          </p:cNvPr>
          <p:cNvCxnSpPr/>
          <p:nvPr/>
        </p:nvCxnSpPr>
        <p:spPr>
          <a:xfrm>
            <a:off x="9652000" y="3200400"/>
            <a:ext cx="381000" cy="0"/>
          </a:xfrm>
          <a:prstGeom prst="line">
            <a:avLst/>
          </a:prstGeom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C9B8A1E-D5A9-6A82-4A03-4FCD739071FE}"/>
              </a:ext>
            </a:extLst>
          </p:cNvPr>
          <p:cNvSpPr/>
          <p:nvPr/>
        </p:nvSpPr>
        <p:spPr>
          <a:xfrm>
            <a:off x="10033000" y="1905000"/>
            <a:ext cx="1905000" cy="266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633CBE2-F38C-7AE1-2270-2BB705A5EAC3}"/>
              </a:ext>
            </a:extLst>
          </p:cNvPr>
          <p:cNvSpPr/>
          <p:nvPr/>
        </p:nvSpPr>
        <p:spPr>
          <a:xfrm>
            <a:off x="10693400" y="1625600"/>
            <a:ext cx="584200" cy="584200"/>
          </a:xfrm>
          <a:prstGeom prst="roundRect">
            <a:avLst/>
          </a:prstGeom>
          <a:solidFill>
            <a:srgbClr val="22C55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100" b="1">
                <a:solidFill>
                  <a:srgbClr val="FFFFFF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C07945A-E485-7116-61DA-4EEA48371D14}"/>
              </a:ext>
            </a:extLst>
          </p:cNvPr>
          <p:cNvSpPr txBox="1"/>
          <p:nvPr/>
        </p:nvSpPr>
        <p:spPr>
          <a:xfrm>
            <a:off x="10261600" y="2514600"/>
            <a:ext cx="14478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700" b="1">
                <a:solidFill>
                  <a:srgbClr val="111827"/>
                </a:solidFill>
                <a:latin typeface="Aptos" panose="020B0004020202020204" pitchFamily="34" charset="0"/>
              </a:rPr>
              <a:t>Match</a:t>
            </a:r>
            <a:endParaRPr lang="bg-BG" sz="1700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C6CBBC6-7DB2-3D91-06F8-E2EAB75C8EF6}"/>
              </a:ext>
            </a:extLst>
          </p:cNvPr>
          <p:cNvSpPr txBox="1"/>
          <p:nvPr/>
        </p:nvSpPr>
        <p:spPr>
          <a:xfrm>
            <a:off x="10210800" y="3048000"/>
            <a:ext cx="15494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bg-BG" sz="1100">
                <a:solidFill>
                  <a:srgbClr val="596275"/>
                </a:solidFill>
                <a:latin typeface="Aptos" panose="020B0004020202020204" pitchFamily="34" charset="0"/>
              </a:rPr>
              <a:t>общо съвпадение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9EED1C1-57F4-905E-3097-B0BB06C3FB4E}"/>
              </a:ext>
            </a:extLst>
          </p:cNvPr>
          <p:cNvSpPr txBox="1"/>
          <p:nvPr/>
        </p:nvSpPr>
        <p:spPr>
          <a:xfrm>
            <a:off x="1524000" y="5461000"/>
            <a:ext cx="9144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ru-RU" b="1">
                <a:solidFill>
                  <a:srgbClr val="6D28D9"/>
                </a:solidFill>
                <a:latin typeface="Aptos" panose="020B0004020202020204" pitchFamily="34" charset="0"/>
              </a:rPr>
              <a:t>Важно: няма solo session – сесията има смисъл само при групово участие.</a:t>
            </a:r>
            <a:endParaRPr lang="bg-BG" b="1">
              <a:solidFill>
                <a:srgbClr val="6D28D9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67091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263A82-A7E8-39F4-0C0A-C330AA51EC5C}"/>
              </a:ext>
            </a:extLst>
          </p:cNvPr>
          <p:cNvSpPr txBox="1"/>
          <p:nvPr/>
        </p:nvSpPr>
        <p:spPr>
          <a:xfrm>
            <a:off x="533400" y="355600"/>
            <a:ext cx="863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2500" b="1">
                <a:solidFill>
                  <a:srgbClr val="111827"/>
                </a:solidFill>
                <a:latin typeface="Aptos" panose="020B0004020202020204" pitchFamily="34" charset="0"/>
              </a:rPr>
              <a:t>8. Начален екран и категории</a:t>
            </a:r>
            <a:endParaRPr lang="bg-BG" sz="2500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0FBC06-19C5-7621-AC52-2E28FA8F7124}"/>
              </a:ext>
            </a:extLst>
          </p:cNvPr>
          <p:cNvSpPr txBox="1"/>
          <p:nvPr/>
        </p:nvSpPr>
        <p:spPr>
          <a:xfrm>
            <a:off x="558800" y="838200"/>
            <a:ext cx="965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200">
                <a:solidFill>
                  <a:srgbClr val="596275"/>
                </a:solidFill>
                <a:latin typeface="Aptos" panose="020B0004020202020204" pitchFamily="34" charset="0"/>
              </a:rPr>
              <a:t>Категориите са ясни визуални входове към различни типове решения</a:t>
            </a:r>
            <a:endParaRPr lang="bg-BG" sz="1200">
              <a:solidFill>
                <a:srgbClr val="596275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D2EBFC6-CC97-7F98-8586-FFB945B99F0A}"/>
              </a:ext>
            </a:extLst>
          </p:cNvPr>
          <p:cNvSpPr/>
          <p:nvPr/>
        </p:nvSpPr>
        <p:spPr>
          <a:xfrm>
            <a:off x="939800" y="1219200"/>
            <a:ext cx="3175000" cy="482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C88B50-1641-82F2-4D8D-E2FD862D3E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6925" y="1219200"/>
            <a:ext cx="2380749" cy="482600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CB0B215-B6BA-536D-5DAA-E734AE86C7A1}"/>
              </a:ext>
            </a:extLst>
          </p:cNvPr>
          <p:cNvSpPr/>
          <p:nvPr/>
        </p:nvSpPr>
        <p:spPr>
          <a:xfrm>
            <a:off x="4826000" y="1473200"/>
            <a:ext cx="6223000" cy="381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3E7585-B9D1-EF08-6340-EF6D58019C4D}"/>
              </a:ext>
            </a:extLst>
          </p:cNvPr>
          <p:cNvSpPr txBox="1"/>
          <p:nvPr/>
        </p:nvSpPr>
        <p:spPr>
          <a:xfrm>
            <a:off x="5207000" y="1841500"/>
            <a:ext cx="3810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2200" b="1">
                <a:solidFill>
                  <a:srgbClr val="111827"/>
                </a:solidFill>
                <a:latin typeface="Aptos" panose="020B0004020202020204" pitchFamily="34" charset="0"/>
              </a:rPr>
              <a:t>Четири основни категории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5881CCD-B8EA-627C-1339-CA53F6D7AFE6}"/>
              </a:ext>
            </a:extLst>
          </p:cNvPr>
          <p:cNvSpPr/>
          <p:nvPr/>
        </p:nvSpPr>
        <p:spPr>
          <a:xfrm>
            <a:off x="5207000" y="2476500"/>
            <a:ext cx="279400" cy="279400"/>
          </a:xfrm>
          <a:prstGeom prst="roundRect">
            <a:avLst/>
          </a:prstGeom>
          <a:solidFill>
            <a:srgbClr val="A855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100" b="1">
                <a:solidFill>
                  <a:srgbClr val="FFFFFF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57DD96-2DC8-3820-616C-BB0C61AB62AB}"/>
              </a:ext>
            </a:extLst>
          </p:cNvPr>
          <p:cNvSpPr txBox="1"/>
          <p:nvPr/>
        </p:nvSpPr>
        <p:spPr>
          <a:xfrm>
            <a:off x="5638800" y="2489200"/>
            <a:ext cx="4953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500">
                <a:solidFill>
                  <a:srgbClr val="111827"/>
                </a:solidFill>
                <a:latin typeface="Aptos" panose="020B0004020202020204" pitchFamily="34" charset="0"/>
              </a:rPr>
              <a:t>Филми и сериали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D20A091-FFFA-4BB4-38DD-933338944091}"/>
              </a:ext>
            </a:extLst>
          </p:cNvPr>
          <p:cNvSpPr/>
          <p:nvPr/>
        </p:nvSpPr>
        <p:spPr>
          <a:xfrm>
            <a:off x="5207000" y="2870200"/>
            <a:ext cx="279400" cy="279400"/>
          </a:xfrm>
          <a:prstGeom prst="roundRect">
            <a:avLst/>
          </a:prstGeom>
          <a:solidFill>
            <a:srgbClr val="A855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100" b="1">
                <a:solidFill>
                  <a:srgbClr val="FFFFFF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CA6396-1BA7-A27E-EA3A-10498EED819C}"/>
              </a:ext>
            </a:extLst>
          </p:cNvPr>
          <p:cNvSpPr txBox="1"/>
          <p:nvPr/>
        </p:nvSpPr>
        <p:spPr>
          <a:xfrm>
            <a:off x="5638800" y="2882900"/>
            <a:ext cx="4953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500">
                <a:solidFill>
                  <a:srgbClr val="111827"/>
                </a:solidFill>
                <a:latin typeface="Aptos" panose="020B0004020202020204" pitchFamily="34" charset="0"/>
              </a:rPr>
              <a:t>Ресторанти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19E071A-0AD0-248F-32F3-516ED21FD3B5}"/>
              </a:ext>
            </a:extLst>
          </p:cNvPr>
          <p:cNvSpPr/>
          <p:nvPr/>
        </p:nvSpPr>
        <p:spPr>
          <a:xfrm>
            <a:off x="5207000" y="3263900"/>
            <a:ext cx="279400" cy="279400"/>
          </a:xfrm>
          <a:prstGeom prst="roundRect">
            <a:avLst/>
          </a:prstGeom>
          <a:solidFill>
            <a:srgbClr val="A855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100" b="1">
                <a:solidFill>
                  <a:srgbClr val="FFFFFF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1F15F0-1B42-A1C4-F17F-1A4985D59FEF}"/>
              </a:ext>
            </a:extLst>
          </p:cNvPr>
          <p:cNvSpPr txBox="1"/>
          <p:nvPr/>
        </p:nvSpPr>
        <p:spPr>
          <a:xfrm>
            <a:off x="5638800" y="3276600"/>
            <a:ext cx="4953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500">
                <a:solidFill>
                  <a:srgbClr val="111827"/>
                </a:solidFill>
                <a:latin typeface="Aptos" panose="020B0004020202020204" pitchFamily="34" charset="0"/>
              </a:rPr>
              <a:t>Рецепти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2EE70E7-1E9E-BAA2-F20F-2B836F27C68A}"/>
              </a:ext>
            </a:extLst>
          </p:cNvPr>
          <p:cNvSpPr/>
          <p:nvPr/>
        </p:nvSpPr>
        <p:spPr>
          <a:xfrm>
            <a:off x="5207000" y="3657600"/>
            <a:ext cx="279400" cy="279400"/>
          </a:xfrm>
          <a:prstGeom prst="roundRect">
            <a:avLst/>
          </a:prstGeom>
          <a:solidFill>
            <a:srgbClr val="A855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100" b="1">
                <a:solidFill>
                  <a:srgbClr val="FFFFFF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40A7362-9B15-7E5A-B7B3-02128C79C769}"/>
              </a:ext>
            </a:extLst>
          </p:cNvPr>
          <p:cNvSpPr txBox="1"/>
          <p:nvPr/>
        </p:nvSpPr>
        <p:spPr>
          <a:xfrm>
            <a:off x="5638800" y="3670300"/>
            <a:ext cx="4953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500">
                <a:solidFill>
                  <a:srgbClr val="111827"/>
                </a:solidFill>
                <a:latin typeface="Aptos" panose="020B0004020202020204" pitchFamily="34" charset="0"/>
              </a:rPr>
              <a:t>Настолни игри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03DAB8E-3F39-8D42-9447-1E5F855C6D8C}"/>
              </a:ext>
            </a:extLst>
          </p:cNvPr>
          <p:cNvSpPr/>
          <p:nvPr/>
        </p:nvSpPr>
        <p:spPr>
          <a:xfrm>
            <a:off x="5207000" y="4051300"/>
            <a:ext cx="279400" cy="279400"/>
          </a:xfrm>
          <a:prstGeom prst="roundRect">
            <a:avLst/>
          </a:prstGeom>
          <a:solidFill>
            <a:srgbClr val="A855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100" b="1">
                <a:solidFill>
                  <a:srgbClr val="FFFFFF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24FBFA4-EF60-DF39-9C84-4A597370E74C}"/>
              </a:ext>
            </a:extLst>
          </p:cNvPr>
          <p:cNvSpPr txBox="1"/>
          <p:nvPr/>
        </p:nvSpPr>
        <p:spPr>
          <a:xfrm>
            <a:off x="5638800" y="4064000"/>
            <a:ext cx="4953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1500">
                <a:solidFill>
                  <a:srgbClr val="111827"/>
                </a:solidFill>
                <a:latin typeface="Aptos" panose="020B0004020202020204" pitchFamily="34" charset="0"/>
              </a:rPr>
              <a:t>Бърз достъп до приятели, активни сесии, история и профил</a:t>
            </a:r>
            <a:endParaRPr lang="bg-BG" sz="1500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44312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215438-91A7-878F-00D8-7D320EDEDC84}"/>
              </a:ext>
            </a:extLst>
          </p:cNvPr>
          <p:cNvSpPr txBox="1"/>
          <p:nvPr/>
        </p:nvSpPr>
        <p:spPr>
          <a:xfrm>
            <a:off x="533400" y="355600"/>
            <a:ext cx="863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bg-BG" sz="2500" b="1">
                <a:solidFill>
                  <a:srgbClr val="111827"/>
                </a:solidFill>
                <a:latin typeface="Aptos" panose="020B0004020202020204" pitchFamily="34" charset="0"/>
              </a:rPr>
              <a:t>9. Приятели и покани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6C6622-E51D-1D95-D28B-3C8D82CFDBD7}"/>
              </a:ext>
            </a:extLst>
          </p:cNvPr>
          <p:cNvSpPr txBox="1"/>
          <p:nvPr/>
        </p:nvSpPr>
        <p:spPr>
          <a:xfrm>
            <a:off x="558800" y="838200"/>
            <a:ext cx="965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200">
                <a:solidFill>
                  <a:srgbClr val="596275"/>
                </a:solidFill>
                <a:latin typeface="Aptos" panose="020B0004020202020204" pitchFamily="34" charset="0"/>
              </a:rPr>
              <a:t>Сесии се стартират само с избрани приятели</a:t>
            </a:r>
            <a:endParaRPr lang="bg-BG" sz="1200">
              <a:solidFill>
                <a:srgbClr val="596275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E61037C-F3A3-BD8E-5DD8-56E4D900A3BC}"/>
              </a:ext>
            </a:extLst>
          </p:cNvPr>
          <p:cNvSpPr/>
          <p:nvPr/>
        </p:nvSpPr>
        <p:spPr>
          <a:xfrm>
            <a:off x="889000" y="1219200"/>
            <a:ext cx="3111500" cy="482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58EF5E-3BCA-907C-B2B0-DEF2E60C30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8344" y="1219200"/>
            <a:ext cx="2352812" cy="482600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B2FFD70-747E-6FFD-D7E7-01538F5D71B1}"/>
              </a:ext>
            </a:extLst>
          </p:cNvPr>
          <p:cNvSpPr/>
          <p:nvPr/>
        </p:nvSpPr>
        <p:spPr>
          <a:xfrm>
            <a:off x="4445000" y="1473200"/>
            <a:ext cx="2413000" cy="419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CC0DFB-331E-1CB5-DE3C-6FD9C81D19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7088" y="1473200"/>
            <a:ext cx="2048824" cy="4191000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CAE54F9-C33A-543B-5492-901609117CB5}"/>
              </a:ext>
            </a:extLst>
          </p:cNvPr>
          <p:cNvSpPr/>
          <p:nvPr/>
        </p:nvSpPr>
        <p:spPr>
          <a:xfrm>
            <a:off x="7493000" y="1625600"/>
            <a:ext cx="38100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9E0B91-C0A1-64F1-23BF-20EA6890EAAB}"/>
              </a:ext>
            </a:extLst>
          </p:cNvPr>
          <p:cNvSpPr txBox="1"/>
          <p:nvPr/>
        </p:nvSpPr>
        <p:spPr>
          <a:xfrm>
            <a:off x="7874000" y="1955800"/>
            <a:ext cx="3048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2200" b="1">
                <a:solidFill>
                  <a:srgbClr val="111827"/>
                </a:solidFill>
                <a:latin typeface="Aptos" panose="020B0004020202020204" pitchFamily="34" charset="0"/>
              </a:rPr>
              <a:t>Социална логика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9D6D68E-FDB8-BBA2-5FAD-D34FEA828FFD}"/>
              </a:ext>
            </a:extLst>
          </p:cNvPr>
          <p:cNvSpPr/>
          <p:nvPr/>
        </p:nvSpPr>
        <p:spPr>
          <a:xfrm>
            <a:off x="7874000" y="2603500"/>
            <a:ext cx="279400" cy="279400"/>
          </a:xfrm>
          <a:prstGeom prst="roundRect">
            <a:avLst/>
          </a:prstGeom>
          <a:solidFill>
            <a:srgbClr val="A855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100" b="1">
                <a:solidFill>
                  <a:srgbClr val="FFFFFF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D2EDDE-A748-1B97-DF92-4A6C2B4C60E9}"/>
              </a:ext>
            </a:extLst>
          </p:cNvPr>
          <p:cNvSpPr txBox="1"/>
          <p:nvPr/>
        </p:nvSpPr>
        <p:spPr>
          <a:xfrm>
            <a:off x="8305800" y="2616200"/>
            <a:ext cx="2921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400">
                <a:solidFill>
                  <a:srgbClr val="111827"/>
                </a:solidFill>
                <a:latin typeface="Aptos" panose="020B0004020202020204" pitchFamily="34" charset="0"/>
              </a:rPr>
              <a:t>търсене на съществуващи потребители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5E9223B-236D-63D4-097C-0B28F65D74FC}"/>
              </a:ext>
            </a:extLst>
          </p:cNvPr>
          <p:cNvSpPr/>
          <p:nvPr/>
        </p:nvSpPr>
        <p:spPr>
          <a:xfrm>
            <a:off x="7874000" y="2997200"/>
            <a:ext cx="279400" cy="279400"/>
          </a:xfrm>
          <a:prstGeom prst="roundRect">
            <a:avLst/>
          </a:prstGeom>
          <a:solidFill>
            <a:srgbClr val="A855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100" b="1">
                <a:solidFill>
                  <a:srgbClr val="FFFFFF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706B5B-C32D-D166-33C4-11E953AA2099}"/>
              </a:ext>
            </a:extLst>
          </p:cNvPr>
          <p:cNvSpPr txBox="1"/>
          <p:nvPr/>
        </p:nvSpPr>
        <p:spPr>
          <a:xfrm>
            <a:off x="8305800" y="3009900"/>
            <a:ext cx="2921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400">
                <a:solidFill>
                  <a:srgbClr val="111827"/>
                </a:solidFill>
                <a:latin typeface="Aptos" panose="020B0004020202020204" pitchFamily="34" charset="0"/>
              </a:rPr>
              <a:t>заявки за приятелство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30D1449-CB6D-5964-AC9B-B5B2A47A76E3}"/>
              </a:ext>
            </a:extLst>
          </p:cNvPr>
          <p:cNvSpPr/>
          <p:nvPr/>
        </p:nvSpPr>
        <p:spPr>
          <a:xfrm>
            <a:off x="7874000" y="3390900"/>
            <a:ext cx="279400" cy="279400"/>
          </a:xfrm>
          <a:prstGeom prst="roundRect">
            <a:avLst/>
          </a:prstGeom>
          <a:solidFill>
            <a:srgbClr val="A855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100" b="1">
                <a:solidFill>
                  <a:srgbClr val="FFFFFF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184C11-510C-1C09-1050-6B62878F68EC}"/>
              </a:ext>
            </a:extLst>
          </p:cNvPr>
          <p:cNvSpPr txBox="1"/>
          <p:nvPr/>
        </p:nvSpPr>
        <p:spPr>
          <a:xfrm>
            <a:off x="8305800" y="3403600"/>
            <a:ext cx="2921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400">
                <a:solidFill>
                  <a:srgbClr val="111827"/>
                </a:solidFill>
                <a:latin typeface="Aptos" panose="020B0004020202020204" pitchFamily="34" charset="0"/>
              </a:rPr>
              <a:t>приемане / отказване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E5DFC35-D255-5CFB-9E98-5342C541AE7E}"/>
              </a:ext>
            </a:extLst>
          </p:cNvPr>
          <p:cNvSpPr/>
          <p:nvPr/>
        </p:nvSpPr>
        <p:spPr>
          <a:xfrm>
            <a:off x="7874000" y="3784600"/>
            <a:ext cx="279400" cy="279400"/>
          </a:xfrm>
          <a:prstGeom prst="roundRect">
            <a:avLst/>
          </a:prstGeom>
          <a:solidFill>
            <a:srgbClr val="A855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100" b="1">
                <a:solidFill>
                  <a:srgbClr val="FFFFFF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483039A-9AF9-3F43-A07E-0282003E3777}"/>
              </a:ext>
            </a:extLst>
          </p:cNvPr>
          <p:cNvSpPr txBox="1"/>
          <p:nvPr/>
        </p:nvSpPr>
        <p:spPr>
          <a:xfrm>
            <a:off x="8305800" y="3797300"/>
            <a:ext cx="2921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1400">
                <a:solidFill>
                  <a:srgbClr val="111827"/>
                </a:solidFill>
                <a:latin typeface="Aptos" panose="020B0004020202020204" pitchFamily="34" charset="0"/>
              </a:rPr>
              <a:t>сесиите използват списъка с приятели</a:t>
            </a:r>
            <a:endParaRPr lang="bg-BG" sz="1400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85645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805771-A52B-AD13-C7B8-CD8B6C2340D9}"/>
              </a:ext>
            </a:extLst>
          </p:cNvPr>
          <p:cNvSpPr txBox="1"/>
          <p:nvPr/>
        </p:nvSpPr>
        <p:spPr>
          <a:xfrm>
            <a:off x="533400" y="355600"/>
            <a:ext cx="863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2500" b="1">
                <a:solidFill>
                  <a:srgbClr val="111827"/>
                </a:solidFill>
                <a:latin typeface="Aptos" panose="020B0004020202020204" pitchFamily="34" charset="0"/>
              </a:rPr>
              <a:t>10. Филтри и персонални предпочитания</a:t>
            </a:r>
            <a:endParaRPr lang="bg-BG" sz="2500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A60D62-4554-D0E4-EB52-D3337192A270}"/>
              </a:ext>
            </a:extLst>
          </p:cNvPr>
          <p:cNvSpPr txBox="1"/>
          <p:nvPr/>
        </p:nvSpPr>
        <p:spPr>
          <a:xfrm>
            <a:off x="558800" y="838200"/>
            <a:ext cx="965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200">
                <a:solidFill>
                  <a:srgbClr val="596275"/>
                </a:solidFill>
                <a:latin typeface="Aptos" panose="020B0004020202020204" pitchFamily="34" charset="0"/>
              </a:rPr>
              <a:t>Филтрите ограничават предложенията, но не се налагат само от създателя</a:t>
            </a:r>
            <a:endParaRPr lang="bg-BG" sz="1200">
              <a:solidFill>
                <a:srgbClr val="596275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951FD58-475B-80EE-194D-F3DD4C2E331E}"/>
              </a:ext>
            </a:extLst>
          </p:cNvPr>
          <p:cNvSpPr/>
          <p:nvPr/>
        </p:nvSpPr>
        <p:spPr>
          <a:xfrm>
            <a:off x="762000" y="1295400"/>
            <a:ext cx="3175000" cy="4635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B3F329-402B-CCE7-CA1C-EA6C824945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1727" y="1295400"/>
            <a:ext cx="2255546" cy="463550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E84AB34-F7A1-4FEF-1807-91D0A1FAEDF4}"/>
              </a:ext>
            </a:extLst>
          </p:cNvPr>
          <p:cNvSpPr/>
          <p:nvPr/>
        </p:nvSpPr>
        <p:spPr>
          <a:xfrm>
            <a:off x="4572000" y="1397000"/>
            <a:ext cx="6350000" cy="381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85411E-80BE-B530-5D2E-697942566F4E}"/>
              </a:ext>
            </a:extLst>
          </p:cNvPr>
          <p:cNvSpPr txBox="1"/>
          <p:nvPr/>
        </p:nvSpPr>
        <p:spPr>
          <a:xfrm>
            <a:off x="4978400" y="1778000"/>
            <a:ext cx="4445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2200" b="1">
                <a:solidFill>
                  <a:srgbClr val="111827"/>
                </a:solidFill>
                <a:latin typeface="Aptos" panose="020B0004020202020204" pitchFamily="34" charset="0"/>
              </a:rPr>
              <a:t>Как работят филтрите?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8F66AAD-2C6F-EB99-2905-953EA7EA7747}"/>
              </a:ext>
            </a:extLst>
          </p:cNvPr>
          <p:cNvSpPr/>
          <p:nvPr/>
        </p:nvSpPr>
        <p:spPr>
          <a:xfrm>
            <a:off x="4978400" y="2413000"/>
            <a:ext cx="279400" cy="279400"/>
          </a:xfrm>
          <a:prstGeom prst="roundRect">
            <a:avLst/>
          </a:prstGeom>
          <a:solidFill>
            <a:srgbClr val="A855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100" b="1">
                <a:solidFill>
                  <a:srgbClr val="FFFFFF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97961B-9660-F194-AB56-65A2CD39F0C6}"/>
              </a:ext>
            </a:extLst>
          </p:cNvPr>
          <p:cNvSpPr txBox="1"/>
          <p:nvPr/>
        </p:nvSpPr>
        <p:spPr>
          <a:xfrm>
            <a:off x="5410200" y="2425700"/>
            <a:ext cx="5207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1400">
                <a:solidFill>
                  <a:srgbClr val="111827"/>
                </a:solidFill>
                <a:latin typeface="Aptos" panose="020B0004020202020204" pitchFamily="34" charset="0"/>
              </a:rPr>
              <a:t>всеки участник задава свои филтри</a:t>
            </a:r>
            <a:endParaRPr lang="bg-BG" sz="1400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F3CFC82-548D-A0B3-4ABC-32033EA6BA4F}"/>
              </a:ext>
            </a:extLst>
          </p:cNvPr>
          <p:cNvSpPr/>
          <p:nvPr/>
        </p:nvSpPr>
        <p:spPr>
          <a:xfrm>
            <a:off x="4978400" y="2806700"/>
            <a:ext cx="279400" cy="279400"/>
          </a:xfrm>
          <a:prstGeom prst="roundRect">
            <a:avLst/>
          </a:prstGeom>
          <a:solidFill>
            <a:srgbClr val="A855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100" b="1">
                <a:solidFill>
                  <a:srgbClr val="FFFFFF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215E63-2874-B9E3-420D-EF7606177917}"/>
              </a:ext>
            </a:extLst>
          </p:cNvPr>
          <p:cNvSpPr txBox="1"/>
          <p:nvPr/>
        </p:nvSpPr>
        <p:spPr>
          <a:xfrm>
            <a:off x="5410200" y="2819400"/>
            <a:ext cx="5207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1400">
                <a:solidFill>
                  <a:srgbClr val="111827"/>
                </a:solidFill>
                <a:latin typeface="Aptos" panose="020B0004020202020204" pitchFamily="34" charset="0"/>
              </a:rPr>
              <a:t>жанрове, години, оценка, град, кухня, тип игра</a:t>
            </a:r>
            <a:endParaRPr lang="bg-BG" sz="1400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B6CDBB7-B87C-574B-289E-5477F876E8BD}"/>
              </a:ext>
            </a:extLst>
          </p:cNvPr>
          <p:cNvSpPr/>
          <p:nvPr/>
        </p:nvSpPr>
        <p:spPr>
          <a:xfrm>
            <a:off x="4978400" y="3200400"/>
            <a:ext cx="279400" cy="279400"/>
          </a:xfrm>
          <a:prstGeom prst="roundRect">
            <a:avLst/>
          </a:prstGeom>
          <a:solidFill>
            <a:srgbClr val="A855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100" b="1">
                <a:solidFill>
                  <a:srgbClr val="FFFFFF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8ED3B5-7DED-BDC9-BE3C-51745481FB6A}"/>
              </a:ext>
            </a:extLst>
          </p:cNvPr>
          <p:cNvSpPr txBox="1"/>
          <p:nvPr/>
        </p:nvSpPr>
        <p:spPr>
          <a:xfrm>
            <a:off x="5410200" y="3213100"/>
            <a:ext cx="5207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1400">
                <a:solidFill>
                  <a:srgbClr val="111827"/>
                </a:solidFill>
                <a:latin typeface="Aptos" panose="020B0004020202020204" pitchFamily="34" charset="0"/>
              </a:rPr>
              <a:t>различни критерии за всяка категория</a:t>
            </a:r>
            <a:endParaRPr lang="bg-BG" sz="1400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B56B844-B2D7-9761-4547-0C2DCE2EC84E}"/>
              </a:ext>
            </a:extLst>
          </p:cNvPr>
          <p:cNvSpPr/>
          <p:nvPr/>
        </p:nvSpPr>
        <p:spPr>
          <a:xfrm>
            <a:off x="4978400" y="3594100"/>
            <a:ext cx="279400" cy="279400"/>
          </a:xfrm>
          <a:prstGeom prst="roundRect">
            <a:avLst/>
          </a:prstGeom>
          <a:solidFill>
            <a:srgbClr val="A855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100" b="1">
                <a:solidFill>
                  <a:srgbClr val="FFFFFF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BFA087-2E2D-BB97-E493-07C99CB128E2}"/>
              </a:ext>
            </a:extLst>
          </p:cNvPr>
          <p:cNvSpPr txBox="1"/>
          <p:nvPr/>
        </p:nvSpPr>
        <p:spPr>
          <a:xfrm>
            <a:off x="5410200" y="3606800"/>
            <a:ext cx="5207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1400">
                <a:solidFill>
                  <a:srgbClr val="111827"/>
                </a:solidFill>
                <a:latin typeface="Aptos" panose="020B0004020202020204" pitchFamily="34" charset="0"/>
              </a:rPr>
              <a:t>общ набор от предпочитания, за да не се губи изборът на никого</a:t>
            </a:r>
            <a:endParaRPr lang="bg-BG" sz="1400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0AD9971-DEF3-430A-7493-929DA9A7E338}"/>
              </a:ext>
            </a:extLst>
          </p:cNvPr>
          <p:cNvSpPr/>
          <p:nvPr/>
        </p:nvSpPr>
        <p:spPr>
          <a:xfrm>
            <a:off x="4978400" y="4318000"/>
            <a:ext cx="3175000" cy="381000"/>
          </a:xfrm>
          <a:prstGeom prst="roundRect">
            <a:avLst/>
          </a:prstGeom>
          <a:solidFill>
            <a:srgbClr val="A855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b="1">
                <a:solidFill>
                  <a:srgbClr val="FFFFFF"/>
                </a:solidFill>
                <a:latin typeface="Aptos" panose="020B0004020202020204" pitchFamily="34" charset="0"/>
              </a:rPr>
              <a:t>реални списъци вместо свободен текст</a:t>
            </a:r>
            <a:endParaRPr lang="bg-BG" sz="11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97509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B69060-5D5F-5E85-25EB-2DC495BCF10D}"/>
              </a:ext>
            </a:extLst>
          </p:cNvPr>
          <p:cNvSpPr txBox="1"/>
          <p:nvPr/>
        </p:nvSpPr>
        <p:spPr>
          <a:xfrm>
            <a:off x="533400" y="355600"/>
            <a:ext cx="863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2500" b="1">
                <a:solidFill>
                  <a:srgbClr val="111827"/>
                </a:solidFill>
                <a:latin typeface="Aptos" panose="020B0004020202020204" pitchFamily="34" charset="0"/>
              </a:rPr>
              <a:t>11. Swipe екран и съвпадение</a:t>
            </a:r>
            <a:endParaRPr lang="bg-BG" sz="2500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4AB16F-8377-DFDA-E58F-C2A1A756259A}"/>
              </a:ext>
            </a:extLst>
          </p:cNvPr>
          <p:cNvSpPr txBox="1"/>
          <p:nvPr/>
        </p:nvSpPr>
        <p:spPr>
          <a:xfrm>
            <a:off x="558800" y="838200"/>
            <a:ext cx="965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200">
                <a:solidFill>
                  <a:srgbClr val="596275"/>
                </a:solidFill>
                <a:latin typeface="Aptos" panose="020B0004020202020204" pitchFamily="34" charset="0"/>
              </a:rPr>
              <a:t>Бърза оценка: пропускане или положителен вот</a:t>
            </a:r>
            <a:endParaRPr lang="bg-BG" sz="1200">
              <a:solidFill>
                <a:srgbClr val="596275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0DD324A-10E2-BC42-03DC-CB77FDB87282}"/>
              </a:ext>
            </a:extLst>
          </p:cNvPr>
          <p:cNvSpPr/>
          <p:nvPr/>
        </p:nvSpPr>
        <p:spPr>
          <a:xfrm>
            <a:off x="787400" y="1219200"/>
            <a:ext cx="4445000" cy="441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7F71A9-3C71-6007-2CCA-F36C11493DA6}"/>
              </a:ext>
            </a:extLst>
          </p:cNvPr>
          <p:cNvSpPr txBox="1"/>
          <p:nvPr/>
        </p:nvSpPr>
        <p:spPr>
          <a:xfrm>
            <a:off x="1168400" y="1600200"/>
            <a:ext cx="3302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2000" b="1">
                <a:solidFill>
                  <a:srgbClr val="111827"/>
                </a:solidFill>
                <a:latin typeface="Aptos" panose="020B0004020202020204" pitchFamily="34" charset="0"/>
              </a:rPr>
              <a:t>Примерен вариант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3349B8-85FA-E6A6-B584-E1919F46E927}"/>
              </a:ext>
            </a:extLst>
          </p:cNvPr>
          <p:cNvSpPr txBox="1"/>
          <p:nvPr/>
        </p:nvSpPr>
        <p:spPr>
          <a:xfrm>
            <a:off x="1168400" y="2222500"/>
            <a:ext cx="3556000" cy="4001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600" b="1">
                <a:solidFill>
                  <a:srgbClr val="111827"/>
                </a:solidFill>
                <a:latin typeface="Aptos" panose="020B0004020202020204" pitchFamily="34" charset="0"/>
              </a:rPr>
              <a:t>The Dark Knight</a:t>
            </a:r>
            <a:endParaRPr lang="bg-BG" sz="2600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542641C-3852-D2E8-107A-88F44A78DB55}"/>
              </a:ext>
            </a:extLst>
          </p:cNvPr>
          <p:cNvSpPr/>
          <p:nvPr/>
        </p:nvSpPr>
        <p:spPr>
          <a:xfrm>
            <a:off x="1168400" y="2844800"/>
            <a:ext cx="1016000" cy="330200"/>
          </a:xfrm>
          <a:prstGeom prst="roundRect">
            <a:avLst/>
          </a:prstGeom>
          <a:solidFill>
            <a:srgbClr val="0EA5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Action</a:t>
            </a:r>
            <a:endParaRPr lang="bg-BG" sz="11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0B110FD-F3FB-F193-83C3-2D75F8097DEA}"/>
              </a:ext>
            </a:extLst>
          </p:cNvPr>
          <p:cNvSpPr/>
          <p:nvPr/>
        </p:nvSpPr>
        <p:spPr>
          <a:xfrm>
            <a:off x="2311400" y="2844800"/>
            <a:ext cx="889000" cy="330200"/>
          </a:xfrm>
          <a:prstGeom prst="roundRect">
            <a:avLst/>
          </a:prstGeom>
          <a:solidFill>
            <a:srgbClr val="A855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Crime</a:t>
            </a:r>
            <a:endParaRPr lang="bg-BG" sz="11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5CA410E-8676-1173-5FFB-45B28D9E5448}"/>
              </a:ext>
            </a:extLst>
          </p:cNvPr>
          <p:cNvSpPr/>
          <p:nvPr/>
        </p:nvSpPr>
        <p:spPr>
          <a:xfrm>
            <a:off x="3327400" y="2844800"/>
            <a:ext cx="1016000" cy="330200"/>
          </a:xfrm>
          <a:prstGeom prst="roundRect">
            <a:avLst/>
          </a:prstGeom>
          <a:solidFill>
            <a:srgbClr val="EC48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Drama</a:t>
            </a:r>
            <a:endParaRPr lang="bg-BG" sz="11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E5D6C4-CA04-52F0-7163-0B8E2B59B5D7}"/>
              </a:ext>
            </a:extLst>
          </p:cNvPr>
          <p:cNvSpPr txBox="1"/>
          <p:nvPr/>
        </p:nvSpPr>
        <p:spPr>
          <a:xfrm>
            <a:off x="1168400" y="3581400"/>
            <a:ext cx="3556000" cy="64633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1400">
                <a:solidFill>
                  <a:srgbClr val="596275"/>
                </a:solidFill>
                <a:latin typeface="Aptos" panose="020B0004020202020204" pitchFamily="34" charset="0"/>
              </a:rPr>
              <a:t>Всеки участник гласува независимо. Съвпадение се получава, когато всички участници харесат един и същ вариант.</a:t>
            </a:r>
            <a:endParaRPr lang="bg-BG" sz="1400">
              <a:solidFill>
                <a:srgbClr val="596275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8E231A4-9695-E7E9-67A8-0C6F75A92368}"/>
              </a:ext>
            </a:extLst>
          </p:cNvPr>
          <p:cNvSpPr/>
          <p:nvPr/>
        </p:nvSpPr>
        <p:spPr>
          <a:xfrm>
            <a:off x="5969000" y="2794000"/>
            <a:ext cx="889000" cy="889000"/>
          </a:xfrm>
          <a:prstGeom prst="roundRect">
            <a:avLst/>
          </a:prstGeom>
          <a:solidFill>
            <a:srgbClr val="EF44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100" b="1">
                <a:solidFill>
                  <a:srgbClr val="FFFFFF"/>
                </a:solidFill>
                <a:latin typeface="Aptos" panose="020B0004020202020204" pitchFamily="34" charset="0"/>
              </a:rPr>
              <a:t>✕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F3263C6-5ED4-001C-1B3E-326D5F09A4BF}"/>
              </a:ext>
            </a:extLst>
          </p:cNvPr>
          <p:cNvSpPr/>
          <p:nvPr/>
        </p:nvSpPr>
        <p:spPr>
          <a:xfrm>
            <a:off x="7239000" y="2794000"/>
            <a:ext cx="889000" cy="889000"/>
          </a:xfrm>
          <a:prstGeom prst="roundRect">
            <a:avLst/>
          </a:prstGeom>
          <a:solidFill>
            <a:srgbClr val="A855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100" b="1">
                <a:solidFill>
                  <a:srgbClr val="FFFFFF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B7A342-6650-F155-5F09-3CACC2C6F633}"/>
              </a:ext>
            </a:extLst>
          </p:cNvPr>
          <p:cNvSpPr txBox="1"/>
          <p:nvPr/>
        </p:nvSpPr>
        <p:spPr>
          <a:xfrm>
            <a:off x="5969000" y="4064000"/>
            <a:ext cx="4064000" cy="87716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1900" b="1">
                <a:solidFill>
                  <a:srgbClr val="111827"/>
                </a:solidFill>
                <a:latin typeface="Aptos" panose="020B0004020202020204" pitchFamily="34" charset="0"/>
              </a:rPr>
              <a:t>Интерфейсът е оптимизиран за кратки решения, подобно на swipe механика.</a:t>
            </a:r>
            <a:endParaRPr lang="bg-BG" sz="1900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74719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70BF30-5EEB-8F5D-251F-8D35DBDFDE87}"/>
              </a:ext>
            </a:extLst>
          </p:cNvPr>
          <p:cNvSpPr txBox="1"/>
          <p:nvPr/>
        </p:nvSpPr>
        <p:spPr>
          <a:xfrm>
            <a:off x="533400" y="355600"/>
            <a:ext cx="863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2500" b="1">
                <a:solidFill>
                  <a:srgbClr val="111827"/>
                </a:solidFill>
                <a:latin typeface="Aptos" panose="020B0004020202020204" pitchFamily="34" charset="0"/>
              </a:rPr>
              <a:t>12. История, профил и постижения</a:t>
            </a:r>
            <a:endParaRPr lang="bg-BG" sz="2500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21C7A3-43F9-21F9-88B5-EA51225DC118}"/>
              </a:ext>
            </a:extLst>
          </p:cNvPr>
          <p:cNvSpPr txBox="1"/>
          <p:nvPr/>
        </p:nvSpPr>
        <p:spPr>
          <a:xfrm>
            <a:off x="558800" y="838200"/>
            <a:ext cx="965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200">
                <a:solidFill>
                  <a:srgbClr val="596275"/>
                </a:solidFill>
                <a:latin typeface="Aptos" panose="020B0004020202020204" pitchFamily="34" charset="0"/>
              </a:rPr>
              <a:t>Потребителят вижда активност, резултати и прогрес</a:t>
            </a:r>
            <a:endParaRPr lang="bg-BG" sz="1200">
              <a:solidFill>
                <a:srgbClr val="596275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3C0D53F-2546-0F82-438B-6AFE52D9EF6A}"/>
              </a:ext>
            </a:extLst>
          </p:cNvPr>
          <p:cNvSpPr/>
          <p:nvPr/>
        </p:nvSpPr>
        <p:spPr>
          <a:xfrm>
            <a:off x="635000" y="1397000"/>
            <a:ext cx="3175000" cy="431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607F41-9323-7628-318B-029C49705C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" y="1996491"/>
            <a:ext cx="3175000" cy="3119018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C31071A-64A1-BB92-75D7-8E5FD999B0E2}"/>
              </a:ext>
            </a:extLst>
          </p:cNvPr>
          <p:cNvSpPr/>
          <p:nvPr/>
        </p:nvSpPr>
        <p:spPr>
          <a:xfrm>
            <a:off x="4292600" y="1397000"/>
            <a:ext cx="3175000" cy="431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0EF6C7-9358-C3D2-7218-AA2797C6B6DA}"/>
              </a:ext>
            </a:extLst>
          </p:cNvPr>
          <p:cNvSpPr txBox="1"/>
          <p:nvPr/>
        </p:nvSpPr>
        <p:spPr>
          <a:xfrm>
            <a:off x="4673600" y="1778000"/>
            <a:ext cx="2286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2200" b="1">
                <a:solidFill>
                  <a:srgbClr val="111827"/>
                </a:solidFill>
                <a:latin typeface="Aptos" panose="020B0004020202020204" pitchFamily="34" charset="0"/>
              </a:rPr>
              <a:t>Профил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A4064E0-1BB9-EA85-2BFD-7FF4C4156B71}"/>
              </a:ext>
            </a:extLst>
          </p:cNvPr>
          <p:cNvSpPr/>
          <p:nvPr/>
        </p:nvSpPr>
        <p:spPr>
          <a:xfrm>
            <a:off x="4673600" y="2413000"/>
            <a:ext cx="279400" cy="279400"/>
          </a:xfrm>
          <a:prstGeom prst="roundRect">
            <a:avLst/>
          </a:prstGeom>
          <a:solidFill>
            <a:srgbClr val="A855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100" b="1">
                <a:solidFill>
                  <a:srgbClr val="FFFFFF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8CD472-D225-67A3-FE03-2C965EBFB484}"/>
              </a:ext>
            </a:extLst>
          </p:cNvPr>
          <p:cNvSpPr txBox="1"/>
          <p:nvPr/>
        </p:nvSpPr>
        <p:spPr>
          <a:xfrm>
            <a:off x="5105400" y="2425700"/>
            <a:ext cx="2286000" cy="4001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1300">
                <a:solidFill>
                  <a:srgbClr val="111827"/>
                </a:solidFill>
                <a:latin typeface="Aptos" panose="020B0004020202020204" pitchFamily="34" charset="0"/>
              </a:rPr>
              <a:t>редакция на име, описание и снимка</a:t>
            </a:r>
            <a:endParaRPr lang="bg-BG" sz="1300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5147DFD-74F9-E894-3644-11CF0B5FF836}"/>
              </a:ext>
            </a:extLst>
          </p:cNvPr>
          <p:cNvSpPr/>
          <p:nvPr/>
        </p:nvSpPr>
        <p:spPr>
          <a:xfrm>
            <a:off x="4673600" y="2844800"/>
            <a:ext cx="279400" cy="279400"/>
          </a:xfrm>
          <a:prstGeom prst="roundRect">
            <a:avLst/>
          </a:prstGeom>
          <a:solidFill>
            <a:srgbClr val="A855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100" b="1">
                <a:solidFill>
                  <a:srgbClr val="FFFFFF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7FFC78-B00F-7F55-3896-BDCEA08D3687}"/>
              </a:ext>
            </a:extLst>
          </p:cNvPr>
          <p:cNvSpPr txBox="1"/>
          <p:nvPr/>
        </p:nvSpPr>
        <p:spPr>
          <a:xfrm>
            <a:off x="5105400" y="2857500"/>
            <a:ext cx="2286000" cy="4001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1300">
                <a:solidFill>
                  <a:srgbClr val="111827"/>
                </a:solidFill>
                <a:latin typeface="Aptos" panose="020B0004020202020204" pitchFamily="34" charset="0"/>
              </a:rPr>
              <a:t>брой съвпадения, сесии и действия</a:t>
            </a:r>
            <a:endParaRPr lang="bg-BG" sz="1300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57DE77B-3B37-31FC-422D-9E511E50952F}"/>
              </a:ext>
            </a:extLst>
          </p:cNvPr>
          <p:cNvSpPr/>
          <p:nvPr/>
        </p:nvSpPr>
        <p:spPr>
          <a:xfrm>
            <a:off x="4673600" y="3276600"/>
            <a:ext cx="279400" cy="279400"/>
          </a:xfrm>
          <a:prstGeom prst="roundRect">
            <a:avLst/>
          </a:prstGeom>
          <a:solidFill>
            <a:srgbClr val="A855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100" b="1">
                <a:solidFill>
                  <a:srgbClr val="FFFFFF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ABD55F-87CD-BA2A-3CC4-033DB22CD6D2}"/>
              </a:ext>
            </a:extLst>
          </p:cNvPr>
          <p:cNvSpPr txBox="1"/>
          <p:nvPr/>
        </p:nvSpPr>
        <p:spPr>
          <a:xfrm>
            <a:off x="5105400" y="3289300"/>
            <a:ext cx="2286000" cy="4001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1300">
                <a:solidFill>
                  <a:srgbClr val="111827"/>
                </a:solidFill>
                <a:latin typeface="Aptos" panose="020B0004020202020204" pitchFamily="34" charset="0"/>
              </a:rPr>
              <a:t>значки и прогрес към следващи постижения</a:t>
            </a:r>
            <a:endParaRPr lang="bg-BG" sz="1300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2500E6A-2AD8-9B17-1387-0ECA9C7C074A}"/>
              </a:ext>
            </a:extLst>
          </p:cNvPr>
          <p:cNvSpPr/>
          <p:nvPr/>
        </p:nvSpPr>
        <p:spPr>
          <a:xfrm>
            <a:off x="7950200" y="1397000"/>
            <a:ext cx="3175000" cy="431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11C37A-C744-91A4-5FE8-D374403F331E}"/>
              </a:ext>
            </a:extLst>
          </p:cNvPr>
          <p:cNvSpPr txBox="1"/>
          <p:nvPr/>
        </p:nvSpPr>
        <p:spPr>
          <a:xfrm>
            <a:off x="8331200" y="1778000"/>
            <a:ext cx="2286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2200" b="1">
                <a:solidFill>
                  <a:srgbClr val="111827"/>
                </a:solidFill>
                <a:latin typeface="Aptos" panose="020B0004020202020204" pitchFamily="34" charset="0"/>
              </a:rPr>
              <a:t>История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0B9C543-2111-F50E-B6F6-AD0A784EAF86}"/>
              </a:ext>
            </a:extLst>
          </p:cNvPr>
          <p:cNvSpPr/>
          <p:nvPr/>
        </p:nvSpPr>
        <p:spPr>
          <a:xfrm>
            <a:off x="8331200" y="2413000"/>
            <a:ext cx="279400" cy="279400"/>
          </a:xfrm>
          <a:prstGeom prst="roundRect">
            <a:avLst/>
          </a:prstGeom>
          <a:solidFill>
            <a:srgbClr val="A855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100" b="1">
                <a:solidFill>
                  <a:srgbClr val="FFFFFF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C728B28-7A97-879F-6CC7-8D8F3356CABC}"/>
              </a:ext>
            </a:extLst>
          </p:cNvPr>
          <p:cNvSpPr txBox="1"/>
          <p:nvPr/>
        </p:nvSpPr>
        <p:spPr>
          <a:xfrm>
            <a:off x="8763000" y="2425700"/>
            <a:ext cx="2286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300">
                <a:solidFill>
                  <a:srgbClr val="111827"/>
                </a:solidFill>
                <a:latin typeface="Aptos" panose="020B0004020202020204" pitchFamily="34" charset="0"/>
              </a:rPr>
              <a:t>последни сесии и статуси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F2348AF-C274-9F3D-23E7-503132D31F33}"/>
              </a:ext>
            </a:extLst>
          </p:cNvPr>
          <p:cNvSpPr/>
          <p:nvPr/>
        </p:nvSpPr>
        <p:spPr>
          <a:xfrm>
            <a:off x="8331200" y="2844800"/>
            <a:ext cx="279400" cy="279400"/>
          </a:xfrm>
          <a:prstGeom prst="roundRect">
            <a:avLst/>
          </a:prstGeom>
          <a:solidFill>
            <a:srgbClr val="A855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100" b="1">
                <a:solidFill>
                  <a:srgbClr val="FFFFFF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905C0E9-459F-9165-1977-1D867F90E9DA}"/>
              </a:ext>
            </a:extLst>
          </p:cNvPr>
          <p:cNvSpPr txBox="1"/>
          <p:nvPr/>
        </p:nvSpPr>
        <p:spPr>
          <a:xfrm>
            <a:off x="8763000" y="2857500"/>
            <a:ext cx="2286000" cy="4001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1300">
                <a:solidFill>
                  <a:srgbClr val="111827"/>
                </a:solidFill>
                <a:latin typeface="Aptos" panose="020B0004020202020204" pitchFamily="34" charset="0"/>
              </a:rPr>
              <a:t>подробности за участници и филтри</a:t>
            </a:r>
            <a:endParaRPr lang="bg-BG" sz="1300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0218294-1FF0-669F-2EE5-FDA9FD361A83}"/>
              </a:ext>
            </a:extLst>
          </p:cNvPr>
          <p:cNvSpPr/>
          <p:nvPr/>
        </p:nvSpPr>
        <p:spPr>
          <a:xfrm>
            <a:off x="8331200" y="3276600"/>
            <a:ext cx="279400" cy="279400"/>
          </a:xfrm>
          <a:prstGeom prst="roundRect">
            <a:avLst/>
          </a:prstGeom>
          <a:solidFill>
            <a:srgbClr val="A855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100" b="1">
                <a:solidFill>
                  <a:srgbClr val="FFFFFF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0B78F7D-EB8A-BDAF-B995-56F9DDA1BB08}"/>
              </a:ext>
            </a:extLst>
          </p:cNvPr>
          <p:cNvSpPr txBox="1"/>
          <p:nvPr/>
        </p:nvSpPr>
        <p:spPr>
          <a:xfrm>
            <a:off x="8763000" y="3289300"/>
            <a:ext cx="2286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300">
                <a:solidFill>
                  <a:srgbClr val="111827"/>
                </a:solidFill>
                <a:latin typeface="Aptos" panose="020B0004020202020204" pitchFamily="34" charset="0"/>
              </a:rPr>
              <a:t>последни </a:t>
            </a:r>
            <a:r>
              <a:rPr lang="en-US" sz="1300">
                <a:solidFill>
                  <a:srgbClr val="111827"/>
                </a:solidFill>
                <a:latin typeface="Aptos" panose="020B0004020202020204" pitchFamily="34" charset="0"/>
              </a:rPr>
              <a:t>match </a:t>
            </a:r>
            <a:r>
              <a:rPr lang="bg-BG" sz="1300">
                <a:solidFill>
                  <a:srgbClr val="111827"/>
                </a:solidFill>
                <a:latin typeface="Aptos" panose="020B0004020202020204" pitchFamily="34" charset="0"/>
              </a:rPr>
              <a:t>резултати</a:t>
            </a:r>
          </a:p>
        </p:txBody>
      </p:sp>
    </p:spTree>
    <p:extLst>
      <p:ext uri="{BB962C8B-B14F-4D97-AF65-F5344CB8AC3E}">
        <p14:creationId xmlns:p14="http://schemas.microsoft.com/office/powerpoint/2010/main" val="12792159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77791B-0D03-0492-1D92-34039499F451}"/>
              </a:ext>
            </a:extLst>
          </p:cNvPr>
          <p:cNvSpPr txBox="1"/>
          <p:nvPr/>
        </p:nvSpPr>
        <p:spPr>
          <a:xfrm>
            <a:off x="533400" y="355600"/>
            <a:ext cx="863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2500" b="1">
                <a:solidFill>
                  <a:srgbClr val="111827"/>
                </a:solidFill>
                <a:latin typeface="Aptos" panose="020B0004020202020204" pitchFamily="34" charset="0"/>
              </a:rPr>
              <a:t>13. Backend, сигурност и валидация</a:t>
            </a:r>
            <a:endParaRPr lang="bg-BG" sz="2500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2789E0-D85D-0AFC-D46E-F8B4BA313E5E}"/>
              </a:ext>
            </a:extLst>
          </p:cNvPr>
          <p:cNvSpPr txBox="1"/>
          <p:nvPr/>
        </p:nvSpPr>
        <p:spPr>
          <a:xfrm>
            <a:off x="558800" y="838200"/>
            <a:ext cx="965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200">
                <a:solidFill>
                  <a:srgbClr val="596275"/>
                </a:solidFill>
                <a:latin typeface="Aptos" panose="020B0004020202020204" pitchFamily="34" charset="0"/>
              </a:rPr>
              <a:t>API-то управлява достъп, бизнес логика и защита на данните</a:t>
            </a:r>
            <a:endParaRPr lang="bg-BG" sz="1200">
              <a:solidFill>
                <a:srgbClr val="596275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2E0EFD8-EF90-58CC-9564-6F4FD39D0A40}"/>
              </a:ext>
            </a:extLst>
          </p:cNvPr>
          <p:cNvSpPr/>
          <p:nvPr/>
        </p:nvSpPr>
        <p:spPr>
          <a:xfrm>
            <a:off x="889000" y="1549400"/>
            <a:ext cx="3048000" cy="330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B9F2F8-85B8-3A82-07E3-DA1FF9E0900A}"/>
              </a:ext>
            </a:extLst>
          </p:cNvPr>
          <p:cNvSpPr txBox="1"/>
          <p:nvPr/>
        </p:nvSpPr>
        <p:spPr>
          <a:xfrm>
            <a:off x="1219200" y="1905000"/>
            <a:ext cx="2286000" cy="3231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2100" b="1">
                <a:solidFill>
                  <a:srgbClr val="111827"/>
                </a:solidFill>
                <a:latin typeface="Aptos" panose="020B0004020202020204" pitchFamily="34" charset="0"/>
              </a:rPr>
              <a:t>Сигурност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4133CF3-8CAE-017E-0DB2-2C76B04DE15F}"/>
              </a:ext>
            </a:extLst>
          </p:cNvPr>
          <p:cNvSpPr/>
          <p:nvPr/>
        </p:nvSpPr>
        <p:spPr>
          <a:xfrm>
            <a:off x="1219200" y="2514600"/>
            <a:ext cx="279400" cy="279400"/>
          </a:xfrm>
          <a:prstGeom prst="roundRect">
            <a:avLst/>
          </a:prstGeom>
          <a:solidFill>
            <a:srgbClr val="A855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100" b="1">
                <a:solidFill>
                  <a:srgbClr val="FFFFFF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A72E61-2298-49B4-F3C8-D2457F81D1D9}"/>
              </a:ext>
            </a:extLst>
          </p:cNvPr>
          <p:cNvSpPr txBox="1"/>
          <p:nvPr/>
        </p:nvSpPr>
        <p:spPr>
          <a:xfrm>
            <a:off x="1651000" y="2527300"/>
            <a:ext cx="2286000" cy="1923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50">
                <a:solidFill>
                  <a:srgbClr val="111827"/>
                </a:solidFill>
                <a:latin typeface="Aptos" panose="020B0004020202020204" pitchFamily="34" charset="0"/>
              </a:rPr>
              <a:t>JWT token </a:t>
            </a:r>
            <a:r>
              <a:rPr lang="bg-BG" sz="1250">
                <a:solidFill>
                  <a:srgbClr val="111827"/>
                </a:solidFill>
                <a:latin typeface="Aptos" panose="020B0004020202020204" pitchFamily="34" charset="0"/>
              </a:rPr>
              <a:t>при вход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7206D6C-D8FD-0BF6-7FB7-2158A395B00B}"/>
              </a:ext>
            </a:extLst>
          </p:cNvPr>
          <p:cNvSpPr/>
          <p:nvPr/>
        </p:nvSpPr>
        <p:spPr>
          <a:xfrm>
            <a:off x="1219200" y="2908300"/>
            <a:ext cx="279400" cy="279400"/>
          </a:xfrm>
          <a:prstGeom prst="roundRect">
            <a:avLst/>
          </a:prstGeom>
          <a:solidFill>
            <a:srgbClr val="A855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100" b="1">
                <a:solidFill>
                  <a:srgbClr val="FFFFFF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249A00-478A-7A32-D104-591588B9A20E}"/>
              </a:ext>
            </a:extLst>
          </p:cNvPr>
          <p:cNvSpPr txBox="1"/>
          <p:nvPr/>
        </p:nvSpPr>
        <p:spPr>
          <a:xfrm>
            <a:off x="1651000" y="2921000"/>
            <a:ext cx="2286000" cy="1923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250">
                <a:solidFill>
                  <a:srgbClr val="111827"/>
                </a:solidFill>
                <a:latin typeface="Aptos" panose="020B0004020202020204" pitchFamily="34" charset="0"/>
              </a:rPr>
              <a:t>пароли чрез </a:t>
            </a:r>
            <a:r>
              <a:rPr lang="en-US" sz="1250">
                <a:solidFill>
                  <a:srgbClr val="111827"/>
                </a:solidFill>
                <a:latin typeface="Aptos" panose="020B0004020202020204" pitchFamily="34" charset="0"/>
              </a:rPr>
              <a:t>Identity hash</a:t>
            </a:r>
            <a:endParaRPr lang="bg-BG" sz="1250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C6298FC-D974-7658-BC51-4CD5DC308093}"/>
              </a:ext>
            </a:extLst>
          </p:cNvPr>
          <p:cNvSpPr/>
          <p:nvPr/>
        </p:nvSpPr>
        <p:spPr>
          <a:xfrm>
            <a:off x="1219200" y="3302000"/>
            <a:ext cx="279400" cy="279400"/>
          </a:xfrm>
          <a:prstGeom prst="roundRect">
            <a:avLst/>
          </a:prstGeom>
          <a:solidFill>
            <a:srgbClr val="A855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100" b="1">
                <a:solidFill>
                  <a:srgbClr val="FFFFFF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282F44-E244-32AB-47C8-819896261AB0}"/>
              </a:ext>
            </a:extLst>
          </p:cNvPr>
          <p:cNvSpPr txBox="1"/>
          <p:nvPr/>
        </p:nvSpPr>
        <p:spPr>
          <a:xfrm>
            <a:off x="1651000" y="3314700"/>
            <a:ext cx="2286000" cy="1923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250">
                <a:solidFill>
                  <a:srgbClr val="111827"/>
                </a:solidFill>
                <a:latin typeface="Aptos" panose="020B0004020202020204" pitchFamily="34" charset="0"/>
              </a:rPr>
              <a:t>по-силна </a:t>
            </a:r>
            <a:r>
              <a:rPr lang="en-US" sz="1250">
                <a:solidFill>
                  <a:srgbClr val="111827"/>
                </a:solidFill>
                <a:latin typeface="Aptos" panose="020B0004020202020204" pitchFamily="34" charset="0"/>
              </a:rPr>
              <a:t>password policy</a:t>
            </a:r>
            <a:endParaRPr lang="bg-BG" sz="1250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1145AE2-E556-202E-928C-68E2AD8FD6F6}"/>
              </a:ext>
            </a:extLst>
          </p:cNvPr>
          <p:cNvSpPr/>
          <p:nvPr/>
        </p:nvSpPr>
        <p:spPr>
          <a:xfrm>
            <a:off x="1219200" y="3695700"/>
            <a:ext cx="279400" cy="279400"/>
          </a:xfrm>
          <a:prstGeom prst="roundRect">
            <a:avLst/>
          </a:prstGeom>
          <a:solidFill>
            <a:srgbClr val="A855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100" b="1">
                <a:solidFill>
                  <a:srgbClr val="FFFFFF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C53D54-25B0-1C1D-5084-7E555DE97E48}"/>
              </a:ext>
            </a:extLst>
          </p:cNvPr>
          <p:cNvSpPr txBox="1"/>
          <p:nvPr/>
        </p:nvSpPr>
        <p:spPr>
          <a:xfrm>
            <a:off x="1651000" y="3708400"/>
            <a:ext cx="2286000" cy="3847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250">
                <a:solidFill>
                  <a:srgbClr val="111827"/>
                </a:solidFill>
                <a:latin typeface="Aptos" panose="020B0004020202020204" pitchFamily="34" charset="0"/>
              </a:rPr>
              <a:t>блокирани потребители нямат достъп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738B462-99E5-9A12-6336-67BAA336EE6E}"/>
              </a:ext>
            </a:extLst>
          </p:cNvPr>
          <p:cNvSpPr/>
          <p:nvPr/>
        </p:nvSpPr>
        <p:spPr>
          <a:xfrm>
            <a:off x="4572000" y="1549400"/>
            <a:ext cx="3048000" cy="330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40B3B6-1F0D-2D0D-5A5F-A4E8E7E0E4FE}"/>
              </a:ext>
            </a:extLst>
          </p:cNvPr>
          <p:cNvSpPr txBox="1"/>
          <p:nvPr/>
        </p:nvSpPr>
        <p:spPr>
          <a:xfrm>
            <a:off x="4902200" y="1905000"/>
            <a:ext cx="2286000" cy="3231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2100" b="1">
                <a:solidFill>
                  <a:srgbClr val="111827"/>
                </a:solidFill>
                <a:latin typeface="Aptos" panose="020B0004020202020204" pitchFamily="34" charset="0"/>
              </a:rPr>
              <a:t>Валидация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96159CD-73B3-3ACE-83A4-4FD7A6614B81}"/>
              </a:ext>
            </a:extLst>
          </p:cNvPr>
          <p:cNvSpPr/>
          <p:nvPr/>
        </p:nvSpPr>
        <p:spPr>
          <a:xfrm>
            <a:off x="4902200" y="2514600"/>
            <a:ext cx="279400" cy="279400"/>
          </a:xfrm>
          <a:prstGeom prst="roundRect">
            <a:avLst/>
          </a:prstGeom>
          <a:solidFill>
            <a:srgbClr val="A855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100" b="1">
                <a:solidFill>
                  <a:srgbClr val="FFFFFF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F64D5F-AADE-0357-B7CB-DF46DA07D689}"/>
              </a:ext>
            </a:extLst>
          </p:cNvPr>
          <p:cNvSpPr txBox="1"/>
          <p:nvPr/>
        </p:nvSpPr>
        <p:spPr>
          <a:xfrm>
            <a:off x="5334000" y="2527300"/>
            <a:ext cx="2286000" cy="1923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50">
                <a:solidFill>
                  <a:srgbClr val="111827"/>
                </a:solidFill>
                <a:latin typeface="Aptos" panose="020B0004020202020204" pitchFamily="34" charset="0"/>
              </a:rPr>
              <a:t>email </a:t>
            </a:r>
            <a:r>
              <a:rPr lang="bg-BG" sz="1250">
                <a:solidFill>
                  <a:srgbClr val="111827"/>
                </a:solidFill>
                <a:latin typeface="Aptos" panose="020B0004020202020204" pitchFamily="34" charset="0"/>
              </a:rPr>
              <a:t>формат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10DFF1F-218E-DECC-B69F-ADCEA8175C00}"/>
              </a:ext>
            </a:extLst>
          </p:cNvPr>
          <p:cNvSpPr/>
          <p:nvPr/>
        </p:nvSpPr>
        <p:spPr>
          <a:xfrm>
            <a:off x="4902200" y="2908300"/>
            <a:ext cx="279400" cy="279400"/>
          </a:xfrm>
          <a:prstGeom prst="roundRect">
            <a:avLst/>
          </a:prstGeom>
          <a:solidFill>
            <a:srgbClr val="A855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100" b="1">
                <a:solidFill>
                  <a:srgbClr val="FFFFFF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18FB63A-2EF0-F711-91B9-9366BE9A8223}"/>
              </a:ext>
            </a:extLst>
          </p:cNvPr>
          <p:cNvSpPr txBox="1"/>
          <p:nvPr/>
        </p:nvSpPr>
        <p:spPr>
          <a:xfrm>
            <a:off x="5334000" y="2921000"/>
            <a:ext cx="2286000" cy="3847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250">
                <a:solidFill>
                  <a:srgbClr val="111827"/>
                </a:solidFill>
                <a:latin typeface="Aptos" panose="020B0004020202020204" pitchFamily="34" charset="0"/>
              </a:rPr>
              <a:t>минимална сложност на парола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830E0AA-8B9E-83E5-AC0E-67A34344DBB2}"/>
              </a:ext>
            </a:extLst>
          </p:cNvPr>
          <p:cNvSpPr/>
          <p:nvPr/>
        </p:nvSpPr>
        <p:spPr>
          <a:xfrm>
            <a:off x="4902200" y="3302000"/>
            <a:ext cx="279400" cy="279400"/>
          </a:xfrm>
          <a:prstGeom prst="roundRect">
            <a:avLst/>
          </a:prstGeom>
          <a:solidFill>
            <a:srgbClr val="A855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100" b="1">
                <a:solidFill>
                  <a:srgbClr val="FFFFFF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F62CE08-96C3-C1EB-FE00-E89494C6A925}"/>
              </a:ext>
            </a:extLst>
          </p:cNvPr>
          <p:cNvSpPr txBox="1"/>
          <p:nvPr/>
        </p:nvSpPr>
        <p:spPr>
          <a:xfrm>
            <a:off x="5334000" y="3314700"/>
            <a:ext cx="2286000" cy="3847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250">
                <a:solidFill>
                  <a:srgbClr val="111827"/>
                </a:solidFill>
                <a:latin typeface="Aptos" panose="020B0004020202020204" pitchFamily="34" charset="0"/>
              </a:rPr>
              <a:t>задължителен избор на приятели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853D3C5-08BA-F818-2B21-146CEAF4B0E7}"/>
              </a:ext>
            </a:extLst>
          </p:cNvPr>
          <p:cNvSpPr/>
          <p:nvPr/>
        </p:nvSpPr>
        <p:spPr>
          <a:xfrm>
            <a:off x="4902200" y="3695700"/>
            <a:ext cx="279400" cy="279400"/>
          </a:xfrm>
          <a:prstGeom prst="roundRect">
            <a:avLst/>
          </a:prstGeom>
          <a:solidFill>
            <a:srgbClr val="A855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100" b="1">
                <a:solidFill>
                  <a:srgbClr val="FFFFFF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AF0D68-73AC-B633-8459-509AEA9F53F3}"/>
              </a:ext>
            </a:extLst>
          </p:cNvPr>
          <p:cNvSpPr txBox="1"/>
          <p:nvPr/>
        </p:nvSpPr>
        <p:spPr>
          <a:xfrm>
            <a:off x="5334000" y="3708400"/>
            <a:ext cx="2286000" cy="1923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250">
                <a:solidFill>
                  <a:srgbClr val="111827"/>
                </a:solidFill>
                <a:latin typeface="Aptos" panose="020B0004020202020204" pitchFamily="34" charset="0"/>
              </a:rPr>
              <a:t>проверка за активна сесия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981620A-647E-A6D4-2127-5B142D35C645}"/>
              </a:ext>
            </a:extLst>
          </p:cNvPr>
          <p:cNvSpPr/>
          <p:nvPr/>
        </p:nvSpPr>
        <p:spPr>
          <a:xfrm>
            <a:off x="8255000" y="1549400"/>
            <a:ext cx="3048000" cy="330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D384C41-FCC0-4164-952A-747C04870D68}"/>
              </a:ext>
            </a:extLst>
          </p:cNvPr>
          <p:cNvSpPr txBox="1"/>
          <p:nvPr/>
        </p:nvSpPr>
        <p:spPr>
          <a:xfrm>
            <a:off x="8585200" y="1905000"/>
            <a:ext cx="2286000" cy="3231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2100" b="1">
                <a:solidFill>
                  <a:srgbClr val="111827"/>
                </a:solidFill>
                <a:latin typeface="Aptos" panose="020B0004020202020204" pitchFamily="34" charset="0"/>
              </a:rPr>
              <a:t>Админ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61F545D-CC6F-6398-C507-B9A5730EF744}"/>
              </a:ext>
            </a:extLst>
          </p:cNvPr>
          <p:cNvSpPr/>
          <p:nvPr/>
        </p:nvSpPr>
        <p:spPr>
          <a:xfrm>
            <a:off x="8585200" y="2514600"/>
            <a:ext cx="279400" cy="279400"/>
          </a:xfrm>
          <a:prstGeom prst="roundRect">
            <a:avLst/>
          </a:prstGeom>
          <a:solidFill>
            <a:srgbClr val="A855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100" b="1">
                <a:solidFill>
                  <a:srgbClr val="FFFFFF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B3076F1-7283-E511-E5EE-BD6077C6C260}"/>
              </a:ext>
            </a:extLst>
          </p:cNvPr>
          <p:cNvSpPr txBox="1"/>
          <p:nvPr/>
        </p:nvSpPr>
        <p:spPr>
          <a:xfrm>
            <a:off x="9017000" y="2527300"/>
            <a:ext cx="2286000" cy="1923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250">
                <a:solidFill>
                  <a:srgbClr val="111827"/>
                </a:solidFill>
                <a:latin typeface="Aptos" panose="020B0004020202020204" pitchFamily="34" charset="0"/>
              </a:rPr>
              <a:t>преглед на потребители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DEF4B85-BBAC-BE6C-7335-63C93134F9F3}"/>
              </a:ext>
            </a:extLst>
          </p:cNvPr>
          <p:cNvSpPr/>
          <p:nvPr/>
        </p:nvSpPr>
        <p:spPr>
          <a:xfrm>
            <a:off x="8585200" y="2908300"/>
            <a:ext cx="279400" cy="279400"/>
          </a:xfrm>
          <a:prstGeom prst="roundRect">
            <a:avLst/>
          </a:prstGeom>
          <a:solidFill>
            <a:srgbClr val="A855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100" b="1">
                <a:solidFill>
                  <a:srgbClr val="FFFFFF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51F6E92-AEF2-1210-7C74-073F84F7E638}"/>
              </a:ext>
            </a:extLst>
          </p:cNvPr>
          <p:cNvSpPr txBox="1"/>
          <p:nvPr/>
        </p:nvSpPr>
        <p:spPr>
          <a:xfrm>
            <a:off x="9017000" y="2921000"/>
            <a:ext cx="2286000" cy="1923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250">
                <a:solidFill>
                  <a:srgbClr val="111827"/>
                </a:solidFill>
                <a:latin typeface="Aptos" panose="020B0004020202020204" pitchFamily="34" charset="0"/>
              </a:rPr>
              <a:t>блокиране/отблокиране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F88FBEF8-D1DC-E652-4817-4EC2B58019AB}"/>
              </a:ext>
            </a:extLst>
          </p:cNvPr>
          <p:cNvSpPr/>
          <p:nvPr/>
        </p:nvSpPr>
        <p:spPr>
          <a:xfrm>
            <a:off x="8585200" y="3302000"/>
            <a:ext cx="279400" cy="279400"/>
          </a:xfrm>
          <a:prstGeom prst="roundRect">
            <a:avLst/>
          </a:prstGeom>
          <a:solidFill>
            <a:srgbClr val="A855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100" b="1">
                <a:solidFill>
                  <a:srgbClr val="FFFFFF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AE2DC9F-CCE4-77F2-52E7-6549DEBFF726}"/>
              </a:ext>
            </a:extLst>
          </p:cNvPr>
          <p:cNvSpPr txBox="1"/>
          <p:nvPr/>
        </p:nvSpPr>
        <p:spPr>
          <a:xfrm>
            <a:off x="9017000" y="3314700"/>
            <a:ext cx="2286000" cy="1923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250">
                <a:solidFill>
                  <a:srgbClr val="111827"/>
                </a:solidFill>
                <a:latin typeface="Aptos" panose="020B0004020202020204" pitchFamily="34" charset="0"/>
              </a:rPr>
              <a:t>управление на каталог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2BE7DA6-88EB-944D-8F69-22D84BE0787F}"/>
              </a:ext>
            </a:extLst>
          </p:cNvPr>
          <p:cNvSpPr/>
          <p:nvPr/>
        </p:nvSpPr>
        <p:spPr>
          <a:xfrm>
            <a:off x="8585200" y="3695700"/>
            <a:ext cx="279400" cy="279400"/>
          </a:xfrm>
          <a:prstGeom prst="roundRect">
            <a:avLst/>
          </a:prstGeom>
          <a:solidFill>
            <a:srgbClr val="A855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100" b="1">
                <a:solidFill>
                  <a:srgbClr val="FFFFFF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D268C38-B425-F4A1-3EAB-739C924F387F}"/>
              </a:ext>
            </a:extLst>
          </p:cNvPr>
          <p:cNvSpPr txBox="1"/>
          <p:nvPr/>
        </p:nvSpPr>
        <p:spPr>
          <a:xfrm>
            <a:off x="9017000" y="3708400"/>
            <a:ext cx="2286000" cy="1923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250">
                <a:solidFill>
                  <a:srgbClr val="111827"/>
                </a:solidFill>
                <a:latin typeface="Aptos" panose="020B0004020202020204" pitchFamily="34" charset="0"/>
              </a:rPr>
              <a:t>деактивиране на предложения</a:t>
            </a:r>
          </a:p>
        </p:txBody>
      </p:sp>
    </p:spTree>
    <p:extLst>
      <p:ext uri="{BB962C8B-B14F-4D97-AF65-F5344CB8AC3E}">
        <p14:creationId xmlns:p14="http://schemas.microsoft.com/office/powerpoint/2010/main" val="9322944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C65F30-6F8C-AC54-1A1C-38561D6FCA6F}"/>
              </a:ext>
            </a:extLst>
          </p:cNvPr>
          <p:cNvSpPr txBox="1"/>
          <p:nvPr/>
        </p:nvSpPr>
        <p:spPr>
          <a:xfrm>
            <a:off x="533400" y="355600"/>
            <a:ext cx="863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bg-BG" sz="2500" b="1">
                <a:solidFill>
                  <a:srgbClr val="111827"/>
                </a:solidFill>
                <a:latin typeface="Aptos" panose="020B0004020202020204" pitchFamily="34" charset="0"/>
              </a:rPr>
              <a:t>14. Публикуване и демонстрация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9D3DC3-18F5-E608-75AF-D151957552AE}"/>
              </a:ext>
            </a:extLst>
          </p:cNvPr>
          <p:cNvSpPr txBox="1"/>
          <p:nvPr/>
        </p:nvSpPr>
        <p:spPr>
          <a:xfrm>
            <a:off x="558800" y="838200"/>
            <a:ext cx="965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200">
                <a:solidFill>
                  <a:srgbClr val="596275"/>
                </a:solidFill>
                <a:latin typeface="Aptos" panose="020B0004020202020204" pitchFamily="34" charset="0"/>
              </a:rPr>
              <a:t>Проектът може да се демонстрира онлайн и чрез инсталиран Android APK</a:t>
            </a:r>
            <a:endParaRPr lang="bg-BG" sz="1200">
              <a:solidFill>
                <a:srgbClr val="596275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7309D15-68D8-9E12-9436-42DC215DB08E}"/>
              </a:ext>
            </a:extLst>
          </p:cNvPr>
          <p:cNvSpPr/>
          <p:nvPr/>
        </p:nvSpPr>
        <p:spPr>
          <a:xfrm>
            <a:off x="889000" y="1524000"/>
            <a:ext cx="3175000" cy="355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F1E936-0014-09B9-457B-E8EACCAFA0FB}"/>
              </a:ext>
            </a:extLst>
          </p:cNvPr>
          <p:cNvSpPr txBox="1"/>
          <p:nvPr/>
        </p:nvSpPr>
        <p:spPr>
          <a:xfrm>
            <a:off x="1219200" y="1905000"/>
            <a:ext cx="2286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200" b="1">
                <a:solidFill>
                  <a:srgbClr val="111827"/>
                </a:solidFill>
                <a:latin typeface="Aptos" panose="020B0004020202020204" pitchFamily="34" charset="0"/>
              </a:rPr>
              <a:t>Cloud backend</a:t>
            </a:r>
            <a:endParaRPr lang="bg-BG" sz="2200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ABAA4A6-AF92-5C26-6A74-44E57363554B}"/>
              </a:ext>
            </a:extLst>
          </p:cNvPr>
          <p:cNvSpPr/>
          <p:nvPr/>
        </p:nvSpPr>
        <p:spPr>
          <a:xfrm>
            <a:off x="1219200" y="2514600"/>
            <a:ext cx="279400" cy="279400"/>
          </a:xfrm>
          <a:prstGeom prst="roundRect">
            <a:avLst/>
          </a:prstGeom>
          <a:solidFill>
            <a:srgbClr val="A855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100" b="1">
                <a:solidFill>
                  <a:srgbClr val="FFFFFF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5619E6-00EA-1FDC-5BB3-5BAEDC9AE6F2}"/>
              </a:ext>
            </a:extLst>
          </p:cNvPr>
          <p:cNvSpPr txBox="1"/>
          <p:nvPr/>
        </p:nvSpPr>
        <p:spPr>
          <a:xfrm>
            <a:off x="1651000" y="2527300"/>
            <a:ext cx="2159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>
                <a:solidFill>
                  <a:srgbClr val="111827"/>
                </a:solidFill>
                <a:latin typeface="Aptos" panose="020B0004020202020204" pitchFamily="34" charset="0"/>
              </a:rPr>
              <a:t>Render Web Service</a:t>
            </a:r>
            <a:endParaRPr lang="bg-BG" sz="1300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F8386A2-63ED-6C85-475F-8032AA5C0DBF}"/>
              </a:ext>
            </a:extLst>
          </p:cNvPr>
          <p:cNvSpPr/>
          <p:nvPr/>
        </p:nvSpPr>
        <p:spPr>
          <a:xfrm>
            <a:off x="1219200" y="2908300"/>
            <a:ext cx="279400" cy="279400"/>
          </a:xfrm>
          <a:prstGeom prst="roundRect">
            <a:avLst/>
          </a:prstGeom>
          <a:solidFill>
            <a:srgbClr val="A855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100" b="1">
                <a:solidFill>
                  <a:srgbClr val="FFFFFF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E3CF02-4A81-6BD5-CB0B-2D16169E9D30}"/>
              </a:ext>
            </a:extLst>
          </p:cNvPr>
          <p:cNvSpPr txBox="1"/>
          <p:nvPr/>
        </p:nvSpPr>
        <p:spPr>
          <a:xfrm>
            <a:off x="1651000" y="2921000"/>
            <a:ext cx="2159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>
                <a:solidFill>
                  <a:srgbClr val="111827"/>
                </a:solidFill>
                <a:latin typeface="Aptos" panose="020B0004020202020204" pitchFamily="34" charset="0"/>
              </a:rPr>
              <a:t>Supabase PostgreSQL</a:t>
            </a:r>
            <a:endParaRPr lang="bg-BG" sz="1300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53CACA6-E5CB-CEB0-BB88-9462AC6473B3}"/>
              </a:ext>
            </a:extLst>
          </p:cNvPr>
          <p:cNvSpPr/>
          <p:nvPr/>
        </p:nvSpPr>
        <p:spPr>
          <a:xfrm>
            <a:off x="1219200" y="3302000"/>
            <a:ext cx="279400" cy="279400"/>
          </a:xfrm>
          <a:prstGeom prst="roundRect">
            <a:avLst/>
          </a:prstGeom>
          <a:solidFill>
            <a:srgbClr val="A855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100" b="1">
                <a:solidFill>
                  <a:srgbClr val="FFFFFF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EEFAFA-DDD8-7044-0BC6-DF35FEDBAA02}"/>
              </a:ext>
            </a:extLst>
          </p:cNvPr>
          <p:cNvSpPr txBox="1"/>
          <p:nvPr/>
        </p:nvSpPr>
        <p:spPr>
          <a:xfrm>
            <a:off x="1651000" y="3314700"/>
            <a:ext cx="2159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300">
                <a:solidFill>
                  <a:srgbClr val="111827"/>
                </a:solidFill>
                <a:latin typeface="Aptos" panose="020B0004020202020204" pitchFamily="34" charset="0"/>
              </a:rPr>
              <a:t>публичен </a:t>
            </a:r>
            <a:r>
              <a:rPr lang="en-US" sz="1300">
                <a:solidFill>
                  <a:srgbClr val="111827"/>
                </a:solidFill>
                <a:latin typeface="Aptos" panose="020B0004020202020204" pitchFamily="34" charset="0"/>
              </a:rPr>
              <a:t>HTTPS </a:t>
            </a:r>
            <a:r>
              <a:rPr lang="bg-BG" sz="1300">
                <a:solidFill>
                  <a:srgbClr val="111827"/>
                </a:solidFill>
                <a:latin typeface="Aptos" panose="020B0004020202020204" pitchFamily="34" charset="0"/>
              </a:rPr>
              <a:t>адрес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8DF74DE-8665-DB79-9BCD-E096964F3C4F}"/>
              </a:ext>
            </a:extLst>
          </p:cNvPr>
          <p:cNvSpPr/>
          <p:nvPr/>
        </p:nvSpPr>
        <p:spPr>
          <a:xfrm>
            <a:off x="1219200" y="3695700"/>
            <a:ext cx="279400" cy="279400"/>
          </a:xfrm>
          <a:prstGeom prst="roundRect">
            <a:avLst/>
          </a:prstGeom>
          <a:solidFill>
            <a:srgbClr val="A855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100" b="1">
                <a:solidFill>
                  <a:srgbClr val="FFFFFF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04DB42-8FE6-F0B2-F924-15B7CE59F548}"/>
              </a:ext>
            </a:extLst>
          </p:cNvPr>
          <p:cNvSpPr txBox="1"/>
          <p:nvPr/>
        </p:nvSpPr>
        <p:spPr>
          <a:xfrm>
            <a:off x="1651000" y="3708400"/>
            <a:ext cx="2159000" cy="4001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300">
                <a:solidFill>
                  <a:srgbClr val="111827"/>
                </a:solidFill>
                <a:latin typeface="Aptos" panose="020B0004020202020204" pitchFamily="34" charset="0"/>
              </a:rPr>
              <a:t>демонстрация от различни устройства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473AD3A-B957-3CBB-BE96-3153A48F6725}"/>
              </a:ext>
            </a:extLst>
          </p:cNvPr>
          <p:cNvSpPr/>
          <p:nvPr/>
        </p:nvSpPr>
        <p:spPr>
          <a:xfrm>
            <a:off x="4572000" y="1524000"/>
            <a:ext cx="3175000" cy="355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EA85E2-14A3-1BBE-CD7A-10A2AD9B6F51}"/>
              </a:ext>
            </a:extLst>
          </p:cNvPr>
          <p:cNvSpPr txBox="1"/>
          <p:nvPr/>
        </p:nvSpPr>
        <p:spPr>
          <a:xfrm>
            <a:off x="4902200" y="1905000"/>
            <a:ext cx="2286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200" b="1">
                <a:solidFill>
                  <a:srgbClr val="111827"/>
                </a:solidFill>
                <a:latin typeface="Aptos" panose="020B0004020202020204" pitchFamily="34" charset="0"/>
              </a:rPr>
              <a:t>Android APK</a:t>
            </a:r>
            <a:endParaRPr lang="bg-BG" sz="2200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8F3C2F1-4667-5063-1457-DEA4E6665A42}"/>
              </a:ext>
            </a:extLst>
          </p:cNvPr>
          <p:cNvSpPr/>
          <p:nvPr/>
        </p:nvSpPr>
        <p:spPr>
          <a:xfrm>
            <a:off x="4902200" y="2514600"/>
            <a:ext cx="279400" cy="279400"/>
          </a:xfrm>
          <a:prstGeom prst="roundRect">
            <a:avLst/>
          </a:prstGeom>
          <a:solidFill>
            <a:srgbClr val="A855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100" b="1">
                <a:solidFill>
                  <a:srgbClr val="FFFFFF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D682D24-DFE9-5FC4-FCCF-6D9423865E19}"/>
              </a:ext>
            </a:extLst>
          </p:cNvPr>
          <p:cNvSpPr txBox="1"/>
          <p:nvPr/>
        </p:nvSpPr>
        <p:spPr>
          <a:xfrm>
            <a:off x="5334000" y="2527300"/>
            <a:ext cx="2159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300">
                <a:solidFill>
                  <a:srgbClr val="111827"/>
                </a:solidFill>
                <a:latin typeface="Aptos" panose="020B0004020202020204" pitchFamily="34" charset="0"/>
              </a:rPr>
              <a:t>инсталационен файл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4F3780A-E20B-03D5-0105-99FF9A93F921}"/>
              </a:ext>
            </a:extLst>
          </p:cNvPr>
          <p:cNvSpPr/>
          <p:nvPr/>
        </p:nvSpPr>
        <p:spPr>
          <a:xfrm>
            <a:off x="4902200" y="2908300"/>
            <a:ext cx="279400" cy="279400"/>
          </a:xfrm>
          <a:prstGeom prst="roundRect">
            <a:avLst/>
          </a:prstGeom>
          <a:solidFill>
            <a:srgbClr val="A855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100" b="1">
                <a:solidFill>
                  <a:srgbClr val="FFFFFF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A0B288-B44C-03A8-21B7-2767A4E95146}"/>
              </a:ext>
            </a:extLst>
          </p:cNvPr>
          <p:cNvSpPr txBox="1"/>
          <p:nvPr/>
        </p:nvSpPr>
        <p:spPr>
          <a:xfrm>
            <a:off x="5334000" y="2921000"/>
            <a:ext cx="2159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>
                <a:solidFill>
                  <a:srgbClr val="111827"/>
                </a:solidFill>
                <a:latin typeface="Aptos" panose="020B0004020202020204" pitchFamily="34" charset="0"/>
              </a:rPr>
              <a:t>QR </a:t>
            </a:r>
            <a:r>
              <a:rPr lang="bg-BG" sz="1300">
                <a:solidFill>
                  <a:srgbClr val="111827"/>
                </a:solidFill>
                <a:latin typeface="Aptos" panose="020B0004020202020204" pitchFamily="34" charset="0"/>
              </a:rPr>
              <a:t>код към </a:t>
            </a:r>
            <a:r>
              <a:rPr lang="en-US" sz="1300">
                <a:solidFill>
                  <a:srgbClr val="111827"/>
                </a:solidFill>
                <a:latin typeface="Aptos" panose="020B0004020202020204" pitchFamily="34" charset="0"/>
              </a:rPr>
              <a:t>Google Drive</a:t>
            </a:r>
            <a:endParaRPr lang="bg-BG" sz="1300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AAA42B9-17AE-9EA9-3EEF-A976BB2DE727}"/>
              </a:ext>
            </a:extLst>
          </p:cNvPr>
          <p:cNvSpPr/>
          <p:nvPr/>
        </p:nvSpPr>
        <p:spPr>
          <a:xfrm>
            <a:off x="4902200" y="3302000"/>
            <a:ext cx="279400" cy="279400"/>
          </a:xfrm>
          <a:prstGeom prst="roundRect">
            <a:avLst/>
          </a:prstGeom>
          <a:solidFill>
            <a:srgbClr val="A855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100" b="1">
                <a:solidFill>
                  <a:srgbClr val="FFFFFF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677D739-2E65-B555-0DCD-9C082278DB61}"/>
              </a:ext>
            </a:extLst>
          </p:cNvPr>
          <p:cNvSpPr txBox="1"/>
          <p:nvPr/>
        </p:nvSpPr>
        <p:spPr>
          <a:xfrm>
            <a:off x="5334000" y="3314700"/>
            <a:ext cx="2159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300">
                <a:solidFill>
                  <a:srgbClr val="111827"/>
                </a:solidFill>
                <a:latin typeface="Aptos" panose="020B0004020202020204" pitchFamily="34" charset="0"/>
              </a:rPr>
              <a:t>работи с </a:t>
            </a:r>
            <a:r>
              <a:rPr lang="en-US" sz="1300">
                <a:solidFill>
                  <a:srgbClr val="111827"/>
                </a:solidFill>
                <a:latin typeface="Aptos" panose="020B0004020202020204" pitchFamily="34" charset="0"/>
              </a:rPr>
              <a:t>online API</a:t>
            </a:r>
            <a:endParaRPr lang="bg-BG" sz="1300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78267E4-892D-F1EA-C697-0CB63992E746}"/>
              </a:ext>
            </a:extLst>
          </p:cNvPr>
          <p:cNvSpPr/>
          <p:nvPr/>
        </p:nvSpPr>
        <p:spPr>
          <a:xfrm>
            <a:off x="4902200" y="3695700"/>
            <a:ext cx="279400" cy="279400"/>
          </a:xfrm>
          <a:prstGeom prst="roundRect">
            <a:avLst/>
          </a:prstGeom>
          <a:solidFill>
            <a:srgbClr val="A855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100" b="1">
                <a:solidFill>
                  <a:srgbClr val="FFFFFF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53380A7-8DD6-35E3-7A8B-80C2CF410BBD}"/>
              </a:ext>
            </a:extLst>
          </p:cNvPr>
          <p:cNvSpPr txBox="1"/>
          <p:nvPr/>
        </p:nvSpPr>
        <p:spPr>
          <a:xfrm>
            <a:off x="5334000" y="3708400"/>
            <a:ext cx="2159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300">
                <a:solidFill>
                  <a:srgbClr val="111827"/>
                </a:solidFill>
                <a:latin typeface="Aptos" panose="020B0004020202020204" pitchFamily="34" charset="0"/>
              </a:rPr>
              <a:t>тестване на реален телефон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3B30990-83EF-16CD-BE35-268A87654DA0}"/>
              </a:ext>
            </a:extLst>
          </p:cNvPr>
          <p:cNvSpPr/>
          <p:nvPr/>
        </p:nvSpPr>
        <p:spPr>
          <a:xfrm>
            <a:off x="8255000" y="1524000"/>
            <a:ext cx="3048000" cy="355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33C922E-D97D-14B6-1F49-DC2E667ACA4D}"/>
              </a:ext>
            </a:extLst>
          </p:cNvPr>
          <p:cNvSpPr txBox="1"/>
          <p:nvPr/>
        </p:nvSpPr>
        <p:spPr>
          <a:xfrm>
            <a:off x="8585200" y="1905000"/>
            <a:ext cx="2159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200" b="1">
                <a:solidFill>
                  <a:srgbClr val="111827"/>
                </a:solidFill>
                <a:latin typeface="Aptos" panose="020B0004020202020204" pitchFamily="34" charset="0"/>
              </a:rPr>
              <a:t>Backup </a:t>
            </a:r>
            <a:r>
              <a:rPr lang="bg-BG" sz="2200" b="1">
                <a:solidFill>
                  <a:srgbClr val="111827"/>
                </a:solidFill>
                <a:latin typeface="Aptos" panose="020B0004020202020204" pitchFamily="34" charset="0"/>
              </a:rPr>
              <a:t>план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AEA3034-51BC-56C7-DDBA-FD447E3C0578}"/>
              </a:ext>
            </a:extLst>
          </p:cNvPr>
          <p:cNvSpPr/>
          <p:nvPr/>
        </p:nvSpPr>
        <p:spPr>
          <a:xfrm>
            <a:off x="8585200" y="2514600"/>
            <a:ext cx="279400" cy="279400"/>
          </a:xfrm>
          <a:prstGeom prst="roundRect">
            <a:avLst/>
          </a:prstGeom>
          <a:solidFill>
            <a:srgbClr val="A855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100" b="1">
                <a:solidFill>
                  <a:srgbClr val="FFFFFF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8A7EE6F-EAEE-C0A7-D682-96062B02FC19}"/>
              </a:ext>
            </a:extLst>
          </p:cNvPr>
          <p:cNvSpPr txBox="1"/>
          <p:nvPr/>
        </p:nvSpPr>
        <p:spPr>
          <a:xfrm>
            <a:off x="9017000" y="2527300"/>
            <a:ext cx="2032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300">
                <a:solidFill>
                  <a:srgbClr val="111827"/>
                </a:solidFill>
                <a:latin typeface="Aptos" panose="020B0004020202020204" pitchFamily="34" charset="0"/>
              </a:rPr>
              <a:t>локален </a:t>
            </a:r>
            <a:r>
              <a:rPr lang="en-US" sz="1300">
                <a:solidFill>
                  <a:srgbClr val="111827"/>
                </a:solidFill>
                <a:latin typeface="Aptos" panose="020B0004020202020204" pitchFamily="34" charset="0"/>
              </a:rPr>
              <a:t>backend</a:t>
            </a:r>
            <a:endParaRPr lang="bg-BG" sz="1300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43567BC-498B-A379-DB56-ADBB96505190}"/>
              </a:ext>
            </a:extLst>
          </p:cNvPr>
          <p:cNvSpPr/>
          <p:nvPr/>
        </p:nvSpPr>
        <p:spPr>
          <a:xfrm>
            <a:off x="8585200" y="2908300"/>
            <a:ext cx="279400" cy="279400"/>
          </a:xfrm>
          <a:prstGeom prst="roundRect">
            <a:avLst/>
          </a:prstGeom>
          <a:solidFill>
            <a:srgbClr val="A855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100" b="1">
                <a:solidFill>
                  <a:srgbClr val="FFFFFF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409DEA0-3640-FBF3-1DB6-6DB068590B23}"/>
              </a:ext>
            </a:extLst>
          </p:cNvPr>
          <p:cNvSpPr txBox="1"/>
          <p:nvPr/>
        </p:nvSpPr>
        <p:spPr>
          <a:xfrm>
            <a:off x="9017000" y="2921000"/>
            <a:ext cx="2032000" cy="4001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bg-BG" sz="1300">
                <a:solidFill>
                  <a:srgbClr val="111827"/>
                </a:solidFill>
                <a:latin typeface="Aptos" panose="020B0004020202020204" pitchFamily="34" charset="0"/>
              </a:rPr>
              <a:t>локална база за демонстрация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D5043FB3-A7C1-C8DD-9C81-0982C0F23236}"/>
              </a:ext>
            </a:extLst>
          </p:cNvPr>
          <p:cNvSpPr/>
          <p:nvPr/>
        </p:nvSpPr>
        <p:spPr>
          <a:xfrm>
            <a:off x="8585200" y="3302000"/>
            <a:ext cx="279400" cy="279400"/>
          </a:xfrm>
          <a:prstGeom prst="roundRect">
            <a:avLst/>
          </a:prstGeom>
          <a:solidFill>
            <a:srgbClr val="A855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100" b="1">
                <a:solidFill>
                  <a:srgbClr val="FFFFFF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3034B48-C7C7-CF4B-2F27-1C03CFFC9491}"/>
              </a:ext>
            </a:extLst>
          </p:cNvPr>
          <p:cNvSpPr txBox="1"/>
          <p:nvPr/>
        </p:nvSpPr>
        <p:spPr>
          <a:xfrm>
            <a:off x="9017000" y="3314700"/>
            <a:ext cx="2032000" cy="4001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1300">
                <a:solidFill>
                  <a:srgbClr val="111827"/>
                </a:solidFill>
                <a:latin typeface="Aptos" panose="020B0004020202020204" pitchFamily="34" charset="0"/>
              </a:rPr>
              <a:t>видео запис при проблем с интернет</a:t>
            </a:r>
            <a:endParaRPr lang="bg-BG" sz="1300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38717B94-7100-0F62-8605-A8A269824DB1}"/>
              </a:ext>
            </a:extLst>
          </p:cNvPr>
          <p:cNvSpPr/>
          <p:nvPr/>
        </p:nvSpPr>
        <p:spPr>
          <a:xfrm>
            <a:off x="3733800" y="5562600"/>
            <a:ext cx="4699000" cy="381000"/>
          </a:xfrm>
          <a:prstGeom prst="roundRect">
            <a:avLst/>
          </a:prstGeom>
          <a:solidFill>
            <a:srgbClr val="6D28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https://swipemate-api.onrender.com</a:t>
            </a:r>
            <a:endParaRPr lang="bg-BG" sz="11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16622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AD1C18-027A-BE6E-2001-420080E1AEE1}"/>
              </a:ext>
            </a:extLst>
          </p:cNvPr>
          <p:cNvSpPr txBox="1"/>
          <p:nvPr/>
        </p:nvSpPr>
        <p:spPr>
          <a:xfrm>
            <a:off x="533400" y="355600"/>
            <a:ext cx="863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bg-BG" sz="2500" b="1">
                <a:solidFill>
                  <a:srgbClr val="111827"/>
                </a:solidFill>
                <a:latin typeface="Aptos" panose="020B0004020202020204" pitchFamily="34" charset="0"/>
              </a:rPr>
              <a:t>15. Бъдещо развитие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7B63B1-103F-40B0-8445-3C4FADD7D1AC}"/>
              </a:ext>
            </a:extLst>
          </p:cNvPr>
          <p:cNvSpPr txBox="1"/>
          <p:nvPr/>
        </p:nvSpPr>
        <p:spPr>
          <a:xfrm>
            <a:off x="558800" y="838200"/>
            <a:ext cx="965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200">
                <a:solidFill>
                  <a:srgbClr val="596275"/>
                </a:solidFill>
                <a:latin typeface="Aptos" panose="020B0004020202020204" pitchFamily="34" charset="0"/>
              </a:rPr>
              <a:t>Как проектът може да стане по-пълен продукт</a:t>
            </a:r>
            <a:endParaRPr lang="bg-BG" sz="1200">
              <a:solidFill>
                <a:srgbClr val="596275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099A6E8-7779-85A3-A886-808627063377}"/>
              </a:ext>
            </a:extLst>
          </p:cNvPr>
          <p:cNvSpPr/>
          <p:nvPr/>
        </p:nvSpPr>
        <p:spPr>
          <a:xfrm>
            <a:off x="889000" y="1600200"/>
            <a:ext cx="10414000" cy="330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F08840C-3F87-4C71-7139-900CC198A8F6}"/>
              </a:ext>
            </a:extLst>
          </p:cNvPr>
          <p:cNvSpPr/>
          <p:nvPr/>
        </p:nvSpPr>
        <p:spPr>
          <a:xfrm>
            <a:off x="1397000" y="2108200"/>
            <a:ext cx="279400" cy="279400"/>
          </a:xfrm>
          <a:prstGeom prst="roundRect">
            <a:avLst/>
          </a:prstGeom>
          <a:solidFill>
            <a:srgbClr val="A855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100" b="1">
                <a:solidFill>
                  <a:srgbClr val="FFFFFF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465410-394D-ACF3-A82E-DAAE856DAC19}"/>
              </a:ext>
            </a:extLst>
          </p:cNvPr>
          <p:cNvSpPr txBox="1"/>
          <p:nvPr/>
        </p:nvSpPr>
        <p:spPr>
          <a:xfrm>
            <a:off x="1828800" y="2120900"/>
            <a:ext cx="9144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1600">
                <a:solidFill>
                  <a:srgbClr val="111827"/>
                </a:solidFill>
                <a:latin typeface="Aptos" panose="020B0004020202020204" pitchFamily="34" charset="0"/>
              </a:rPr>
              <a:t>разширяване на каталога с повече реални ресторанти, филми, рецепти и игри</a:t>
            </a:r>
            <a:endParaRPr lang="bg-BG" sz="1600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59949A0-9C26-C66C-CAD7-F101AA17B759}"/>
              </a:ext>
            </a:extLst>
          </p:cNvPr>
          <p:cNvSpPr/>
          <p:nvPr/>
        </p:nvSpPr>
        <p:spPr>
          <a:xfrm>
            <a:off x="1397000" y="2590800"/>
            <a:ext cx="279400" cy="279400"/>
          </a:xfrm>
          <a:prstGeom prst="roundRect">
            <a:avLst/>
          </a:prstGeom>
          <a:solidFill>
            <a:srgbClr val="A855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100" b="1">
                <a:solidFill>
                  <a:srgbClr val="FFFFFF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7195DE-C80B-0429-B891-E8F9477DD4B1}"/>
              </a:ext>
            </a:extLst>
          </p:cNvPr>
          <p:cNvSpPr txBox="1"/>
          <p:nvPr/>
        </p:nvSpPr>
        <p:spPr>
          <a:xfrm>
            <a:off x="1828800" y="2603500"/>
            <a:ext cx="9144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1600">
                <a:solidFill>
                  <a:srgbClr val="111827"/>
                </a:solidFill>
                <a:latin typeface="Aptos" panose="020B0004020202020204" pitchFamily="34" charset="0"/>
              </a:rPr>
              <a:t>push notifications при нови покани и match резултати</a:t>
            </a:r>
            <a:endParaRPr lang="bg-BG" sz="1600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0A854F6-EE2E-9256-B389-7ECC266D6071}"/>
              </a:ext>
            </a:extLst>
          </p:cNvPr>
          <p:cNvSpPr/>
          <p:nvPr/>
        </p:nvSpPr>
        <p:spPr>
          <a:xfrm>
            <a:off x="1397000" y="3073400"/>
            <a:ext cx="279400" cy="279400"/>
          </a:xfrm>
          <a:prstGeom prst="roundRect">
            <a:avLst/>
          </a:prstGeom>
          <a:solidFill>
            <a:srgbClr val="A855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100" b="1">
                <a:solidFill>
                  <a:srgbClr val="FFFFFF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E6FCD9-5829-4230-DC62-C90EEE50F36B}"/>
              </a:ext>
            </a:extLst>
          </p:cNvPr>
          <p:cNvSpPr txBox="1"/>
          <p:nvPr/>
        </p:nvSpPr>
        <p:spPr>
          <a:xfrm>
            <a:off x="1828800" y="3086100"/>
            <a:ext cx="9144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1600">
                <a:solidFill>
                  <a:srgbClr val="111827"/>
                </a:solidFill>
                <a:latin typeface="Aptos" panose="020B0004020202020204" pitchFamily="34" charset="0"/>
              </a:rPr>
              <a:t>по-подробен admin dashboard с анализ на активност и съдържание</a:t>
            </a:r>
            <a:endParaRPr lang="bg-BG" sz="1600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D82A017-5D2F-C926-A349-719882D42406}"/>
              </a:ext>
            </a:extLst>
          </p:cNvPr>
          <p:cNvSpPr/>
          <p:nvPr/>
        </p:nvSpPr>
        <p:spPr>
          <a:xfrm>
            <a:off x="1397000" y="3556000"/>
            <a:ext cx="279400" cy="279400"/>
          </a:xfrm>
          <a:prstGeom prst="roundRect">
            <a:avLst/>
          </a:prstGeom>
          <a:solidFill>
            <a:srgbClr val="A855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100" b="1">
                <a:solidFill>
                  <a:srgbClr val="FFFFFF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5AC836-3C69-E78B-DA41-95363043F410}"/>
              </a:ext>
            </a:extLst>
          </p:cNvPr>
          <p:cNvSpPr txBox="1"/>
          <p:nvPr/>
        </p:nvSpPr>
        <p:spPr>
          <a:xfrm>
            <a:off x="1828800" y="3568700"/>
            <a:ext cx="9144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1600">
                <a:solidFill>
                  <a:srgbClr val="111827"/>
                </a:solidFill>
                <a:latin typeface="Aptos" panose="020B0004020202020204" pitchFamily="34" charset="0"/>
              </a:rPr>
              <a:t>публикуване в Google Play след финално тестване и подписване</a:t>
            </a:r>
            <a:endParaRPr lang="bg-BG" sz="1600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1493E17-E6F7-4C22-F596-184510B758B6}"/>
              </a:ext>
            </a:extLst>
          </p:cNvPr>
          <p:cNvSpPr/>
          <p:nvPr/>
        </p:nvSpPr>
        <p:spPr>
          <a:xfrm>
            <a:off x="1397000" y="4038600"/>
            <a:ext cx="279400" cy="279400"/>
          </a:xfrm>
          <a:prstGeom prst="roundRect">
            <a:avLst/>
          </a:prstGeom>
          <a:solidFill>
            <a:srgbClr val="A855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100" b="1">
                <a:solidFill>
                  <a:srgbClr val="FFFFFF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8BD239-5951-0094-AA08-91F48641CFF7}"/>
              </a:ext>
            </a:extLst>
          </p:cNvPr>
          <p:cNvSpPr txBox="1"/>
          <p:nvPr/>
        </p:nvSpPr>
        <p:spPr>
          <a:xfrm>
            <a:off x="1828800" y="4051300"/>
            <a:ext cx="9144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ru-RU" sz="1600">
                <a:solidFill>
                  <a:srgbClr val="111827"/>
                </a:solidFill>
                <a:latin typeface="Aptos" panose="020B0004020202020204" pitchFamily="34" charset="0"/>
              </a:rPr>
              <a:t>персонални препоръки според предишни избори и оценки</a:t>
            </a:r>
            <a:endParaRPr lang="bg-BG" sz="1600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193DAA-06BC-8874-54DB-3C8E2AD569FB}"/>
              </a:ext>
            </a:extLst>
          </p:cNvPr>
          <p:cNvSpPr txBox="1"/>
          <p:nvPr/>
        </p:nvSpPr>
        <p:spPr>
          <a:xfrm>
            <a:off x="1168400" y="5524500"/>
            <a:ext cx="9906000" cy="58477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900" b="1">
                <a:solidFill>
                  <a:srgbClr val="111827"/>
                </a:solidFill>
                <a:latin typeface="Aptos" panose="020B0004020202020204" pitchFamily="34" charset="0"/>
              </a:rPr>
              <a:t>SwipeMate </a:t>
            </a:r>
            <a:r>
              <a:rPr lang="bg-BG" sz="1900" b="1">
                <a:solidFill>
                  <a:srgbClr val="111827"/>
                </a:solidFill>
                <a:latin typeface="Aptos" panose="020B0004020202020204" pitchFamily="34" charset="0"/>
              </a:rPr>
              <a:t>показва практически завършено решение: мобилен интерфейс, </a:t>
            </a:r>
            <a:r>
              <a:rPr lang="en-US" sz="1900" b="1">
                <a:solidFill>
                  <a:srgbClr val="111827"/>
                </a:solidFill>
                <a:latin typeface="Aptos" panose="020B0004020202020204" pitchFamily="34" charset="0"/>
              </a:rPr>
              <a:t>backend </a:t>
            </a:r>
            <a:r>
              <a:rPr lang="bg-BG" sz="1900" b="1">
                <a:solidFill>
                  <a:srgbClr val="111827"/>
                </a:solidFill>
                <a:latin typeface="Aptos" panose="020B0004020202020204" pitchFamily="34" charset="0"/>
              </a:rPr>
              <a:t>логика, база данни, </a:t>
            </a:r>
            <a:r>
              <a:rPr lang="en-US" sz="1900" b="1">
                <a:solidFill>
                  <a:srgbClr val="111827"/>
                </a:solidFill>
                <a:latin typeface="Aptos" panose="020B0004020202020204" pitchFamily="34" charset="0"/>
              </a:rPr>
              <a:t>cloud deployment </a:t>
            </a:r>
            <a:r>
              <a:rPr lang="bg-BG" sz="1900" b="1">
                <a:solidFill>
                  <a:srgbClr val="111827"/>
                </a:solidFill>
                <a:latin typeface="Aptos" panose="020B0004020202020204" pitchFamily="34" charset="0"/>
              </a:rPr>
              <a:t>и реален </a:t>
            </a:r>
            <a:r>
              <a:rPr lang="en-US" sz="1900" b="1">
                <a:solidFill>
                  <a:srgbClr val="111827"/>
                </a:solidFill>
                <a:latin typeface="Aptos" panose="020B0004020202020204" pitchFamily="34" charset="0"/>
              </a:rPr>
              <a:t>group decision flow.</a:t>
            </a:r>
            <a:endParaRPr lang="bg-BG" sz="1900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62380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307CC5E6-837B-2D3D-6FBA-5744A9AB640B}"/>
              </a:ext>
            </a:extLst>
          </p:cNvPr>
          <p:cNvSpPr/>
          <p:nvPr/>
        </p:nvSpPr>
        <p:spPr>
          <a:xfrm>
            <a:off x="5562600" y="965200"/>
            <a:ext cx="1066800" cy="1066800"/>
          </a:xfrm>
          <a:prstGeom prst="ellipse">
            <a:avLst/>
          </a:prstGeom>
          <a:solidFill>
            <a:srgbClr val="EC48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SM</a:t>
            </a:r>
            <a:endParaRPr lang="bg-BG" sz="13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02A446-3B1F-46C2-3415-8D8035649230}"/>
              </a:ext>
            </a:extLst>
          </p:cNvPr>
          <p:cNvSpPr txBox="1"/>
          <p:nvPr/>
        </p:nvSpPr>
        <p:spPr>
          <a:xfrm>
            <a:off x="2667000" y="2413000"/>
            <a:ext cx="6858000" cy="58477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bg-BG" sz="3800" b="1">
                <a:solidFill>
                  <a:srgbClr val="111827"/>
                </a:solidFill>
                <a:latin typeface="Aptos" panose="020B0004020202020204" pitchFamily="34" charset="0"/>
              </a:rPr>
              <a:t>Благодаря за вниманието!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2CD543-90AC-0755-6324-934B4D1C45BD}"/>
              </a:ext>
            </a:extLst>
          </p:cNvPr>
          <p:cNvSpPr txBox="1"/>
          <p:nvPr/>
        </p:nvSpPr>
        <p:spPr>
          <a:xfrm>
            <a:off x="2413000" y="3302000"/>
            <a:ext cx="7366000" cy="61555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ru-RU" sz="2000">
                <a:solidFill>
                  <a:srgbClr val="596275"/>
                </a:solidFill>
                <a:latin typeface="Aptos" panose="020B0004020202020204" pitchFamily="34" charset="0"/>
              </a:rPr>
              <a:t>Готова съм да покажа практическата част и да отговоря на въпроси за кода, базата данни и архитектурата.</a:t>
            </a:r>
            <a:endParaRPr lang="bg-BG" sz="2000">
              <a:solidFill>
                <a:srgbClr val="596275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7415168-DE17-6230-A6B3-C47E6C5BD1AF}"/>
              </a:ext>
            </a:extLst>
          </p:cNvPr>
          <p:cNvSpPr/>
          <p:nvPr/>
        </p:nvSpPr>
        <p:spPr>
          <a:xfrm>
            <a:off x="4673600" y="4699000"/>
            <a:ext cx="2844800" cy="431800"/>
          </a:xfrm>
          <a:prstGeom prst="roundRect">
            <a:avLst/>
          </a:prstGeom>
          <a:solidFill>
            <a:srgbClr val="A855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SwipeMate · </a:t>
            </a:r>
            <a:r>
              <a:rPr lang="bg-BG" sz="1100" b="1">
                <a:solidFill>
                  <a:srgbClr val="FFFFFF"/>
                </a:solidFill>
                <a:latin typeface="Aptos" panose="020B0004020202020204" pitchFamily="34" charset="0"/>
              </a:rPr>
              <a:t>дипломен проект</a:t>
            </a:r>
          </a:p>
        </p:txBody>
      </p:sp>
    </p:spTree>
    <p:extLst>
      <p:ext uri="{BB962C8B-B14F-4D97-AF65-F5344CB8AC3E}">
        <p14:creationId xmlns:p14="http://schemas.microsoft.com/office/powerpoint/2010/main" val="5466866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1067</Words>
  <Application>Microsoft Office PowerPoint</Application>
  <PresentationFormat>Custom</PresentationFormat>
  <Paragraphs>272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Ivailaf</dc:creator>
  <cp:lastModifiedBy>Ivailaf</cp:lastModifiedBy>
  <cp:revision>1</cp:revision>
  <dcterms:created xsi:type="dcterms:W3CDTF">2026-05-31T19:32:51Z</dcterms:created>
  <dcterms:modified xsi:type="dcterms:W3CDTF">2026-05-31T19:32:51Z</dcterms:modified>
</cp:coreProperties>
</file>