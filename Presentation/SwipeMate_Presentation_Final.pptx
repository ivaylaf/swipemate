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59B6-D69C-7EE1-2294-02090BE9D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B2104-261A-723C-8A40-DA43B5F34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2E7DA-6614-BB44-FE45-D826F417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C4AD3-B51C-9D4E-9860-FA35E339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C48F-D983-6142-5B1D-1C637603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866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41AF-3D31-5BCA-5621-04D67D36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D23AC-A4B0-45C6-117B-1C84ABFC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9E3DA-BBAC-EFEC-668C-C802E7FE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70A87-2ACC-E7EA-19A8-8064EC0CF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D79C2-9A26-0CE6-F1EE-756B5E5D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701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2D526-C653-CEEB-2552-F7A53484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38F3C-7DA9-2C5C-B5D3-69591846B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5C510-95D9-8D07-BD84-16D978D1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77C52-7D58-33C4-3029-CA9F369E4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57163-635B-CC43-8C2E-04E791A3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205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79E9-F156-42AD-F263-7534FC6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75A8-1CBA-5470-555A-936023565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AD8F7-563B-CCB8-760C-FB8159375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8A1EB-C8C3-C1F2-DF1F-C68BC585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48964-03E3-149A-EBE3-1F5627DE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ED75D-F70C-C1CE-21FD-2FAF531C8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14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82FE-0B1D-72CE-4B85-95DBEA2B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330B5-E174-65CC-C5BD-C59B18D85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240FC-F97D-51B7-6935-DF64FA561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F7413-9A62-48CB-3701-174ACEC9F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3D2F7-3B71-59AA-A6A2-0E70B2B23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D8B3DC-3F7A-C148-D184-82F989E4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6126D7-8230-EFC7-2C90-2BF00844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92FA8-5961-514E-504D-0C146B6B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368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26B5-4073-353F-209F-B09A06E80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F81AA-0ECA-DE30-BAB6-848E1805D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E54BA-5EA2-C78E-A1A5-E36AE3FE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9BB0-B41D-6C35-BF39-CD025606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5123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9D09D-B82E-7907-4AD3-DD4C4AF9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EF9F8-DEFF-F4D1-FBCA-284D918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BF6BC-5214-B400-A93F-2C57BCFB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852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DC86-50AE-EFC1-797F-A99DADBA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AC63-7A1E-09D5-F924-5A4EFFD77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44A2A-2FAA-AAC3-E86B-77709FAE7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A8543-9C8C-32AE-BC9E-E25FC886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2F715-1BBD-5C9C-CB9C-18F64F88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9F1AA-97B8-ADE4-582E-63CB1CA9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523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94B0-A5E6-1ED5-A719-B062B40E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3B1D0-1235-72B0-CD29-F4A4E7402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4F7D8-A368-398D-8B81-DF2F5BFF0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721DA-CD45-C319-7442-A23FBDC0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F7486-EEAB-7269-8CB2-5F7F4BF92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49F77-156E-94FE-03C3-324C0FD8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91642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B30C-BBD2-2096-5FBE-472AE904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56C6E-3EC3-35F9-BC02-6ACF49CAB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A2377-88DF-8E27-669D-2EF4B9A8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089B6-2E12-F88F-89DD-38EA0E1D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19660-EDCB-E394-039B-E0CF4193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5817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10B6F-3E06-639C-5AD1-196A8DAF2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DD463-5FAE-EA24-17A0-93BCD3F65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58A3B-5CDB-A493-F9B4-43F39612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5A3E7-BAF5-E6E5-9E2E-4D4ADB6EE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64761-0E9F-9BAE-2151-AB3E1D89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0715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2DEBF-9A65-00E9-F3F8-B0E4092B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439B1-B4E5-ECF9-D118-6FF4BA2AB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01F8E-A943-9CC5-9785-E47A33618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35964-3543-47EE-A244-38AD5DC58B7A}" type="datetimeFigureOut">
              <a:rPr lang="bg-BG" smtClean="0"/>
              <a:t>1.6.2026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B2E0D-6321-506A-8EC4-D91FB099C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B07B2-0E56-81DB-75E6-47F13D5DF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7081D-CEBE-4368-87D5-092148184FB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186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54430-5EB2-EE96-5752-C930FB53BE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39E36-6FA7-1885-960F-8DDEDEAF1FE9}"/>
              </a:ext>
            </a:extLst>
          </p:cNvPr>
          <p:cNvSpPr/>
          <p:nvPr/>
        </p:nvSpPr>
        <p:spPr>
          <a:xfrm>
            <a:off x="7747000" y="-889000"/>
            <a:ext cx="4953000" cy="3302000"/>
          </a:xfrm>
          <a:prstGeom prst="rect">
            <a:avLst/>
          </a:prstGeom>
          <a:solidFill>
            <a:srgbClr val="25A1A9"/>
          </a:solidFill>
          <a:ln w="12700">
            <a:solidFill>
              <a:srgbClr val="25A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5ACB87-73F7-27D5-00D4-37B7FE07A972}"/>
              </a:ext>
            </a:extLst>
          </p:cNvPr>
          <p:cNvSpPr/>
          <p:nvPr/>
        </p:nvSpPr>
        <p:spPr>
          <a:xfrm>
            <a:off x="-1016000" y="4762500"/>
            <a:ext cx="4318000" cy="2667000"/>
          </a:xfrm>
          <a:prstGeom prst="rect">
            <a:avLst/>
          </a:prstGeom>
          <a:solidFill>
            <a:srgbClr val="7E44EB"/>
          </a:solidFill>
          <a:ln w="12700">
            <a:solidFill>
              <a:srgbClr val="7E4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E2FF0-E29F-C404-E616-C03A3B57E2B5}"/>
              </a:ext>
            </a:extLst>
          </p:cNvPr>
          <p:cNvSpPr txBox="1"/>
          <p:nvPr/>
        </p:nvSpPr>
        <p:spPr>
          <a:xfrm>
            <a:off x="736600" y="6096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00" b="1">
                <a:solidFill>
                  <a:srgbClr val="4DD6E1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FC157-F202-61C7-F45E-06FF0D29211E}"/>
              </a:ext>
            </a:extLst>
          </p:cNvPr>
          <p:cNvSpPr txBox="1"/>
          <p:nvPr/>
        </p:nvSpPr>
        <p:spPr>
          <a:xfrm>
            <a:off x="736600" y="1333500"/>
            <a:ext cx="5461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5200" b="1">
                <a:solidFill>
                  <a:srgbClr val="FFFFFF"/>
                </a:solidFill>
                <a:latin typeface="Aptos" panose="020B0004020202020204" pitchFamily="34" charset="0"/>
              </a:rPr>
              <a:t>SwipeMate</a:t>
            </a:r>
            <a:endParaRPr lang="bg-BG" sz="5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C8FE5-A37D-596C-E71C-BE12037DEB7D}"/>
              </a:ext>
            </a:extLst>
          </p:cNvPr>
          <p:cNvSpPr txBox="1"/>
          <p:nvPr/>
        </p:nvSpPr>
        <p:spPr>
          <a:xfrm>
            <a:off x="787400" y="2336800"/>
            <a:ext cx="73025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2000">
                <a:solidFill>
                  <a:srgbClr val="D8F5F8"/>
                </a:solidFill>
                <a:latin typeface="Aptos" panose="020B0004020202020204" pitchFamily="34" charset="0"/>
              </a:rPr>
              <a:t>Мобилно приложение за колективно вземане на решения чрез swipe-базиран интерфейс</a:t>
            </a:r>
            <a:endParaRPr lang="bg-BG" sz="2000">
              <a:solidFill>
                <a:srgbClr val="D8F5F8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EF9F1F-B459-EC18-E571-2E3B605D1DE8}"/>
              </a:ext>
            </a:extLst>
          </p:cNvPr>
          <p:cNvCxnSpPr/>
          <p:nvPr/>
        </p:nvCxnSpPr>
        <p:spPr>
          <a:xfrm>
            <a:off x="787400" y="3403600"/>
            <a:ext cx="4165600" cy="0"/>
          </a:xfrm>
          <a:prstGeom prst="line">
            <a:avLst/>
          </a:prstGeom>
          <a:ln w="25400">
            <a:solidFill>
              <a:srgbClr val="4DD6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A15E04-4D49-43EF-4936-6B5331A6E5B4}"/>
              </a:ext>
            </a:extLst>
          </p:cNvPr>
          <p:cNvSpPr txBox="1"/>
          <p:nvPr/>
        </p:nvSpPr>
        <p:spPr>
          <a:xfrm>
            <a:off x="787400" y="3759200"/>
            <a:ext cx="546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600">
                <a:solidFill>
                  <a:srgbClr val="FFFFFF"/>
                </a:solidFill>
                <a:latin typeface="Aptos" panose="020B0004020202020204" pitchFamily="34" charset="0"/>
              </a:rPr>
              <a:t>Изготвил: Ивайла Георгиева Филипова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63C34-99F7-F70E-4B6C-152BB46D86AF}"/>
              </a:ext>
            </a:extLst>
          </p:cNvPr>
          <p:cNvSpPr txBox="1"/>
          <p:nvPr/>
        </p:nvSpPr>
        <p:spPr>
          <a:xfrm>
            <a:off x="787400" y="4140200"/>
            <a:ext cx="495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>
                <a:solidFill>
                  <a:srgbClr val="D6E2E8"/>
                </a:solidFill>
                <a:latin typeface="Aptos" panose="020B0004020202020204" pitchFamily="34" charset="0"/>
              </a:rPr>
              <a:t>Ръководител: Деница Грозева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1D74A3-BCD1-6603-60BC-9867D3C723AE}"/>
              </a:ext>
            </a:extLst>
          </p:cNvPr>
          <p:cNvSpPr txBox="1"/>
          <p:nvPr/>
        </p:nvSpPr>
        <p:spPr>
          <a:xfrm>
            <a:off x="787400" y="4699000"/>
            <a:ext cx="571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>
                <a:solidFill>
                  <a:srgbClr val="D6E2E8"/>
                </a:solidFill>
                <a:latin typeface="Aptos" panose="020B0004020202020204" pitchFamily="34" charset="0"/>
              </a:rPr>
              <a:t>Професия: 481020 „Системен програмист“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3C1D48-B916-724E-760D-3C028B98A6D8}"/>
              </a:ext>
            </a:extLst>
          </p:cNvPr>
          <p:cNvSpPr txBox="1"/>
          <p:nvPr/>
        </p:nvSpPr>
        <p:spPr>
          <a:xfrm>
            <a:off x="787400" y="5003800"/>
            <a:ext cx="635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>
                <a:solidFill>
                  <a:srgbClr val="D6E2E8"/>
                </a:solidFill>
                <a:latin typeface="Aptos" panose="020B0004020202020204" pitchFamily="34" charset="0"/>
              </a:rPr>
              <a:t>Специалност: 4810201 „Системно програмиране“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8C4284-B897-0732-F8E9-9B1AA7855A61}"/>
              </a:ext>
            </a:extLst>
          </p:cNvPr>
          <p:cNvSpPr txBox="1"/>
          <p:nvPr/>
        </p:nvSpPr>
        <p:spPr>
          <a:xfrm>
            <a:off x="9969500" y="6019800"/>
            <a:ext cx="1333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00">
                <a:solidFill>
                  <a:srgbClr val="D6E2E8"/>
                </a:solidFill>
                <a:latin typeface="Aptos" panose="020B0004020202020204" pitchFamily="34" charset="0"/>
              </a:rPr>
              <a:t>2025 / 2026</a:t>
            </a:r>
          </a:p>
        </p:txBody>
      </p:sp>
    </p:spTree>
    <p:extLst>
      <p:ext uri="{BB962C8B-B14F-4D97-AF65-F5344CB8AC3E}">
        <p14:creationId xmlns:p14="http://schemas.microsoft.com/office/powerpoint/2010/main" val="136046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BB4B9C-89B6-C731-9E8C-A959CFA50F6E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СТРУКТУРА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EAB355-7536-6A80-837B-E4CBF8453A31}"/>
              </a:ext>
            </a:extLst>
          </p:cNvPr>
          <p:cNvSpPr txBox="1"/>
          <p:nvPr/>
        </p:nvSpPr>
        <p:spPr>
          <a:xfrm>
            <a:off x="685800" y="6985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3000" b="1">
                <a:solidFill>
                  <a:srgbClr val="111827"/>
                </a:solidFill>
                <a:latin typeface="Aptos" panose="020B0004020202020204" pitchFamily="34" charset="0"/>
              </a:rPr>
              <a:t>Съдържание на представянето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D4D4F-847D-C10B-64EE-306EB253191E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Четири части: идея, техническа реализация, демонстрация и резултати.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93369C-C094-9141-69FB-D0BA21B34B9E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7199E4-4F62-171B-9110-E28385800219}"/>
              </a:ext>
            </a:extLst>
          </p:cNvPr>
          <p:cNvSpPr/>
          <p:nvPr/>
        </p:nvSpPr>
        <p:spPr>
          <a:xfrm>
            <a:off x="889000" y="2133600"/>
            <a:ext cx="104140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D20581-D748-FAC5-8EF5-E2410CA86227}"/>
              </a:ext>
            </a:extLst>
          </p:cNvPr>
          <p:cNvSpPr txBox="1"/>
          <p:nvPr/>
        </p:nvSpPr>
        <p:spPr>
          <a:xfrm>
            <a:off x="1193800" y="2311400"/>
            <a:ext cx="571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25A1A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1D8E7C-A410-38C9-CCAB-3FDBC54493D7}"/>
              </a:ext>
            </a:extLst>
          </p:cNvPr>
          <p:cNvSpPr txBox="1"/>
          <p:nvPr/>
        </p:nvSpPr>
        <p:spPr>
          <a:xfrm>
            <a:off x="1955800" y="2286000"/>
            <a:ext cx="355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111827"/>
                </a:solidFill>
                <a:latin typeface="Aptos" panose="020B0004020202020204" pitchFamily="34" charset="0"/>
              </a:rPr>
              <a:t>Идея и цели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53AC2-98F4-F1DA-1EF3-F2ADEE576186}"/>
              </a:ext>
            </a:extLst>
          </p:cNvPr>
          <p:cNvSpPr txBox="1"/>
          <p:nvPr/>
        </p:nvSpPr>
        <p:spPr>
          <a:xfrm>
            <a:off x="1955800" y="2603500"/>
            <a:ext cx="819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Проблемът, който приложението решава; основни функционалности и обхват.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817BF7-C012-6EFD-65EC-2ED13235DB09}"/>
              </a:ext>
            </a:extLst>
          </p:cNvPr>
          <p:cNvSpPr/>
          <p:nvPr/>
        </p:nvSpPr>
        <p:spPr>
          <a:xfrm>
            <a:off x="889000" y="3098800"/>
            <a:ext cx="104140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16666-8D9B-3ABD-EB05-996AD18AAFB4}"/>
              </a:ext>
            </a:extLst>
          </p:cNvPr>
          <p:cNvSpPr txBox="1"/>
          <p:nvPr/>
        </p:nvSpPr>
        <p:spPr>
          <a:xfrm>
            <a:off x="1193800" y="3276600"/>
            <a:ext cx="571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25A1A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F28E56-2767-E483-D0CB-43CD79DFF772}"/>
              </a:ext>
            </a:extLst>
          </p:cNvPr>
          <p:cNvSpPr txBox="1"/>
          <p:nvPr/>
        </p:nvSpPr>
        <p:spPr>
          <a:xfrm>
            <a:off x="1955800" y="3251200"/>
            <a:ext cx="355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111827"/>
                </a:solidFill>
                <a:latin typeface="Aptos" panose="020B0004020202020204" pitchFamily="34" charset="0"/>
              </a:rPr>
              <a:t>Техническа част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1C9BCC-F11E-1EA9-31A8-21B3446964CB}"/>
              </a:ext>
            </a:extLst>
          </p:cNvPr>
          <p:cNvSpPr txBox="1"/>
          <p:nvPr/>
        </p:nvSpPr>
        <p:spPr>
          <a:xfrm>
            <a:off x="1955800" y="3568700"/>
            <a:ext cx="819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Технологии, архитектура, база данни, сигурност и хостинг.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9305D39-9BD5-0340-C39D-542EE2A8DA2B}"/>
              </a:ext>
            </a:extLst>
          </p:cNvPr>
          <p:cNvSpPr/>
          <p:nvPr/>
        </p:nvSpPr>
        <p:spPr>
          <a:xfrm>
            <a:off x="889000" y="4064000"/>
            <a:ext cx="104140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2950F3-7515-01D4-F488-7B0CB256FC67}"/>
              </a:ext>
            </a:extLst>
          </p:cNvPr>
          <p:cNvSpPr txBox="1"/>
          <p:nvPr/>
        </p:nvSpPr>
        <p:spPr>
          <a:xfrm>
            <a:off x="1193800" y="4241800"/>
            <a:ext cx="571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25A1A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189BC8-6FE3-18DF-FF9B-6BB31246111A}"/>
              </a:ext>
            </a:extLst>
          </p:cNvPr>
          <p:cNvSpPr txBox="1"/>
          <p:nvPr/>
        </p:nvSpPr>
        <p:spPr>
          <a:xfrm>
            <a:off x="1955800" y="4216400"/>
            <a:ext cx="355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111827"/>
                </a:solidFill>
                <a:latin typeface="Aptos" panose="020B0004020202020204" pitchFamily="34" charset="0"/>
              </a:rPr>
              <a:t>Реализация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F1CA1-8973-743A-226D-836AC8592230}"/>
              </a:ext>
            </a:extLst>
          </p:cNvPr>
          <p:cNvSpPr txBox="1"/>
          <p:nvPr/>
        </p:nvSpPr>
        <p:spPr>
          <a:xfrm>
            <a:off x="1955800" y="4533900"/>
            <a:ext cx="819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Екрани, потребителски поток, филтри, сесии, match логика и профил.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B5F80B-906D-2C43-1A50-155EB32F3250}"/>
              </a:ext>
            </a:extLst>
          </p:cNvPr>
          <p:cNvSpPr/>
          <p:nvPr/>
        </p:nvSpPr>
        <p:spPr>
          <a:xfrm>
            <a:off x="889000" y="5029200"/>
            <a:ext cx="104140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3E3DDA-82CC-5C72-88A9-64144B81D56C}"/>
              </a:ext>
            </a:extLst>
          </p:cNvPr>
          <p:cNvSpPr txBox="1"/>
          <p:nvPr/>
        </p:nvSpPr>
        <p:spPr>
          <a:xfrm>
            <a:off x="1193800" y="5207000"/>
            <a:ext cx="571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25A1A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2CDFB7-A2B9-729A-5BAD-9E2C9F1BB36E}"/>
              </a:ext>
            </a:extLst>
          </p:cNvPr>
          <p:cNvSpPr txBox="1"/>
          <p:nvPr/>
        </p:nvSpPr>
        <p:spPr>
          <a:xfrm>
            <a:off x="1955800" y="5181600"/>
            <a:ext cx="355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111827"/>
                </a:solidFill>
                <a:latin typeface="Aptos" panose="020B0004020202020204" pitchFamily="34" charset="0"/>
              </a:rPr>
              <a:t>Резултати и развитие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B7A08E-3EF2-80A2-7D98-227A9BD0AC24}"/>
              </a:ext>
            </a:extLst>
          </p:cNvPr>
          <p:cNvSpPr txBox="1"/>
          <p:nvPr/>
        </p:nvSpPr>
        <p:spPr>
          <a:xfrm>
            <a:off x="1955800" y="5499100"/>
            <a:ext cx="819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Постигнатото, ограниченията и следващи стъпки след дипломния проект.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1E5B94-B219-3733-76EB-1B0438CCA0C7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ECD572-0895-0A67-6861-73364EA64B33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4" name="Rectangle 23">
            <a:hlinkClick r:id="" action="ppaction://noaction"/>
            <a:extLst>
              <a:ext uri="{FF2B5EF4-FFF2-40B4-BE49-F238E27FC236}">
                <a16:creationId xmlns:a16="http://schemas.microsoft.com/office/drawing/2014/main" id="{40343CAA-C08E-E3F1-2C69-AF821434C779}"/>
              </a:ext>
            </a:extLst>
          </p:cNvPr>
          <p:cNvSpPr/>
          <p:nvPr/>
        </p:nvSpPr>
        <p:spPr>
          <a:xfrm>
            <a:off x="889000" y="2133600"/>
            <a:ext cx="10414000" cy="8128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Rectangle 24">
            <a:hlinkClick r:id="" action="ppaction://noaction"/>
            <a:extLst>
              <a:ext uri="{FF2B5EF4-FFF2-40B4-BE49-F238E27FC236}">
                <a16:creationId xmlns:a16="http://schemas.microsoft.com/office/drawing/2014/main" id="{82947E3A-049E-570C-26BF-6E29DEAF70E7}"/>
              </a:ext>
            </a:extLst>
          </p:cNvPr>
          <p:cNvSpPr/>
          <p:nvPr/>
        </p:nvSpPr>
        <p:spPr>
          <a:xfrm>
            <a:off x="889000" y="3098800"/>
            <a:ext cx="10414000" cy="8128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Rectangle 25">
            <a:hlinkClick r:id="" action="ppaction://noaction"/>
            <a:extLst>
              <a:ext uri="{FF2B5EF4-FFF2-40B4-BE49-F238E27FC236}">
                <a16:creationId xmlns:a16="http://schemas.microsoft.com/office/drawing/2014/main" id="{EC8489A0-8D3D-A248-5926-B16AD0118256}"/>
              </a:ext>
            </a:extLst>
          </p:cNvPr>
          <p:cNvSpPr/>
          <p:nvPr/>
        </p:nvSpPr>
        <p:spPr>
          <a:xfrm>
            <a:off x="889000" y="4064000"/>
            <a:ext cx="10414000" cy="8128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Rectangle 26">
            <a:hlinkClick r:id="" action="ppaction://noaction"/>
            <a:extLst>
              <a:ext uri="{FF2B5EF4-FFF2-40B4-BE49-F238E27FC236}">
                <a16:creationId xmlns:a16="http://schemas.microsoft.com/office/drawing/2014/main" id="{369DC2C0-238A-2C31-FED3-18D6887DCBAF}"/>
              </a:ext>
            </a:extLst>
          </p:cNvPr>
          <p:cNvSpPr/>
          <p:nvPr/>
        </p:nvSpPr>
        <p:spPr>
          <a:xfrm>
            <a:off x="889000" y="5029200"/>
            <a:ext cx="10414000" cy="8128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288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D243A0-2562-B1F8-9470-00A90E4C71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DB916D-1CAD-B58E-7E23-DD7E3A835E5F}"/>
              </a:ext>
            </a:extLst>
          </p:cNvPr>
          <p:cNvSpPr/>
          <p:nvPr/>
        </p:nvSpPr>
        <p:spPr>
          <a:xfrm>
            <a:off x="8509000" y="-889000"/>
            <a:ext cx="4572000" cy="3302000"/>
          </a:xfrm>
          <a:prstGeom prst="rect">
            <a:avLst/>
          </a:prstGeom>
          <a:solidFill>
            <a:srgbClr val="25A1A9"/>
          </a:solidFill>
          <a:ln w="12700">
            <a:solidFill>
              <a:srgbClr val="25A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0212CB-BAFB-1DB2-792C-11317194A0D9}"/>
              </a:ext>
            </a:extLst>
          </p:cNvPr>
          <p:cNvSpPr/>
          <p:nvPr/>
        </p:nvSpPr>
        <p:spPr>
          <a:xfrm>
            <a:off x="9461500" y="4572000"/>
            <a:ext cx="3302000" cy="2794000"/>
          </a:xfrm>
          <a:prstGeom prst="rect">
            <a:avLst/>
          </a:prstGeom>
          <a:solidFill>
            <a:srgbClr val="CF2BCE"/>
          </a:solidFill>
          <a:ln w="12700">
            <a:solidFill>
              <a:srgbClr val="CF2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F2521-9B4C-9F82-FF32-E6541615AA92}"/>
              </a:ext>
            </a:extLst>
          </p:cNvPr>
          <p:cNvSpPr txBox="1"/>
          <p:nvPr/>
        </p:nvSpPr>
        <p:spPr>
          <a:xfrm>
            <a:off x="787400" y="1498600"/>
            <a:ext cx="2286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7200" b="1">
                <a:solidFill>
                  <a:srgbClr val="4DD6E1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533BC-00F5-36B1-80EC-B4B9130BF10A}"/>
              </a:ext>
            </a:extLst>
          </p:cNvPr>
          <p:cNvSpPr txBox="1"/>
          <p:nvPr/>
        </p:nvSpPr>
        <p:spPr>
          <a:xfrm>
            <a:off x="787400" y="2603500"/>
            <a:ext cx="9398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4200" b="1">
                <a:solidFill>
                  <a:srgbClr val="FFFFFF"/>
                </a:solidFill>
                <a:latin typeface="Aptos" panose="020B0004020202020204" pitchFamily="34" charset="0"/>
              </a:rPr>
              <a:t>Идея и цели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CDBCA-116E-1116-0554-37CAC7C4E957}"/>
              </a:ext>
            </a:extLst>
          </p:cNvPr>
          <p:cNvSpPr txBox="1"/>
          <p:nvPr/>
        </p:nvSpPr>
        <p:spPr>
          <a:xfrm>
            <a:off x="838200" y="36322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>
                <a:solidFill>
                  <a:srgbClr val="CAF2F7"/>
                </a:solidFill>
                <a:latin typeface="Aptos" panose="020B0004020202020204" pitchFamily="34" charset="0"/>
              </a:rPr>
              <a:t>Какъв проблем решава SwipeMate и какъв е обхватът на системата.</a:t>
            </a:r>
            <a:endParaRPr lang="bg-BG">
              <a:solidFill>
                <a:srgbClr val="CAF2F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05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93C41-4C21-92B8-50A2-B28ECE836FBE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ИДЕЯ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2B24F7-A7F9-2A2A-9543-6FA3C216E6D7}"/>
              </a:ext>
            </a:extLst>
          </p:cNvPr>
          <p:cNvSpPr txBox="1"/>
          <p:nvPr/>
        </p:nvSpPr>
        <p:spPr>
          <a:xfrm>
            <a:off x="685800" y="6985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 b="1">
                <a:solidFill>
                  <a:srgbClr val="111827"/>
                </a:solidFill>
                <a:latin typeface="Aptos" panose="020B0004020202020204" pitchFamily="34" charset="0"/>
              </a:rPr>
              <a:t>SwipeMate </a:t>
            </a:r>
            <a:r>
              <a:rPr lang="bg-BG" sz="3000" b="1">
                <a:solidFill>
                  <a:srgbClr val="111827"/>
                </a:solidFill>
                <a:latin typeface="Aptos" panose="020B0004020202020204" pitchFamily="34" charset="0"/>
              </a:rPr>
              <a:t>структурира груповия избор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7F3FE-A28C-C32A-42F2-8D995A91E08C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Приложението заменя хаотичните чатове с ясен процес: приятели, филтри, предложения и общо съвпадение.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865F86-1FC0-081A-A65D-3FE0BEE52874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023657-B4F4-EFD3-57FF-73B0553D9B71}"/>
              </a:ext>
            </a:extLst>
          </p:cNvPr>
          <p:cNvSpPr/>
          <p:nvPr/>
        </p:nvSpPr>
        <p:spPr>
          <a:xfrm>
            <a:off x="889000" y="20955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1F3EF-76E0-52FF-D9C3-B7BCEB6B1A98}"/>
              </a:ext>
            </a:extLst>
          </p:cNvPr>
          <p:cNvSpPr txBox="1"/>
          <p:nvPr/>
        </p:nvSpPr>
        <p:spPr>
          <a:xfrm>
            <a:off x="1193800" y="24130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Проблем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F275-D850-4F51-98C5-201949FF39AA}"/>
              </a:ext>
            </a:extLst>
          </p:cNvPr>
          <p:cNvSpPr txBox="1"/>
          <p:nvPr/>
        </p:nvSpPr>
        <p:spPr>
          <a:xfrm>
            <a:off x="1206500" y="2921000"/>
            <a:ext cx="2413000" cy="175432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Групите често губят време в избор на филм, ресторант, рецепта или игра.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Предпочитанията са различни и трудно се събират на едно място.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Решението трябва да работи бързо от телефон.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A7EDDB-9FB0-C11C-1F41-416634859E85}"/>
              </a:ext>
            </a:extLst>
          </p:cNvPr>
          <p:cNvSpPr/>
          <p:nvPr/>
        </p:nvSpPr>
        <p:spPr>
          <a:xfrm>
            <a:off x="4508500" y="2095500"/>
            <a:ext cx="3175000" cy="2794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C2902E-D674-C2D7-E665-7B38B79B768E}"/>
              </a:ext>
            </a:extLst>
          </p:cNvPr>
          <p:cNvSpPr txBox="1"/>
          <p:nvPr/>
        </p:nvSpPr>
        <p:spPr>
          <a:xfrm>
            <a:off x="4813300" y="24130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Решение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E4249-43B8-4DC2-56DC-F530B7AAD331}"/>
              </a:ext>
            </a:extLst>
          </p:cNvPr>
          <p:cNvSpPr txBox="1"/>
          <p:nvPr/>
        </p:nvSpPr>
        <p:spPr>
          <a:xfrm>
            <a:off x="4826000" y="2921000"/>
            <a:ext cx="2413000" cy="135421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Всеки участник задава свои филтри.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Системата обединява предпочитанията.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Общият match се записва в историята.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67E6C4-A666-5C45-8A7D-C16E786802E2}"/>
              </a:ext>
            </a:extLst>
          </p:cNvPr>
          <p:cNvSpPr/>
          <p:nvPr/>
        </p:nvSpPr>
        <p:spPr>
          <a:xfrm>
            <a:off x="8128000" y="2095500"/>
            <a:ext cx="3175000" cy="2794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B85F7-8539-1753-74AE-C35161644348}"/>
              </a:ext>
            </a:extLst>
          </p:cNvPr>
          <p:cNvSpPr txBox="1"/>
          <p:nvPr/>
        </p:nvSpPr>
        <p:spPr>
          <a:xfrm>
            <a:off x="8432800" y="24130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Целева среда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BC4363-E43D-885C-FC62-14C627ED8D93}"/>
              </a:ext>
            </a:extLst>
          </p:cNvPr>
          <p:cNvSpPr txBox="1"/>
          <p:nvPr/>
        </p:nvSpPr>
        <p:spPr>
          <a:xfrm>
            <a:off x="8445500" y="2921000"/>
            <a:ext cx="2413000" cy="135421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Мобилен frontend + backend API.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Cloud база данни за тест с няколко акаунта.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Разширяемо към повече категории.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AF5920-E745-8049-CBE3-DF01937C97A4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CE0327-F933-A9C0-0326-574B00E17B5A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412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731CDB-904A-BEDA-23DD-E180B10ABF82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ОБХВАТ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75692-4440-C66B-FE77-463F432C057B}"/>
              </a:ext>
            </a:extLst>
          </p:cNvPr>
          <p:cNvSpPr txBox="1"/>
          <p:nvPr/>
        </p:nvSpPr>
        <p:spPr>
          <a:xfrm>
            <a:off x="685800" y="698500"/>
            <a:ext cx="965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Основните цели са реализирани като завършен потребителски поток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39DF6-0504-1EB2-3F71-604810CAA566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Функционалностите покриват регистрация, социален слой, групова сесия, филтриране, гласуване и администрация.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5286D6-38DA-1A15-33AC-3B4FF20921B7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8EF70C-A29F-71F8-0D41-F47E16E074CB}"/>
              </a:ext>
            </a:extLst>
          </p:cNvPr>
          <p:cNvSpPr/>
          <p:nvPr/>
        </p:nvSpPr>
        <p:spPr>
          <a:xfrm>
            <a:off x="990600" y="2006600"/>
            <a:ext cx="10223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18DF9-AF46-8FCC-5A39-647E5C3530B7}"/>
              </a:ext>
            </a:extLst>
          </p:cNvPr>
          <p:cNvSpPr txBox="1"/>
          <p:nvPr/>
        </p:nvSpPr>
        <p:spPr>
          <a:xfrm>
            <a:off x="1219200" y="2184400"/>
            <a:ext cx="304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700" b="1">
                <a:solidFill>
                  <a:srgbClr val="25A1A9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7D719-20D6-8A43-5AEC-60FC56B952B5}"/>
              </a:ext>
            </a:extLst>
          </p:cNvPr>
          <p:cNvSpPr txBox="1"/>
          <p:nvPr/>
        </p:nvSpPr>
        <p:spPr>
          <a:xfrm>
            <a:off x="1752600" y="2133600"/>
            <a:ext cx="266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 b="1">
                <a:solidFill>
                  <a:srgbClr val="111827"/>
                </a:solidFill>
                <a:latin typeface="Aptos" panose="020B0004020202020204" pitchFamily="34" charset="0"/>
              </a:rPr>
              <a:t>Регистрация и вход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08139-D577-BB76-916D-661B59F2BB30}"/>
              </a:ext>
            </a:extLst>
          </p:cNvPr>
          <p:cNvSpPr txBox="1"/>
          <p:nvPr/>
        </p:nvSpPr>
        <p:spPr>
          <a:xfrm>
            <a:off x="1752600" y="24003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акаунт, валидиране, JWT вход и запомняне на сесията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E2B8A7-9AE3-BABB-3404-AAD6A96B393E}"/>
              </a:ext>
            </a:extLst>
          </p:cNvPr>
          <p:cNvSpPr/>
          <p:nvPr/>
        </p:nvSpPr>
        <p:spPr>
          <a:xfrm>
            <a:off x="990600" y="2794000"/>
            <a:ext cx="10223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C8374D-09AB-179F-8159-CF05E8BD8F6B}"/>
              </a:ext>
            </a:extLst>
          </p:cNvPr>
          <p:cNvSpPr txBox="1"/>
          <p:nvPr/>
        </p:nvSpPr>
        <p:spPr>
          <a:xfrm>
            <a:off x="1219200" y="2971800"/>
            <a:ext cx="304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700" b="1">
                <a:solidFill>
                  <a:srgbClr val="25A1A9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D8618D-CC9C-93EC-1083-BA106377EEC9}"/>
              </a:ext>
            </a:extLst>
          </p:cNvPr>
          <p:cNvSpPr txBox="1"/>
          <p:nvPr/>
        </p:nvSpPr>
        <p:spPr>
          <a:xfrm>
            <a:off x="1752600" y="2921000"/>
            <a:ext cx="266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 b="1">
                <a:solidFill>
                  <a:srgbClr val="111827"/>
                </a:solidFill>
                <a:latin typeface="Aptos" panose="020B0004020202020204" pitchFamily="34" charset="0"/>
              </a:rPr>
              <a:t>Приятели и покани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BDED2F-E4FA-5A3C-1558-ED4E2A54B2DA}"/>
              </a:ext>
            </a:extLst>
          </p:cNvPr>
          <p:cNvSpPr txBox="1"/>
          <p:nvPr/>
        </p:nvSpPr>
        <p:spPr>
          <a:xfrm>
            <a:off x="1752600" y="31877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търсене на потребители, заявки и покани за сесия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8AB931-9549-D071-080D-0DCD933499AE}"/>
              </a:ext>
            </a:extLst>
          </p:cNvPr>
          <p:cNvSpPr/>
          <p:nvPr/>
        </p:nvSpPr>
        <p:spPr>
          <a:xfrm>
            <a:off x="990600" y="3581400"/>
            <a:ext cx="10223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32F8DA-A4CE-7F68-8C93-E4E97A22338C}"/>
              </a:ext>
            </a:extLst>
          </p:cNvPr>
          <p:cNvSpPr txBox="1"/>
          <p:nvPr/>
        </p:nvSpPr>
        <p:spPr>
          <a:xfrm>
            <a:off x="1219200" y="3759200"/>
            <a:ext cx="304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700" b="1">
                <a:solidFill>
                  <a:srgbClr val="25A1A9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566576-A357-D49B-A989-8AD268805179}"/>
              </a:ext>
            </a:extLst>
          </p:cNvPr>
          <p:cNvSpPr txBox="1"/>
          <p:nvPr/>
        </p:nvSpPr>
        <p:spPr>
          <a:xfrm>
            <a:off x="1752600" y="3708400"/>
            <a:ext cx="266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 b="1">
                <a:solidFill>
                  <a:srgbClr val="111827"/>
                </a:solidFill>
                <a:latin typeface="Aptos" panose="020B0004020202020204" pitchFamily="34" charset="0"/>
              </a:rPr>
              <a:t>Групов избор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C941CD-969C-3292-D642-300A4C251DFE}"/>
              </a:ext>
            </a:extLst>
          </p:cNvPr>
          <p:cNvSpPr txBox="1"/>
          <p:nvPr/>
        </p:nvSpPr>
        <p:spPr>
          <a:xfrm>
            <a:off x="1752600" y="39751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категории, индивидуални филтри, swipe гласуване и match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05F309-FE35-0BB3-00BC-344EB9B8F466}"/>
              </a:ext>
            </a:extLst>
          </p:cNvPr>
          <p:cNvSpPr/>
          <p:nvPr/>
        </p:nvSpPr>
        <p:spPr>
          <a:xfrm>
            <a:off x="990600" y="4368800"/>
            <a:ext cx="10223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E1064F-73A6-747B-D523-905D004B60F0}"/>
              </a:ext>
            </a:extLst>
          </p:cNvPr>
          <p:cNvSpPr txBox="1"/>
          <p:nvPr/>
        </p:nvSpPr>
        <p:spPr>
          <a:xfrm>
            <a:off x="1219200" y="4546600"/>
            <a:ext cx="304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700" b="1">
                <a:solidFill>
                  <a:srgbClr val="25A1A9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CCF882-3239-ABDB-A86F-2F6598D9C144}"/>
              </a:ext>
            </a:extLst>
          </p:cNvPr>
          <p:cNvSpPr txBox="1"/>
          <p:nvPr/>
        </p:nvSpPr>
        <p:spPr>
          <a:xfrm>
            <a:off x="1752600" y="4495800"/>
            <a:ext cx="266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 b="1">
                <a:solidFill>
                  <a:srgbClr val="111827"/>
                </a:solidFill>
                <a:latin typeface="Aptos" panose="020B0004020202020204" pitchFamily="34" charset="0"/>
              </a:rPr>
              <a:t>История и профил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B72F77-D656-8871-AA55-E940DD249168}"/>
              </a:ext>
            </a:extLst>
          </p:cNvPr>
          <p:cNvSpPr txBox="1"/>
          <p:nvPr/>
        </p:nvSpPr>
        <p:spPr>
          <a:xfrm>
            <a:off x="1752600" y="47625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сесии, съвпадения, статистики, значки и редакция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310C5D1-2E2E-59DE-331C-D3949AC5B5CE}"/>
              </a:ext>
            </a:extLst>
          </p:cNvPr>
          <p:cNvSpPr/>
          <p:nvPr/>
        </p:nvSpPr>
        <p:spPr>
          <a:xfrm>
            <a:off x="990600" y="5156200"/>
            <a:ext cx="10223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12042A-E3A0-1B99-8244-347CB740D336}"/>
              </a:ext>
            </a:extLst>
          </p:cNvPr>
          <p:cNvSpPr txBox="1"/>
          <p:nvPr/>
        </p:nvSpPr>
        <p:spPr>
          <a:xfrm>
            <a:off x="1219200" y="5334000"/>
            <a:ext cx="304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700" b="1">
                <a:solidFill>
                  <a:srgbClr val="25A1A9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B887F-30FF-3FDA-22C8-C5FB3DD2A630}"/>
              </a:ext>
            </a:extLst>
          </p:cNvPr>
          <p:cNvSpPr txBox="1"/>
          <p:nvPr/>
        </p:nvSpPr>
        <p:spPr>
          <a:xfrm>
            <a:off x="1752600" y="5283200"/>
            <a:ext cx="266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 b="1">
                <a:solidFill>
                  <a:srgbClr val="111827"/>
                </a:solidFill>
                <a:latin typeface="Aptos" panose="020B0004020202020204" pitchFamily="34" charset="0"/>
              </a:rPr>
              <a:t>Администрация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11A31C-E844-232B-0332-C7BE983DAF04}"/>
              </a:ext>
            </a:extLst>
          </p:cNvPr>
          <p:cNvSpPr txBox="1"/>
          <p:nvPr/>
        </p:nvSpPr>
        <p:spPr>
          <a:xfrm>
            <a:off x="1752600" y="55499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>
                <a:solidFill>
                  <a:srgbClr val="64748B"/>
                </a:solidFill>
                <a:latin typeface="Aptos" panose="020B0004020202020204" pitchFamily="34" charset="0"/>
              </a:rPr>
              <a:t>потребители, блокиране и каталог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CE0823-13E5-70A7-9C35-C7614CA13A46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E5EAE5-DF8A-C470-86F0-8706915AA3D6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5396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00C0C4-A434-696C-3FD6-70787077E8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4202-1DBB-BCFF-79CA-2C463FE548E3}"/>
              </a:ext>
            </a:extLst>
          </p:cNvPr>
          <p:cNvSpPr/>
          <p:nvPr/>
        </p:nvSpPr>
        <p:spPr>
          <a:xfrm>
            <a:off x="8509000" y="-889000"/>
            <a:ext cx="4572000" cy="3302000"/>
          </a:xfrm>
          <a:prstGeom prst="rect">
            <a:avLst/>
          </a:prstGeom>
          <a:solidFill>
            <a:srgbClr val="25A1A9"/>
          </a:solidFill>
          <a:ln w="12700">
            <a:solidFill>
              <a:srgbClr val="25A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6DD589-DA52-8C16-8DAC-59445FF418D8}"/>
              </a:ext>
            </a:extLst>
          </p:cNvPr>
          <p:cNvSpPr/>
          <p:nvPr/>
        </p:nvSpPr>
        <p:spPr>
          <a:xfrm>
            <a:off x="9461500" y="4572000"/>
            <a:ext cx="3302000" cy="2794000"/>
          </a:xfrm>
          <a:prstGeom prst="rect">
            <a:avLst/>
          </a:prstGeom>
          <a:solidFill>
            <a:srgbClr val="CF2BCE"/>
          </a:solidFill>
          <a:ln w="12700">
            <a:solidFill>
              <a:srgbClr val="CF2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59E08-3138-925C-62F0-262D314DA3CC}"/>
              </a:ext>
            </a:extLst>
          </p:cNvPr>
          <p:cNvSpPr txBox="1"/>
          <p:nvPr/>
        </p:nvSpPr>
        <p:spPr>
          <a:xfrm>
            <a:off x="787400" y="1498600"/>
            <a:ext cx="2286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7200" b="1">
                <a:solidFill>
                  <a:srgbClr val="4DD6E1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FB7B8-08C4-E7A3-959A-D65491262037}"/>
              </a:ext>
            </a:extLst>
          </p:cNvPr>
          <p:cNvSpPr txBox="1"/>
          <p:nvPr/>
        </p:nvSpPr>
        <p:spPr>
          <a:xfrm>
            <a:off x="787400" y="2603500"/>
            <a:ext cx="9398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4200" b="1">
                <a:solidFill>
                  <a:srgbClr val="FFFFFF"/>
                </a:solidFill>
                <a:latin typeface="Aptos" panose="020B0004020202020204" pitchFamily="34" charset="0"/>
              </a:rPr>
              <a:t>Техническа част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A2A0D-02D9-5995-B132-B41986C881CE}"/>
              </a:ext>
            </a:extLst>
          </p:cNvPr>
          <p:cNvSpPr txBox="1"/>
          <p:nvPr/>
        </p:nvSpPr>
        <p:spPr>
          <a:xfrm>
            <a:off x="838200" y="36322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>
                <a:solidFill>
                  <a:srgbClr val="CAF2F7"/>
                </a:solidFill>
                <a:latin typeface="Aptos" panose="020B0004020202020204" pitchFamily="34" charset="0"/>
              </a:rPr>
              <a:t>Използвани технологии, база данни, архитектура и сигурност.</a:t>
            </a:r>
            <a:endParaRPr lang="bg-BG">
              <a:solidFill>
                <a:srgbClr val="CAF2F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18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872091-8CAD-292C-92C1-9BE195FBA8C5}"/>
              </a:ext>
            </a:extLst>
          </p:cNvPr>
          <p:cNvSpPr txBox="1"/>
          <p:nvPr/>
        </p:nvSpPr>
        <p:spPr>
          <a:xfrm>
            <a:off x="685800" y="4318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4DD6E1"/>
                </a:solidFill>
                <a:latin typeface="Aptos" panose="020B0004020202020204" pitchFamily="34" charset="0"/>
              </a:rPr>
              <a:t>ТЕХНОЛОГИИ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83954-BA9F-DACE-FAEB-06B974D06707}"/>
              </a:ext>
            </a:extLst>
          </p:cNvPr>
          <p:cNvSpPr txBox="1"/>
          <p:nvPr/>
        </p:nvSpPr>
        <p:spPr>
          <a:xfrm>
            <a:off x="685800" y="787400"/>
            <a:ext cx="584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3400" b="1">
                <a:solidFill>
                  <a:srgbClr val="FFFFFF"/>
                </a:solidFill>
                <a:latin typeface="Aptos" panose="020B0004020202020204" pitchFamily="34" charset="0"/>
              </a:rPr>
              <a:t>Използвани технологии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E6ADF-FD8E-BAA0-AFCA-548BF8687A90}"/>
              </a:ext>
            </a:extLst>
          </p:cNvPr>
          <p:cNvSpPr txBox="1"/>
          <p:nvPr/>
        </p:nvSpPr>
        <p:spPr>
          <a:xfrm>
            <a:off x="711200" y="1422400"/>
            <a:ext cx="889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500">
                <a:solidFill>
                  <a:srgbClr val="D6E2E8"/>
                </a:solidFill>
                <a:latin typeface="Aptos" panose="020B0004020202020204" pitchFamily="34" charset="0"/>
              </a:rPr>
              <a:t>Изборът е насочен към една обща .NET среда, релационна база и лесно публикуване на backend услугата.</a:t>
            </a:r>
            <a:endParaRPr lang="bg-BG" sz="1500">
              <a:solidFill>
                <a:srgbClr val="D6E2E8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014146-6713-9779-26EA-644D22595AE0}"/>
              </a:ext>
            </a:extLst>
          </p:cNvPr>
          <p:cNvSpPr/>
          <p:nvPr/>
        </p:nvSpPr>
        <p:spPr>
          <a:xfrm>
            <a:off x="838200" y="2286000"/>
            <a:ext cx="1905000" cy="889000"/>
          </a:xfrm>
          <a:prstGeom prst="roundRect">
            <a:avLst/>
          </a:prstGeom>
          <a:solidFill>
            <a:srgbClr val="7E44EB"/>
          </a:solidFill>
          <a:ln w="12700">
            <a:solidFill>
              <a:srgbClr val="7E44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265A9-4028-E877-4698-5FF8665DD325}"/>
              </a:ext>
            </a:extLst>
          </p:cNvPr>
          <p:cNvSpPr txBox="1"/>
          <p:nvPr/>
        </p:nvSpPr>
        <p:spPr>
          <a:xfrm>
            <a:off x="1016000" y="2438400"/>
            <a:ext cx="1574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.NET MAUI</a:t>
            </a:r>
            <a:endParaRPr lang="bg-BG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88BB9-5417-3139-BEA4-13B23FA99F4A}"/>
              </a:ext>
            </a:extLst>
          </p:cNvPr>
          <p:cNvSpPr txBox="1"/>
          <p:nvPr/>
        </p:nvSpPr>
        <p:spPr>
          <a:xfrm>
            <a:off x="1016000" y="2819400"/>
            <a:ext cx="1549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Aptos" panose="020B0004020202020204" pitchFamily="34" charset="0"/>
              </a:rPr>
              <a:t>mobile frontend</a:t>
            </a:r>
            <a:endParaRPr lang="bg-BG" sz="9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288707-2A4D-2865-2FE0-40BE38779480}"/>
              </a:ext>
            </a:extLst>
          </p:cNvPr>
          <p:cNvSpPr/>
          <p:nvPr/>
        </p:nvSpPr>
        <p:spPr>
          <a:xfrm>
            <a:off x="2997200" y="2286000"/>
            <a:ext cx="1905000" cy="889000"/>
          </a:xfrm>
          <a:prstGeom prst="roundRect">
            <a:avLst/>
          </a:prstGeom>
          <a:solidFill>
            <a:srgbClr val="3182CE"/>
          </a:solidFill>
          <a:ln w="12700">
            <a:solidFill>
              <a:srgbClr val="3182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AA1C1-7D41-4F0B-AB8A-B830B8F21146}"/>
              </a:ext>
            </a:extLst>
          </p:cNvPr>
          <p:cNvSpPr txBox="1"/>
          <p:nvPr/>
        </p:nvSpPr>
        <p:spPr>
          <a:xfrm>
            <a:off x="3175000" y="2438400"/>
            <a:ext cx="1574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C# / .NET 9</a:t>
            </a:r>
            <a:endParaRPr lang="bg-BG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A35EA-65BD-CF10-F40F-B6C9A26E2252}"/>
              </a:ext>
            </a:extLst>
          </p:cNvPr>
          <p:cNvSpPr txBox="1"/>
          <p:nvPr/>
        </p:nvSpPr>
        <p:spPr>
          <a:xfrm>
            <a:off x="3175000" y="2819400"/>
            <a:ext cx="1549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FFFFFF"/>
                </a:solidFill>
                <a:latin typeface="Aptos" panose="020B0004020202020204" pitchFamily="34" charset="0"/>
              </a:rPr>
              <a:t>обща платформа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FD4CE5-07E4-636A-2F4F-ADC0AE225F77}"/>
              </a:ext>
            </a:extLst>
          </p:cNvPr>
          <p:cNvSpPr/>
          <p:nvPr/>
        </p:nvSpPr>
        <p:spPr>
          <a:xfrm>
            <a:off x="5156200" y="2286000"/>
            <a:ext cx="1905000" cy="889000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34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8EB4BD-08D7-963E-8723-301AC4545297}"/>
              </a:ext>
            </a:extLst>
          </p:cNvPr>
          <p:cNvSpPr txBox="1"/>
          <p:nvPr/>
        </p:nvSpPr>
        <p:spPr>
          <a:xfrm>
            <a:off x="5334000" y="2438400"/>
            <a:ext cx="1574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ASP.NET Core</a:t>
            </a:r>
            <a:endParaRPr lang="bg-BG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88973-2E44-1AF8-DEA0-D4634505777B}"/>
              </a:ext>
            </a:extLst>
          </p:cNvPr>
          <p:cNvSpPr txBox="1"/>
          <p:nvPr/>
        </p:nvSpPr>
        <p:spPr>
          <a:xfrm>
            <a:off x="5334000" y="2819400"/>
            <a:ext cx="1549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Aptos" panose="020B0004020202020204" pitchFamily="34" charset="0"/>
              </a:rPr>
              <a:t>REST API</a:t>
            </a:r>
            <a:endParaRPr lang="bg-BG" sz="9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262D23-E7DC-57C0-2C68-C2856959ECE0}"/>
              </a:ext>
            </a:extLst>
          </p:cNvPr>
          <p:cNvSpPr/>
          <p:nvPr/>
        </p:nvSpPr>
        <p:spPr>
          <a:xfrm>
            <a:off x="7315200" y="2286000"/>
            <a:ext cx="1905000" cy="8890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FB1BD2-92F5-7067-DD71-BB9AA7352565}"/>
              </a:ext>
            </a:extLst>
          </p:cNvPr>
          <p:cNvSpPr txBox="1"/>
          <p:nvPr/>
        </p:nvSpPr>
        <p:spPr>
          <a:xfrm>
            <a:off x="7493000" y="2438400"/>
            <a:ext cx="1574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EF Core</a:t>
            </a:r>
            <a:endParaRPr lang="bg-BG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FD599D-3C1F-F275-89C7-966357C8D002}"/>
              </a:ext>
            </a:extLst>
          </p:cNvPr>
          <p:cNvSpPr txBox="1"/>
          <p:nvPr/>
        </p:nvSpPr>
        <p:spPr>
          <a:xfrm>
            <a:off x="7493000" y="2819400"/>
            <a:ext cx="1549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Aptos" panose="020B0004020202020204" pitchFamily="34" charset="0"/>
              </a:rPr>
              <a:t>ORM + migrations</a:t>
            </a:r>
            <a:endParaRPr lang="bg-BG" sz="9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87AD74-3D31-49AB-BEF2-C8DB3E4F8BD9}"/>
              </a:ext>
            </a:extLst>
          </p:cNvPr>
          <p:cNvSpPr/>
          <p:nvPr/>
        </p:nvSpPr>
        <p:spPr>
          <a:xfrm>
            <a:off x="838200" y="3556000"/>
            <a:ext cx="1905000" cy="889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3F6EA4-C2B4-37A1-C9A8-2BE33C944557}"/>
              </a:ext>
            </a:extLst>
          </p:cNvPr>
          <p:cNvSpPr txBox="1"/>
          <p:nvPr/>
        </p:nvSpPr>
        <p:spPr>
          <a:xfrm>
            <a:off x="1016000" y="3708400"/>
            <a:ext cx="1574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PostgreSQL</a:t>
            </a:r>
            <a:endParaRPr lang="bg-BG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D3ACA1-B290-8286-839D-6CE84E1C70D6}"/>
              </a:ext>
            </a:extLst>
          </p:cNvPr>
          <p:cNvSpPr txBox="1"/>
          <p:nvPr/>
        </p:nvSpPr>
        <p:spPr>
          <a:xfrm>
            <a:off x="1016000" y="4089400"/>
            <a:ext cx="1549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FFFFFF"/>
                </a:solidFill>
                <a:latin typeface="Aptos" panose="020B0004020202020204" pitchFamily="34" charset="0"/>
              </a:rPr>
              <a:t>релационна база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0CA265-21A2-84FA-D581-DFE24F7A4D7A}"/>
              </a:ext>
            </a:extLst>
          </p:cNvPr>
          <p:cNvSpPr/>
          <p:nvPr/>
        </p:nvSpPr>
        <p:spPr>
          <a:xfrm>
            <a:off x="2997200" y="3556000"/>
            <a:ext cx="1905000" cy="889000"/>
          </a:xfrm>
          <a:prstGeom prst="roundRect">
            <a:avLst/>
          </a:prstGeom>
          <a:solidFill>
            <a:srgbClr val="178754"/>
          </a:solidFill>
          <a:ln w="12700">
            <a:solidFill>
              <a:srgbClr val="178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92EFCF-788B-4E99-F757-7288AADACD06}"/>
              </a:ext>
            </a:extLst>
          </p:cNvPr>
          <p:cNvSpPr txBox="1"/>
          <p:nvPr/>
        </p:nvSpPr>
        <p:spPr>
          <a:xfrm>
            <a:off x="3175000" y="3708400"/>
            <a:ext cx="1574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Supabase</a:t>
            </a:r>
            <a:endParaRPr lang="bg-BG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354AE8-6F24-30A5-9A03-EDE70DEDD2F7}"/>
              </a:ext>
            </a:extLst>
          </p:cNvPr>
          <p:cNvSpPr txBox="1"/>
          <p:nvPr/>
        </p:nvSpPr>
        <p:spPr>
          <a:xfrm>
            <a:off x="3175000" y="4089400"/>
            <a:ext cx="1549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Aptos" panose="020B0004020202020204" pitchFamily="34" charset="0"/>
              </a:rPr>
              <a:t>cloud database</a:t>
            </a:r>
            <a:endParaRPr lang="bg-BG" sz="9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FBC392-BB04-DE20-50B5-01BE3EA31123}"/>
              </a:ext>
            </a:extLst>
          </p:cNvPr>
          <p:cNvSpPr/>
          <p:nvPr/>
        </p:nvSpPr>
        <p:spPr>
          <a:xfrm>
            <a:off x="5156200" y="3556000"/>
            <a:ext cx="1905000" cy="889000"/>
          </a:xfrm>
          <a:prstGeom prst="roundRect">
            <a:avLst/>
          </a:prstGeom>
          <a:solidFill>
            <a:srgbClr val="212529"/>
          </a:solidFill>
          <a:ln w="12700"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EF174F-4795-A217-0C59-1FCE5F0E8DA4}"/>
              </a:ext>
            </a:extLst>
          </p:cNvPr>
          <p:cNvSpPr txBox="1"/>
          <p:nvPr/>
        </p:nvSpPr>
        <p:spPr>
          <a:xfrm>
            <a:off x="5334000" y="3708400"/>
            <a:ext cx="1574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Render</a:t>
            </a:r>
            <a:endParaRPr lang="bg-BG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93F530-23C8-821A-3AA5-F07AB247FB8C}"/>
              </a:ext>
            </a:extLst>
          </p:cNvPr>
          <p:cNvSpPr txBox="1"/>
          <p:nvPr/>
        </p:nvSpPr>
        <p:spPr>
          <a:xfrm>
            <a:off x="5334000" y="4089400"/>
            <a:ext cx="1549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Aptos" panose="020B0004020202020204" pitchFamily="34" charset="0"/>
              </a:rPr>
              <a:t>API hosting</a:t>
            </a:r>
            <a:endParaRPr lang="bg-BG" sz="9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12FFEB5-07B5-E3D0-E3AD-C4B56FB33992}"/>
              </a:ext>
            </a:extLst>
          </p:cNvPr>
          <p:cNvSpPr/>
          <p:nvPr/>
        </p:nvSpPr>
        <p:spPr>
          <a:xfrm>
            <a:off x="7315200" y="3556000"/>
            <a:ext cx="1905000" cy="889000"/>
          </a:xfrm>
          <a:prstGeom prst="roundRect">
            <a:avLst/>
          </a:prstGeom>
          <a:solidFill>
            <a:srgbClr val="BE185D"/>
          </a:solidFill>
          <a:ln w="12700">
            <a:solidFill>
              <a:srgbClr val="BE18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E9D98E-CF4A-7DCC-2763-4FDF45D22265}"/>
              </a:ext>
            </a:extLst>
          </p:cNvPr>
          <p:cNvSpPr txBox="1"/>
          <p:nvPr/>
        </p:nvSpPr>
        <p:spPr>
          <a:xfrm>
            <a:off x="7493000" y="3708400"/>
            <a:ext cx="1574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JWT + Identity</a:t>
            </a:r>
            <a:endParaRPr lang="bg-BG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F6FFB9-9E7D-83D8-AF1C-4D47F5F1714D}"/>
              </a:ext>
            </a:extLst>
          </p:cNvPr>
          <p:cNvSpPr txBox="1"/>
          <p:nvPr/>
        </p:nvSpPr>
        <p:spPr>
          <a:xfrm>
            <a:off x="7493000" y="4089400"/>
            <a:ext cx="1549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FFFFFF"/>
                </a:solidFill>
                <a:latin typeface="Aptos" panose="020B0004020202020204" pitchFamily="34" charset="0"/>
              </a:rPr>
              <a:t>сигурност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09B9E9-B325-EFDB-CFE2-7CF16DC1F701}"/>
              </a:ext>
            </a:extLst>
          </p:cNvPr>
          <p:cNvSpPr txBox="1"/>
          <p:nvPr/>
        </p:nvSpPr>
        <p:spPr>
          <a:xfrm>
            <a:off x="889000" y="5016500"/>
            <a:ext cx="9144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400">
                <a:solidFill>
                  <a:srgbClr val="FFFFFF"/>
                </a:solidFill>
                <a:latin typeface="Aptos" panose="020B0004020202020204" pitchFamily="34" charset="0"/>
              </a:rPr>
              <a:t>Visual Studio 2022 за разработка и дебъг.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400">
                <a:solidFill>
                  <a:srgbClr val="FFFFFF"/>
                </a:solidFill>
                <a:latin typeface="Aptos" panose="020B0004020202020204" pitchFamily="34" charset="0"/>
              </a:rPr>
              <a:t>GitHub за версия на проекта и deploy към Render.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400">
                <a:solidFill>
                  <a:srgbClr val="FFFFFF"/>
                </a:solidFill>
                <a:latin typeface="Aptos" panose="020B0004020202020204" pitchFamily="34" charset="0"/>
              </a:rPr>
              <a:t>APK файл за инсталация на Android устройство чрез линк/QR код.</a:t>
            </a:r>
            <a:endParaRPr lang="bg-BG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971474-8064-6927-E194-475BA7256410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90A48C-BDE3-CE40-80DE-5F0805A21B47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44331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F8B631-096D-D0A2-4BBE-20BAA35C0F65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ИЗБОР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45123-45FD-43A9-19E9-E7FC0BE9700C}"/>
              </a:ext>
            </a:extLst>
          </p:cNvPr>
          <p:cNvSpPr txBox="1"/>
          <p:nvPr/>
        </p:nvSpPr>
        <p:spPr>
          <a:xfrm>
            <a:off x="685800" y="6985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Защо са избрани тези технологии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BB52B-5883-BC8D-0EF3-D3A947451B6C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Таблицата обобщава ролята на всяка технология и конкретната причина да бъде използвана.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0BEDF-288E-0E6B-1C5E-D8F298007001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2BD549B-396E-5C70-C1BC-164D6EA92CE4}"/>
              </a:ext>
            </a:extLst>
          </p:cNvPr>
          <p:cNvSpPr/>
          <p:nvPr/>
        </p:nvSpPr>
        <p:spPr>
          <a:xfrm>
            <a:off x="889000" y="1955800"/>
            <a:ext cx="1841500" cy="4318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055B7-25D4-802F-C8FC-0013FB650C71}"/>
              </a:ext>
            </a:extLst>
          </p:cNvPr>
          <p:cNvSpPr txBox="1"/>
          <p:nvPr/>
        </p:nvSpPr>
        <p:spPr>
          <a:xfrm>
            <a:off x="990600" y="2082800"/>
            <a:ext cx="1638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 b="1">
                <a:solidFill>
                  <a:srgbClr val="FFFFFF"/>
                </a:solidFill>
                <a:latin typeface="Aptos" panose="020B0004020202020204" pitchFamily="34" charset="0"/>
              </a:rPr>
              <a:t>Технология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6D71E4-CBB9-5475-4A6F-62FF6370A56F}"/>
              </a:ext>
            </a:extLst>
          </p:cNvPr>
          <p:cNvSpPr/>
          <p:nvPr/>
        </p:nvSpPr>
        <p:spPr>
          <a:xfrm>
            <a:off x="2921000" y="1955800"/>
            <a:ext cx="3111500" cy="4318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C928C-36E6-0BFB-3FD5-37A3E630C366}"/>
              </a:ext>
            </a:extLst>
          </p:cNvPr>
          <p:cNvSpPr txBox="1"/>
          <p:nvPr/>
        </p:nvSpPr>
        <p:spPr>
          <a:xfrm>
            <a:off x="3022600" y="2082800"/>
            <a:ext cx="2908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 b="1">
                <a:solidFill>
                  <a:srgbClr val="FFFFFF"/>
                </a:solidFill>
                <a:latin typeface="Aptos" panose="020B0004020202020204" pitchFamily="34" charset="0"/>
              </a:rPr>
              <a:t>Роля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64959E-06DD-088F-506A-9B3E4B845E5D}"/>
              </a:ext>
            </a:extLst>
          </p:cNvPr>
          <p:cNvSpPr/>
          <p:nvPr/>
        </p:nvSpPr>
        <p:spPr>
          <a:xfrm>
            <a:off x="6350000" y="1955800"/>
            <a:ext cx="2984500" cy="4318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5740A-9B52-3F08-178F-E8EF4022D816}"/>
              </a:ext>
            </a:extLst>
          </p:cNvPr>
          <p:cNvSpPr txBox="1"/>
          <p:nvPr/>
        </p:nvSpPr>
        <p:spPr>
          <a:xfrm>
            <a:off x="6451600" y="2082800"/>
            <a:ext cx="2781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 b="1">
                <a:solidFill>
                  <a:srgbClr val="FFFFFF"/>
                </a:solidFill>
                <a:latin typeface="Aptos" panose="020B0004020202020204" pitchFamily="34" charset="0"/>
              </a:rPr>
              <a:t>Предимство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0FB5C-889E-0A43-0B15-612D4E128C17}"/>
              </a:ext>
            </a:extLst>
          </p:cNvPr>
          <p:cNvSpPr/>
          <p:nvPr/>
        </p:nvSpPr>
        <p:spPr>
          <a:xfrm>
            <a:off x="9588500" y="1955800"/>
            <a:ext cx="1524000" cy="4318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AF6D32-EA91-5458-2DF0-571C7E1A0DFE}"/>
              </a:ext>
            </a:extLst>
          </p:cNvPr>
          <p:cNvSpPr txBox="1"/>
          <p:nvPr/>
        </p:nvSpPr>
        <p:spPr>
          <a:xfrm>
            <a:off x="9690100" y="2082800"/>
            <a:ext cx="1320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 b="1">
                <a:solidFill>
                  <a:srgbClr val="FFFFFF"/>
                </a:solidFill>
                <a:latin typeface="Aptos" panose="020B0004020202020204" pitchFamily="34" charset="0"/>
              </a:rPr>
              <a:t>Резултат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7E332-0405-E183-DAA8-4E82674985BE}"/>
              </a:ext>
            </a:extLst>
          </p:cNvPr>
          <p:cNvSpPr/>
          <p:nvPr/>
        </p:nvSpPr>
        <p:spPr>
          <a:xfrm>
            <a:off x="889000" y="2387600"/>
            <a:ext cx="184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F4A50E-C20E-C093-4346-7EEC2D48C571}"/>
              </a:ext>
            </a:extLst>
          </p:cNvPr>
          <p:cNvSpPr txBox="1"/>
          <p:nvPr/>
        </p:nvSpPr>
        <p:spPr>
          <a:xfrm>
            <a:off x="990600" y="2514600"/>
            <a:ext cx="166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.NET MAUI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AFE4B1-33F1-D425-3CCE-67D928D92A6F}"/>
              </a:ext>
            </a:extLst>
          </p:cNvPr>
          <p:cNvSpPr/>
          <p:nvPr/>
        </p:nvSpPr>
        <p:spPr>
          <a:xfrm>
            <a:off x="2921000" y="2387600"/>
            <a:ext cx="311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1FD1C3-534B-566A-BD14-FDAE95B91C56}"/>
              </a:ext>
            </a:extLst>
          </p:cNvPr>
          <p:cNvSpPr txBox="1"/>
          <p:nvPr/>
        </p:nvSpPr>
        <p:spPr>
          <a:xfrm>
            <a:off x="3022600" y="2514600"/>
            <a:ext cx="293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един </a:t>
            </a:r>
            <a:r>
              <a:rPr lang="en-US" sz="900">
                <a:solidFill>
                  <a:srgbClr val="111827"/>
                </a:solidFill>
                <a:latin typeface="Aptos" panose="020B0004020202020204" pitchFamily="34" charset="0"/>
              </a:rPr>
              <a:t>mobile frontend</a:t>
            </a:r>
            <a:endParaRPr lang="bg-BG" sz="9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F6A376-5E81-4CE1-731D-267D8F280E8F}"/>
              </a:ext>
            </a:extLst>
          </p:cNvPr>
          <p:cNvSpPr/>
          <p:nvPr/>
        </p:nvSpPr>
        <p:spPr>
          <a:xfrm>
            <a:off x="6350000" y="2387600"/>
            <a:ext cx="2984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F2FA07-2B8F-8109-62E4-0741F39D0CFE}"/>
              </a:ext>
            </a:extLst>
          </p:cNvPr>
          <p:cNvSpPr txBox="1"/>
          <p:nvPr/>
        </p:nvSpPr>
        <p:spPr>
          <a:xfrm>
            <a:off x="6451600" y="2514600"/>
            <a:ext cx="2806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111827"/>
                </a:solidFill>
                <a:latin typeface="Aptos" panose="020B0004020202020204" pitchFamily="34" charset="0"/>
              </a:rPr>
              <a:t>една кодова база за Android/Windows</a:t>
            </a:r>
            <a:endParaRPr lang="bg-BG" sz="9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D056CC-B052-E3FC-0E94-CD9B8C2009F8}"/>
              </a:ext>
            </a:extLst>
          </p:cNvPr>
          <p:cNvSpPr/>
          <p:nvPr/>
        </p:nvSpPr>
        <p:spPr>
          <a:xfrm>
            <a:off x="9588500" y="2387600"/>
            <a:ext cx="152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166274-2458-8CD0-8799-936FECD9EEA0}"/>
              </a:ext>
            </a:extLst>
          </p:cNvPr>
          <p:cNvSpPr txBox="1"/>
          <p:nvPr/>
        </p:nvSpPr>
        <p:spPr>
          <a:xfrm>
            <a:off x="9690100" y="25146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по-бърза разработка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963773-DCCB-89B3-A52C-99957DCCD63E}"/>
              </a:ext>
            </a:extLst>
          </p:cNvPr>
          <p:cNvSpPr/>
          <p:nvPr/>
        </p:nvSpPr>
        <p:spPr>
          <a:xfrm>
            <a:off x="889000" y="2997200"/>
            <a:ext cx="184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EFD6F2-58C6-5FFD-B8DF-1D226BC8900B}"/>
              </a:ext>
            </a:extLst>
          </p:cNvPr>
          <p:cNvSpPr txBox="1"/>
          <p:nvPr/>
        </p:nvSpPr>
        <p:spPr>
          <a:xfrm>
            <a:off x="990600" y="3124200"/>
            <a:ext cx="166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ASP.NET Core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9C0531-5CB6-CF5B-FF08-3F39FB9C417F}"/>
              </a:ext>
            </a:extLst>
          </p:cNvPr>
          <p:cNvSpPr/>
          <p:nvPr/>
        </p:nvSpPr>
        <p:spPr>
          <a:xfrm>
            <a:off x="2921000" y="2997200"/>
            <a:ext cx="311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2E4F9E-C0D7-781E-FA9B-7F08105567CE}"/>
              </a:ext>
            </a:extLst>
          </p:cNvPr>
          <p:cNvSpPr txBox="1"/>
          <p:nvPr/>
        </p:nvSpPr>
        <p:spPr>
          <a:xfrm>
            <a:off x="3022600" y="3124200"/>
            <a:ext cx="293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111827"/>
                </a:solidFill>
                <a:latin typeface="Aptos" panose="020B0004020202020204" pitchFamily="34" charset="0"/>
              </a:rPr>
              <a:t>REST backend</a:t>
            </a:r>
            <a:endParaRPr lang="bg-BG" sz="9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9DF041-FC48-09FC-9E78-2EB8F50DBBAD}"/>
              </a:ext>
            </a:extLst>
          </p:cNvPr>
          <p:cNvSpPr/>
          <p:nvPr/>
        </p:nvSpPr>
        <p:spPr>
          <a:xfrm>
            <a:off x="6350000" y="2997200"/>
            <a:ext cx="2984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39F82B-187E-B23A-18D2-244277836C57}"/>
              </a:ext>
            </a:extLst>
          </p:cNvPr>
          <p:cNvSpPr txBox="1"/>
          <p:nvPr/>
        </p:nvSpPr>
        <p:spPr>
          <a:xfrm>
            <a:off x="6451600" y="3124200"/>
            <a:ext cx="2806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контролери, </a:t>
            </a:r>
            <a:r>
              <a:rPr lang="en-US" sz="900">
                <a:solidFill>
                  <a:srgbClr val="111827"/>
                </a:solidFill>
                <a:latin typeface="Aptos" panose="020B0004020202020204" pitchFamily="34" charset="0"/>
              </a:rPr>
              <a:t>DI, middleware, hosting</a:t>
            </a:r>
            <a:endParaRPr lang="bg-BG" sz="9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F9568E-BE3E-D658-BB31-A82F8DEE39E0}"/>
              </a:ext>
            </a:extLst>
          </p:cNvPr>
          <p:cNvSpPr/>
          <p:nvPr/>
        </p:nvSpPr>
        <p:spPr>
          <a:xfrm>
            <a:off x="9588500" y="2997200"/>
            <a:ext cx="152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AE4A1F-4053-4375-FC4E-79E6AACEAF24}"/>
              </a:ext>
            </a:extLst>
          </p:cNvPr>
          <p:cNvSpPr txBox="1"/>
          <p:nvPr/>
        </p:nvSpPr>
        <p:spPr>
          <a:xfrm>
            <a:off x="9690100" y="31242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ясен </a:t>
            </a:r>
            <a:r>
              <a:rPr lang="en-US" sz="900">
                <a:solidFill>
                  <a:srgbClr val="111827"/>
                </a:solidFill>
                <a:latin typeface="Aptos" panose="020B0004020202020204" pitchFamily="34" charset="0"/>
              </a:rPr>
              <a:t>API </a:t>
            </a:r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слой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B637F7-840B-6B1F-4EE4-43034EE30C51}"/>
              </a:ext>
            </a:extLst>
          </p:cNvPr>
          <p:cNvSpPr/>
          <p:nvPr/>
        </p:nvSpPr>
        <p:spPr>
          <a:xfrm>
            <a:off x="889000" y="3606800"/>
            <a:ext cx="184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3C524E-0773-8C1E-BD94-968FCEA9E539}"/>
              </a:ext>
            </a:extLst>
          </p:cNvPr>
          <p:cNvSpPr txBox="1"/>
          <p:nvPr/>
        </p:nvSpPr>
        <p:spPr>
          <a:xfrm>
            <a:off x="990600" y="3733800"/>
            <a:ext cx="166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EF Core + Npgsql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1A8A13-CB2A-C60D-DEE0-384FE329E679}"/>
              </a:ext>
            </a:extLst>
          </p:cNvPr>
          <p:cNvSpPr/>
          <p:nvPr/>
        </p:nvSpPr>
        <p:spPr>
          <a:xfrm>
            <a:off x="2921000" y="3606800"/>
            <a:ext cx="311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47E74C-F7BB-3203-C721-13DEC8C09F50}"/>
              </a:ext>
            </a:extLst>
          </p:cNvPr>
          <p:cNvSpPr txBox="1"/>
          <p:nvPr/>
        </p:nvSpPr>
        <p:spPr>
          <a:xfrm>
            <a:off x="3022600" y="3733800"/>
            <a:ext cx="293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достъп до </a:t>
            </a:r>
            <a:r>
              <a:rPr lang="en-US" sz="900">
                <a:solidFill>
                  <a:srgbClr val="111827"/>
                </a:solidFill>
                <a:latin typeface="Aptos" panose="020B0004020202020204" pitchFamily="34" charset="0"/>
              </a:rPr>
              <a:t>PostgreSQL</a:t>
            </a:r>
            <a:endParaRPr lang="bg-BG" sz="9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67DBF9-31BE-6C8A-7E47-4CE6C163F0D9}"/>
              </a:ext>
            </a:extLst>
          </p:cNvPr>
          <p:cNvSpPr/>
          <p:nvPr/>
        </p:nvSpPr>
        <p:spPr>
          <a:xfrm>
            <a:off x="6350000" y="3606800"/>
            <a:ext cx="2984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2A6021-AAEF-2B7E-D845-3F9CA7943BD4}"/>
              </a:ext>
            </a:extLst>
          </p:cNvPr>
          <p:cNvSpPr txBox="1"/>
          <p:nvPr/>
        </p:nvSpPr>
        <p:spPr>
          <a:xfrm>
            <a:off x="6451600" y="3733800"/>
            <a:ext cx="2806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111827"/>
                </a:solidFill>
                <a:latin typeface="Aptos" panose="020B0004020202020204" pitchFamily="34" charset="0"/>
              </a:rPr>
              <a:t>модели, миграции и LINQ заявки</a:t>
            </a:r>
            <a:endParaRPr lang="bg-BG" sz="9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3DB89D-6469-5F54-7921-82CD2D78D451}"/>
              </a:ext>
            </a:extLst>
          </p:cNvPr>
          <p:cNvSpPr/>
          <p:nvPr/>
        </p:nvSpPr>
        <p:spPr>
          <a:xfrm>
            <a:off x="9588500" y="3606800"/>
            <a:ext cx="152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3BA1A1-D6B4-7A6C-5668-4FF48B9E4318}"/>
              </a:ext>
            </a:extLst>
          </p:cNvPr>
          <p:cNvSpPr txBox="1"/>
          <p:nvPr/>
        </p:nvSpPr>
        <p:spPr>
          <a:xfrm>
            <a:off x="9690100" y="37338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поддържаема база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BA0DFE-4795-F646-9D69-2281B14A11A4}"/>
              </a:ext>
            </a:extLst>
          </p:cNvPr>
          <p:cNvSpPr/>
          <p:nvPr/>
        </p:nvSpPr>
        <p:spPr>
          <a:xfrm>
            <a:off x="889000" y="4216400"/>
            <a:ext cx="184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179A4D-0E91-AA07-D895-FC3DE7A4C151}"/>
              </a:ext>
            </a:extLst>
          </p:cNvPr>
          <p:cNvSpPr txBox="1"/>
          <p:nvPr/>
        </p:nvSpPr>
        <p:spPr>
          <a:xfrm>
            <a:off x="990600" y="4343400"/>
            <a:ext cx="166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Identity + JWT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2D3EB9-2EBD-AF05-726F-E4F7E3C338AF}"/>
              </a:ext>
            </a:extLst>
          </p:cNvPr>
          <p:cNvSpPr/>
          <p:nvPr/>
        </p:nvSpPr>
        <p:spPr>
          <a:xfrm>
            <a:off x="2921000" y="4216400"/>
            <a:ext cx="311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D2F74D-3851-71E7-A78E-01304633345A}"/>
              </a:ext>
            </a:extLst>
          </p:cNvPr>
          <p:cNvSpPr txBox="1"/>
          <p:nvPr/>
        </p:nvSpPr>
        <p:spPr>
          <a:xfrm>
            <a:off x="3022600" y="4343400"/>
            <a:ext cx="293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регистрация и вход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58007A-9148-4577-DFD2-F5DD64B1A7CD}"/>
              </a:ext>
            </a:extLst>
          </p:cNvPr>
          <p:cNvSpPr/>
          <p:nvPr/>
        </p:nvSpPr>
        <p:spPr>
          <a:xfrm>
            <a:off x="6350000" y="4216400"/>
            <a:ext cx="2984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6AD6C5-9573-B69B-6272-1C2ECEDAC168}"/>
              </a:ext>
            </a:extLst>
          </p:cNvPr>
          <p:cNvSpPr txBox="1"/>
          <p:nvPr/>
        </p:nvSpPr>
        <p:spPr>
          <a:xfrm>
            <a:off x="6451600" y="4343400"/>
            <a:ext cx="2806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111827"/>
                </a:solidFill>
                <a:latin typeface="Aptos" panose="020B0004020202020204" pitchFamily="34" charset="0"/>
              </a:rPr>
              <a:t>хеширани пароли, роли и token</a:t>
            </a:r>
            <a:endParaRPr lang="bg-BG" sz="9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C400B-A5E8-63D8-0DB2-95C2E93A5AD6}"/>
              </a:ext>
            </a:extLst>
          </p:cNvPr>
          <p:cNvSpPr/>
          <p:nvPr/>
        </p:nvSpPr>
        <p:spPr>
          <a:xfrm>
            <a:off x="9588500" y="4216400"/>
            <a:ext cx="152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168858-0EFF-5394-3E42-D8C5DBE1C872}"/>
              </a:ext>
            </a:extLst>
          </p:cNvPr>
          <p:cNvSpPr txBox="1"/>
          <p:nvPr/>
        </p:nvSpPr>
        <p:spPr>
          <a:xfrm>
            <a:off x="9690100" y="43434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сигурност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1EDDE1-0ECF-879B-6F75-3241E774926E}"/>
              </a:ext>
            </a:extLst>
          </p:cNvPr>
          <p:cNvSpPr/>
          <p:nvPr/>
        </p:nvSpPr>
        <p:spPr>
          <a:xfrm>
            <a:off x="889000" y="4826000"/>
            <a:ext cx="184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EFC338-7B56-077B-C059-15869FF0E905}"/>
              </a:ext>
            </a:extLst>
          </p:cNvPr>
          <p:cNvSpPr txBox="1"/>
          <p:nvPr/>
        </p:nvSpPr>
        <p:spPr>
          <a:xfrm>
            <a:off x="990600" y="4953000"/>
            <a:ext cx="166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Supabase + Render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47C0A1-727C-5195-EFB0-276B9EE9F81A}"/>
              </a:ext>
            </a:extLst>
          </p:cNvPr>
          <p:cNvSpPr/>
          <p:nvPr/>
        </p:nvSpPr>
        <p:spPr>
          <a:xfrm>
            <a:off x="2921000" y="4826000"/>
            <a:ext cx="3111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8E9EF7-369E-3CE1-BB2D-990CD72C4FD7}"/>
              </a:ext>
            </a:extLst>
          </p:cNvPr>
          <p:cNvSpPr txBox="1"/>
          <p:nvPr/>
        </p:nvSpPr>
        <p:spPr>
          <a:xfrm>
            <a:off x="3022600" y="4953000"/>
            <a:ext cx="2933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111827"/>
                </a:solidFill>
                <a:latin typeface="Aptos" panose="020B0004020202020204" pitchFamily="34" charset="0"/>
              </a:rPr>
              <a:t>cloud </a:t>
            </a:r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среда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48A289-01E4-3519-8A42-07D84186B1CF}"/>
              </a:ext>
            </a:extLst>
          </p:cNvPr>
          <p:cNvSpPr/>
          <p:nvPr/>
        </p:nvSpPr>
        <p:spPr>
          <a:xfrm>
            <a:off x="6350000" y="4826000"/>
            <a:ext cx="2984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2643B2-99D6-59AA-1695-0037FA7E600D}"/>
              </a:ext>
            </a:extLst>
          </p:cNvPr>
          <p:cNvSpPr txBox="1"/>
          <p:nvPr/>
        </p:nvSpPr>
        <p:spPr>
          <a:xfrm>
            <a:off x="6451600" y="4953000"/>
            <a:ext cx="28067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111827"/>
                </a:solidFill>
                <a:latin typeface="Aptos" panose="020B0004020202020204" pitchFamily="34" charset="0"/>
              </a:rPr>
              <a:t>онлайн база и публичен API endpoint</a:t>
            </a:r>
            <a:endParaRPr lang="bg-BG" sz="9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076FA6E-A16B-9E8A-49E3-9BB8CD8E3841}"/>
              </a:ext>
            </a:extLst>
          </p:cNvPr>
          <p:cNvSpPr/>
          <p:nvPr/>
        </p:nvSpPr>
        <p:spPr>
          <a:xfrm>
            <a:off x="9588500" y="4826000"/>
            <a:ext cx="152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AA6B9F-B43B-2CF2-FA81-106DB3090B13}"/>
              </a:ext>
            </a:extLst>
          </p:cNvPr>
          <p:cNvSpPr txBox="1"/>
          <p:nvPr/>
        </p:nvSpPr>
        <p:spPr>
          <a:xfrm>
            <a:off x="9690100" y="49530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реална демонстрация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89B819-C420-6C39-C7C2-75793DDC5108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27EC2B-F573-A72D-42F3-FE0919ECF305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5469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73B58-EFB7-55D7-258A-79CBE9CDC3A1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376B77-A79D-D5BE-7342-9B35339BECCE}"/>
              </a:ext>
            </a:extLst>
          </p:cNvPr>
          <p:cNvSpPr txBox="1"/>
          <p:nvPr/>
        </p:nvSpPr>
        <p:spPr>
          <a:xfrm>
            <a:off x="685800" y="698500"/>
            <a:ext cx="965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Системата е разделена на мобилен клиент, API и cloud база данни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70AC0-4C3E-5CEE-9FC3-AC9C9D18E2D3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Разделението позволява няколко потребители да работят едновременно с едни и същи сесии.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CFFAF8-9264-A416-6F66-E449E54FC12B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B82F6B-0FF0-030C-9AFB-B1551162D1E2}"/>
              </a:ext>
            </a:extLst>
          </p:cNvPr>
          <p:cNvSpPr/>
          <p:nvPr/>
        </p:nvSpPr>
        <p:spPr>
          <a:xfrm>
            <a:off x="825500" y="2260600"/>
            <a:ext cx="2159000" cy="127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A7613F-4AE1-165B-51D4-3B38AFAF9B8D}"/>
              </a:ext>
            </a:extLst>
          </p:cNvPr>
          <p:cNvSpPr txBox="1"/>
          <p:nvPr/>
        </p:nvSpPr>
        <p:spPr>
          <a:xfrm>
            <a:off x="1054100" y="2489200"/>
            <a:ext cx="1701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.NET MAUI App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76071-40E1-6CC8-9AF1-A8CEF2AE0D51}"/>
              </a:ext>
            </a:extLst>
          </p:cNvPr>
          <p:cNvSpPr txBox="1"/>
          <p:nvPr/>
        </p:nvSpPr>
        <p:spPr>
          <a:xfrm>
            <a:off x="1054100" y="2895600"/>
            <a:ext cx="1701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64748B"/>
                </a:solidFill>
                <a:latin typeface="Aptos" panose="020B0004020202020204" pitchFamily="34" charset="0"/>
              </a:rPr>
              <a:t>Login, приятели, сесии, филтри, swipe UI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030B1C-1B1E-9CD6-AC10-4C28E347537D}"/>
              </a:ext>
            </a:extLst>
          </p:cNvPr>
          <p:cNvSpPr/>
          <p:nvPr/>
        </p:nvSpPr>
        <p:spPr>
          <a:xfrm>
            <a:off x="3873500" y="2260600"/>
            <a:ext cx="2286000" cy="1270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F6A60-629F-4490-53E4-84165199AA3E}"/>
              </a:ext>
            </a:extLst>
          </p:cNvPr>
          <p:cNvSpPr txBox="1"/>
          <p:nvPr/>
        </p:nvSpPr>
        <p:spPr>
          <a:xfrm>
            <a:off x="4102100" y="2489200"/>
            <a:ext cx="1828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ASP.NET Core API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A1F18-5882-EDFF-0432-AA2B205EFC3F}"/>
              </a:ext>
            </a:extLst>
          </p:cNvPr>
          <p:cNvSpPr txBox="1"/>
          <p:nvPr/>
        </p:nvSpPr>
        <p:spPr>
          <a:xfrm>
            <a:off x="4102100" y="2895600"/>
            <a:ext cx="1828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</a:rPr>
              <a:t>Auth, sessions, friends, profile, admin controllers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A08420-0180-D544-55BB-9E938FB5D502}"/>
              </a:ext>
            </a:extLst>
          </p:cNvPr>
          <p:cNvSpPr/>
          <p:nvPr/>
        </p:nvSpPr>
        <p:spPr>
          <a:xfrm>
            <a:off x="7048500" y="2260600"/>
            <a:ext cx="1968500" cy="127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A95EE8-53ED-F69E-9CA9-DADA69D906B4}"/>
              </a:ext>
            </a:extLst>
          </p:cNvPr>
          <p:cNvSpPr txBox="1"/>
          <p:nvPr/>
        </p:nvSpPr>
        <p:spPr>
          <a:xfrm>
            <a:off x="7277100" y="2489200"/>
            <a:ext cx="15113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EF Core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79673B-E54B-4433-952C-FFD54694704E}"/>
              </a:ext>
            </a:extLst>
          </p:cNvPr>
          <p:cNvSpPr txBox="1"/>
          <p:nvPr/>
        </p:nvSpPr>
        <p:spPr>
          <a:xfrm>
            <a:off x="7277100" y="2895600"/>
            <a:ext cx="15113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900">
                <a:solidFill>
                  <a:srgbClr val="64748B"/>
                </a:solidFill>
                <a:latin typeface="Aptos" panose="020B0004020202020204" pitchFamily="34" charset="0"/>
              </a:rPr>
              <a:t>ORM, migrations, LINQ към PostgreSQL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6CF405-4AAA-6CF4-7912-882275E1CFCD}"/>
              </a:ext>
            </a:extLst>
          </p:cNvPr>
          <p:cNvSpPr/>
          <p:nvPr/>
        </p:nvSpPr>
        <p:spPr>
          <a:xfrm>
            <a:off x="9906000" y="2260600"/>
            <a:ext cx="1651000" cy="127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314A65-07D4-B0E4-2673-977720B5C850}"/>
              </a:ext>
            </a:extLst>
          </p:cNvPr>
          <p:cNvSpPr txBox="1"/>
          <p:nvPr/>
        </p:nvSpPr>
        <p:spPr>
          <a:xfrm>
            <a:off x="10134600" y="2489200"/>
            <a:ext cx="1193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PostgreSQL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BC337-47F0-8685-D633-2DFEF0F0918F}"/>
              </a:ext>
            </a:extLst>
          </p:cNvPr>
          <p:cNvSpPr txBox="1"/>
          <p:nvPr/>
        </p:nvSpPr>
        <p:spPr>
          <a:xfrm>
            <a:off x="10134600" y="2895600"/>
            <a:ext cx="1193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</a:rPr>
              <a:t>Supabase cloud database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63F5E4-3443-76C3-EF81-18B275B8BB51}"/>
              </a:ext>
            </a:extLst>
          </p:cNvPr>
          <p:cNvCxnSpPr/>
          <p:nvPr/>
        </p:nvCxnSpPr>
        <p:spPr>
          <a:xfrm>
            <a:off x="3022600" y="2895600"/>
            <a:ext cx="787400" cy="0"/>
          </a:xfrm>
          <a:prstGeom prst="line">
            <a:avLst/>
          </a:prstGeom>
          <a:ln w="3175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9462FE-5C3D-A987-D52A-6D72E615EDD3}"/>
              </a:ext>
            </a:extLst>
          </p:cNvPr>
          <p:cNvCxnSpPr/>
          <p:nvPr/>
        </p:nvCxnSpPr>
        <p:spPr>
          <a:xfrm>
            <a:off x="6197600" y="2895600"/>
            <a:ext cx="787400" cy="0"/>
          </a:xfrm>
          <a:prstGeom prst="line">
            <a:avLst/>
          </a:prstGeom>
          <a:ln w="3175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AECA40-48EB-A3A2-CBBA-A8D0666975D0}"/>
              </a:ext>
            </a:extLst>
          </p:cNvPr>
          <p:cNvCxnSpPr/>
          <p:nvPr/>
        </p:nvCxnSpPr>
        <p:spPr>
          <a:xfrm>
            <a:off x="9055100" y="2895600"/>
            <a:ext cx="787400" cy="0"/>
          </a:xfrm>
          <a:prstGeom prst="line">
            <a:avLst/>
          </a:prstGeom>
          <a:ln w="3175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4BFFD41-BB67-64A6-07E8-E9E97AEB38C9}"/>
              </a:ext>
            </a:extLst>
          </p:cNvPr>
          <p:cNvSpPr/>
          <p:nvPr/>
        </p:nvSpPr>
        <p:spPr>
          <a:xfrm>
            <a:off x="3873500" y="4000500"/>
            <a:ext cx="2286000" cy="7366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904824-A590-D074-7AA4-F036B8BB01EF}"/>
              </a:ext>
            </a:extLst>
          </p:cNvPr>
          <p:cNvSpPr txBox="1"/>
          <p:nvPr/>
        </p:nvSpPr>
        <p:spPr>
          <a:xfrm>
            <a:off x="4229100" y="4191000"/>
            <a:ext cx="152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Render Hosting</a:t>
            </a:r>
            <a:endParaRPr lang="bg-BG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F0A652-AE6E-68A6-DBDD-4434A343D056}"/>
              </a:ext>
            </a:extLst>
          </p:cNvPr>
          <p:cNvSpPr txBox="1"/>
          <p:nvPr/>
        </p:nvSpPr>
        <p:spPr>
          <a:xfrm>
            <a:off x="4368800" y="4470400"/>
            <a:ext cx="1333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D6E2E8"/>
                </a:solidFill>
                <a:latin typeface="Aptos" panose="020B0004020202020204" pitchFamily="34" charset="0"/>
              </a:rPr>
              <a:t>публичен </a:t>
            </a:r>
            <a:r>
              <a:rPr lang="en-US" sz="900">
                <a:solidFill>
                  <a:srgbClr val="D6E2E8"/>
                </a:solidFill>
                <a:latin typeface="Aptos" panose="020B0004020202020204" pitchFamily="34" charset="0"/>
              </a:rPr>
              <a:t>backend URL</a:t>
            </a:r>
            <a:endParaRPr lang="bg-BG" sz="900">
              <a:solidFill>
                <a:srgbClr val="D6E2E8"/>
              </a:solidFill>
              <a:latin typeface="Aptos" panose="020B00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145971-8E80-EBD9-7A62-320A97A32616}"/>
              </a:ext>
            </a:extLst>
          </p:cNvPr>
          <p:cNvCxnSpPr/>
          <p:nvPr/>
        </p:nvCxnSpPr>
        <p:spPr>
          <a:xfrm>
            <a:off x="5016500" y="3530600"/>
            <a:ext cx="0" cy="469900"/>
          </a:xfrm>
          <a:prstGeom prst="line">
            <a:avLst/>
          </a:prstGeom>
          <a:ln w="2540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1A765B2-0870-30E5-742F-C50DC7D5843F}"/>
              </a:ext>
            </a:extLst>
          </p:cNvPr>
          <p:cNvSpPr/>
          <p:nvPr/>
        </p:nvSpPr>
        <p:spPr>
          <a:xfrm>
            <a:off x="825500" y="4000500"/>
            <a:ext cx="2159000" cy="7366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DA4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87CB36-4259-8BBD-CD27-D492D108753A}"/>
              </a:ext>
            </a:extLst>
          </p:cNvPr>
          <p:cNvSpPr txBox="1"/>
          <p:nvPr/>
        </p:nvSpPr>
        <p:spPr>
          <a:xfrm>
            <a:off x="1333500" y="4191000"/>
            <a:ext cx="1206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ptos" panose="020B0004020202020204" pitchFamily="34" charset="0"/>
              </a:rPr>
              <a:t>JWT token</a:t>
            </a:r>
            <a:endParaRPr lang="bg-BG" sz="16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3C771F-8F5E-63F8-6D1E-E8A05D6766C0}"/>
              </a:ext>
            </a:extLst>
          </p:cNvPr>
          <p:cNvSpPr txBox="1"/>
          <p:nvPr/>
        </p:nvSpPr>
        <p:spPr>
          <a:xfrm>
            <a:off x="1155700" y="44704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64748B"/>
                </a:solidFill>
                <a:latin typeface="Aptos" panose="020B0004020202020204" pitchFamily="34" charset="0"/>
              </a:rPr>
              <a:t>удостоверяване на заявки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B7EA12-BDA4-625A-B3BE-4F5F5D2DD49D}"/>
              </a:ext>
            </a:extLst>
          </p:cNvPr>
          <p:cNvCxnSpPr/>
          <p:nvPr/>
        </p:nvCxnSpPr>
        <p:spPr>
          <a:xfrm>
            <a:off x="1905000" y="3530600"/>
            <a:ext cx="0" cy="469900"/>
          </a:xfrm>
          <a:prstGeom prst="line">
            <a:avLst/>
          </a:prstGeom>
          <a:ln w="25400">
            <a:solidFill>
              <a:srgbClr val="CF2B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511D148-53C3-302B-4E2C-26382EB32410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280D58-E68B-BCCB-78ED-EFC49C829406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5471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94BC17-253E-685F-77AE-B5D57293FE91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БАЗА ДАННИ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05AB9-46E2-A7FB-C6F5-B9D727C85785}"/>
              </a:ext>
            </a:extLst>
          </p:cNvPr>
          <p:cNvSpPr txBox="1"/>
          <p:nvPr/>
        </p:nvSpPr>
        <p:spPr>
          <a:xfrm>
            <a:off x="685800" y="698500"/>
            <a:ext cx="965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ER диаграмата показва реалните връзки в основния домейн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5742A-A7BF-E561-4610-4D40F04A6B78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Identity таблиците са разширени с ApplicationUser, а логиката е отделена в таблици за приятели, сесии, филтри, гласове и match.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9025E-B623-22CB-3F66-20C173C51201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7B6AB8-DE27-A217-AE97-3C525CBE1A24}"/>
              </a:ext>
            </a:extLst>
          </p:cNvPr>
          <p:cNvSpPr/>
          <p:nvPr/>
        </p:nvSpPr>
        <p:spPr>
          <a:xfrm>
            <a:off x="711200" y="2057400"/>
            <a:ext cx="1905000" cy="1320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1FAB57-F462-E137-559B-E2C971A49A60}"/>
              </a:ext>
            </a:extLst>
          </p:cNvPr>
          <p:cNvSpPr/>
          <p:nvPr/>
        </p:nvSpPr>
        <p:spPr>
          <a:xfrm>
            <a:off x="711200" y="2057400"/>
            <a:ext cx="19050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4883A-DFC9-65EA-5498-31754E1FCEA2}"/>
              </a:ext>
            </a:extLst>
          </p:cNvPr>
          <p:cNvSpPr txBox="1"/>
          <p:nvPr/>
        </p:nvSpPr>
        <p:spPr>
          <a:xfrm>
            <a:off x="800100" y="2120900"/>
            <a:ext cx="172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ApplicationUser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0752F7-CE03-70A6-9880-69D92E406B26}"/>
              </a:ext>
            </a:extLst>
          </p:cNvPr>
          <p:cNvSpPr txBox="1"/>
          <p:nvPr/>
        </p:nvSpPr>
        <p:spPr>
          <a:xfrm>
            <a:off x="812800" y="2451100"/>
            <a:ext cx="17018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Id PK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UserName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Email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DisplayName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IsBlocked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C55FD8-B360-3D8D-B7BB-C6C599CF672E}"/>
              </a:ext>
            </a:extLst>
          </p:cNvPr>
          <p:cNvSpPr/>
          <p:nvPr/>
        </p:nvSpPr>
        <p:spPr>
          <a:xfrm>
            <a:off x="3073400" y="1803400"/>
            <a:ext cx="1803400" cy="1041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ADDC36-F96C-595A-FAC6-8B18A2D3CA9D}"/>
              </a:ext>
            </a:extLst>
          </p:cNvPr>
          <p:cNvSpPr/>
          <p:nvPr/>
        </p:nvSpPr>
        <p:spPr>
          <a:xfrm>
            <a:off x="3073400" y="1803400"/>
            <a:ext cx="18034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C6E746-6E85-3246-9187-10C64C0A45C3}"/>
              </a:ext>
            </a:extLst>
          </p:cNvPr>
          <p:cNvSpPr txBox="1"/>
          <p:nvPr/>
        </p:nvSpPr>
        <p:spPr>
          <a:xfrm>
            <a:off x="3162300" y="1866900"/>
            <a:ext cx="162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FriendshipRequest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C680D0-EB79-9C90-EAB2-FF7D16DD45DE}"/>
              </a:ext>
            </a:extLst>
          </p:cNvPr>
          <p:cNvSpPr txBox="1"/>
          <p:nvPr/>
        </p:nvSpPr>
        <p:spPr>
          <a:xfrm>
            <a:off x="3175000" y="2197100"/>
            <a:ext cx="1600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Id PK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FromUserId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ToUserId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Status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1C4784-2D86-2B57-0F66-3799BF434BCA}"/>
              </a:ext>
            </a:extLst>
          </p:cNvPr>
          <p:cNvSpPr/>
          <p:nvPr/>
        </p:nvSpPr>
        <p:spPr>
          <a:xfrm>
            <a:off x="3073400" y="3200400"/>
            <a:ext cx="1803400" cy="863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A0667F-35F8-49CF-80BD-A054D23278A0}"/>
              </a:ext>
            </a:extLst>
          </p:cNvPr>
          <p:cNvSpPr/>
          <p:nvPr/>
        </p:nvSpPr>
        <p:spPr>
          <a:xfrm>
            <a:off x="3073400" y="3200400"/>
            <a:ext cx="18034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14E20-1801-AE4A-238E-CECD70E1EFF3}"/>
              </a:ext>
            </a:extLst>
          </p:cNvPr>
          <p:cNvSpPr txBox="1"/>
          <p:nvPr/>
        </p:nvSpPr>
        <p:spPr>
          <a:xfrm>
            <a:off x="3162300" y="3263900"/>
            <a:ext cx="162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Friendship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3A9023-99D9-E8D4-BA2E-9F56D5A6ED31}"/>
              </a:ext>
            </a:extLst>
          </p:cNvPr>
          <p:cNvSpPr txBox="1"/>
          <p:nvPr/>
        </p:nvSpPr>
        <p:spPr>
          <a:xfrm>
            <a:off x="3175000" y="3594100"/>
            <a:ext cx="16002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Id PK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UserAId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UserBId FK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D5BE9E-B610-DBC6-771C-543FE9071E88}"/>
              </a:ext>
            </a:extLst>
          </p:cNvPr>
          <p:cNvSpPr/>
          <p:nvPr/>
        </p:nvSpPr>
        <p:spPr>
          <a:xfrm>
            <a:off x="5461000" y="2032000"/>
            <a:ext cx="1905000" cy="116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3FA6FB8-5081-4E32-59D8-4DC20D381805}"/>
              </a:ext>
            </a:extLst>
          </p:cNvPr>
          <p:cNvSpPr/>
          <p:nvPr/>
        </p:nvSpPr>
        <p:spPr>
          <a:xfrm>
            <a:off x="5461000" y="2032000"/>
            <a:ext cx="19050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519CF8-5043-70F7-2E5D-15B298C3B092}"/>
              </a:ext>
            </a:extLst>
          </p:cNvPr>
          <p:cNvSpPr txBox="1"/>
          <p:nvPr/>
        </p:nvSpPr>
        <p:spPr>
          <a:xfrm>
            <a:off x="5549900" y="2095500"/>
            <a:ext cx="172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MatchSession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1F3A3E-FEBC-F2AE-DD7A-694B249A5740}"/>
              </a:ext>
            </a:extLst>
          </p:cNvPr>
          <p:cNvSpPr txBox="1"/>
          <p:nvPr/>
        </p:nvSpPr>
        <p:spPr>
          <a:xfrm>
            <a:off x="5562600" y="2425700"/>
            <a:ext cx="1701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Id PK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Category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CreatedByUserId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Status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1918FA-E92A-CA26-C192-412D46F4BEE1}"/>
              </a:ext>
            </a:extLst>
          </p:cNvPr>
          <p:cNvSpPr/>
          <p:nvPr/>
        </p:nvSpPr>
        <p:spPr>
          <a:xfrm>
            <a:off x="8001000" y="1473200"/>
            <a:ext cx="18034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DDC85E8-6493-3365-0D62-3A438B5BF105}"/>
              </a:ext>
            </a:extLst>
          </p:cNvPr>
          <p:cNvSpPr/>
          <p:nvPr/>
        </p:nvSpPr>
        <p:spPr>
          <a:xfrm>
            <a:off x="8001000" y="1473200"/>
            <a:ext cx="18034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1CCD91-E3AF-6B44-CF57-F66EE625EC8D}"/>
              </a:ext>
            </a:extLst>
          </p:cNvPr>
          <p:cNvSpPr txBox="1"/>
          <p:nvPr/>
        </p:nvSpPr>
        <p:spPr>
          <a:xfrm>
            <a:off x="8089900" y="1536700"/>
            <a:ext cx="162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Invitation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9B0EEC-00C6-819F-5414-EB774184213E}"/>
              </a:ext>
            </a:extLst>
          </p:cNvPr>
          <p:cNvSpPr txBox="1"/>
          <p:nvPr/>
        </p:nvSpPr>
        <p:spPr>
          <a:xfrm>
            <a:off x="8102600" y="1866900"/>
            <a:ext cx="16002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nb-NO" sz="700">
                <a:solidFill>
                  <a:srgbClr val="111827"/>
                </a:solidFill>
                <a:latin typeface="Aptos" panose="020B0004020202020204" pitchFamily="34" charset="0"/>
              </a:rPr>
              <a:t>SessionId FK</a:t>
            </a:r>
          </a:p>
          <a:p>
            <a:r>
              <a:rPr lang="nb-NO" sz="700">
                <a:solidFill>
                  <a:srgbClr val="111827"/>
                </a:solidFill>
                <a:latin typeface="Aptos" panose="020B0004020202020204" pitchFamily="34" charset="0"/>
              </a:rPr>
              <a:t>InvitedUserId FK</a:t>
            </a:r>
          </a:p>
          <a:p>
            <a:r>
              <a:rPr lang="nb-NO" sz="700">
                <a:solidFill>
                  <a:srgbClr val="111827"/>
                </a:solidFill>
                <a:latin typeface="Aptos" panose="020B0004020202020204" pitchFamily="34" charset="0"/>
              </a:rPr>
              <a:t>Status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72C81D4-0DA0-3B51-C7E3-E3184534DE02}"/>
              </a:ext>
            </a:extLst>
          </p:cNvPr>
          <p:cNvSpPr/>
          <p:nvPr/>
        </p:nvSpPr>
        <p:spPr>
          <a:xfrm>
            <a:off x="8001000" y="2717800"/>
            <a:ext cx="18034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F02FCBB-2439-A5AF-3FC4-8574893ED657}"/>
              </a:ext>
            </a:extLst>
          </p:cNvPr>
          <p:cNvSpPr/>
          <p:nvPr/>
        </p:nvSpPr>
        <p:spPr>
          <a:xfrm>
            <a:off x="8001000" y="2717800"/>
            <a:ext cx="18034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31472F-5112-188E-B48B-0D0C8A39CB29}"/>
              </a:ext>
            </a:extLst>
          </p:cNvPr>
          <p:cNvSpPr txBox="1"/>
          <p:nvPr/>
        </p:nvSpPr>
        <p:spPr>
          <a:xfrm>
            <a:off x="8089900" y="2781300"/>
            <a:ext cx="162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Participant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CFF535-0CF1-8DD3-BC65-4D7829B0DA46}"/>
              </a:ext>
            </a:extLst>
          </p:cNvPr>
          <p:cNvSpPr txBox="1"/>
          <p:nvPr/>
        </p:nvSpPr>
        <p:spPr>
          <a:xfrm>
            <a:off x="8102600" y="3111500"/>
            <a:ext cx="16002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SessionId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UserId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JoinedAtUtc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599884B-80D7-1F42-AFA5-B51E7A250B90}"/>
              </a:ext>
            </a:extLst>
          </p:cNvPr>
          <p:cNvSpPr/>
          <p:nvPr/>
        </p:nvSpPr>
        <p:spPr>
          <a:xfrm>
            <a:off x="8001000" y="4038600"/>
            <a:ext cx="1803400" cy="116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003CB55-1432-15D2-B4D6-01D62AACEE25}"/>
              </a:ext>
            </a:extLst>
          </p:cNvPr>
          <p:cNvSpPr/>
          <p:nvPr/>
        </p:nvSpPr>
        <p:spPr>
          <a:xfrm>
            <a:off x="8001000" y="4038600"/>
            <a:ext cx="18034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243262-8644-8D97-BC32-CF70EEE2DF08}"/>
              </a:ext>
            </a:extLst>
          </p:cNvPr>
          <p:cNvSpPr txBox="1"/>
          <p:nvPr/>
        </p:nvSpPr>
        <p:spPr>
          <a:xfrm>
            <a:off x="8089900" y="4102100"/>
            <a:ext cx="162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Category Filters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1D85DF-47ED-676C-A784-2F36643E0E5E}"/>
              </a:ext>
            </a:extLst>
          </p:cNvPr>
          <p:cNvSpPr txBox="1"/>
          <p:nvPr/>
        </p:nvSpPr>
        <p:spPr>
          <a:xfrm>
            <a:off x="8102600" y="4432300"/>
            <a:ext cx="16002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Movie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Restaurant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Recipe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BoardGame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SessionId + UserId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61BDFAB-BEAC-EB92-EE7C-8AF2C62B5A6B}"/>
              </a:ext>
            </a:extLst>
          </p:cNvPr>
          <p:cNvSpPr/>
          <p:nvPr/>
        </p:nvSpPr>
        <p:spPr>
          <a:xfrm>
            <a:off x="5486400" y="4318000"/>
            <a:ext cx="1905000" cy="116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D239A36-B3A0-ADE7-F831-8AD5219C98CA}"/>
              </a:ext>
            </a:extLst>
          </p:cNvPr>
          <p:cNvSpPr/>
          <p:nvPr/>
        </p:nvSpPr>
        <p:spPr>
          <a:xfrm>
            <a:off x="5486400" y="4318000"/>
            <a:ext cx="19050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5266DB-0964-17CE-3588-B16377CB2FFC}"/>
              </a:ext>
            </a:extLst>
          </p:cNvPr>
          <p:cNvSpPr txBox="1"/>
          <p:nvPr/>
        </p:nvSpPr>
        <p:spPr>
          <a:xfrm>
            <a:off x="5575300" y="4381500"/>
            <a:ext cx="172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CatalogItem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7A5A98-36AF-363E-303A-9AA3E298547A}"/>
              </a:ext>
            </a:extLst>
          </p:cNvPr>
          <p:cNvSpPr txBox="1"/>
          <p:nvPr/>
        </p:nvSpPr>
        <p:spPr>
          <a:xfrm>
            <a:off x="5588000" y="4711700"/>
            <a:ext cx="17018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Id PK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Category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Title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MetaJson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IsActive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22ED84F-FECE-079D-0F9B-12921A918586}"/>
              </a:ext>
            </a:extLst>
          </p:cNvPr>
          <p:cNvSpPr/>
          <p:nvPr/>
        </p:nvSpPr>
        <p:spPr>
          <a:xfrm>
            <a:off x="3175000" y="4851400"/>
            <a:ext cx="1803400" cy="1041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C055C99-8885-BD07-E984-C97B9CD74ABC}"/>
              </a:ext>
            </a:extLst>
          </p:cNvPr>
          <p:cNvSpPr/>
          <p:nvPr/>
        </p:nvSpPr>
        <p:spPr>
          <a:xfrm>
            <a:off x="3175000" y="4851400"/>
            <a:ext cx="18034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D81152-581B-63FD-985A-0B82E37FDF0C}"/>
              </a:ext>
            </a:extLst>
          </p:cNvPr>
          <p:cNvSpPr txBox="1"/>
          <p:nvPr/>
        </p:nvSpPr>
        <p:spPr>
          <a:xfrm>
            <a:off x="3263900" y="4914900"/>
            <a:ext cx="162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SwipeVote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7E53AB-4C1C-AA3C-EC14-04AC85F39B4E}"/>
              </a:ext>
            </a:extLst>
          </p:cNvPr>
          <p:cNvSpPr txBox="1"/>
          <p:nvPr/>
        </p:nvSpPr>
        <p:spPr>
          <a:xfrm>
            <a:off x="3276600" y="5245100"/>
            <a:ext cx="1600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SessionId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ItemId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UserId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IsYes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D7AA65F-6845-3D76-732B-F32C21C1DC0D}"/>
              </a:ext>
            </a:extLst>
          </p:cNvPr>
          <p:cNvSpPr/>
          <p:nvPr/>
        </p:nvSpPr>
        <p:spPr>
          <a:xfrm>
            <a:off x="711200" y="4851400"/>
            <a:ext cx="18034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9157437-B250-9668-1771-5D3DCADA71B3}"/>
              </a:ext>
            </a:extLst>
          </p:cNvPr>
          <p:cNvSpPr/>
          <p:nvPr/>
        </p:nvSpPr>
        <p:spPr>
          <a:xfrm>
            <a:off x="711200" y="4851400"/>
            <a:ext cx="1803400" cy="304800"/>
          </a:xfrm>
          <a:prstGeom prst="round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8EE5F7-5CFA-65D2-A0F8-65FAF8D6E912}"/>
              </a:ext>
            </a:extLst>
          </p:cNvPr>
          <p:cNvSpPr txBox="1"/>
          <p:nvPr/>
        </p:nvSpPr>
        <p:spPr>
          <a:xfrm>
            <a:off x="800100" y="4914900"/>
            <a:ext cx="162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SessionMatch</a:t>
            </a:r>
            <a:endParaRPr lang="bg-BG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8FE299-0A67-4790-6B94-AAA3576F6DA9}"/>
              </a:ext>
            </a:extLst>
          </p:cNvPr>
          <p:cNvSpPr txBox="1"/>
          <p:nvPr/>
        </p:nvSpPr>
        <p:spPr>
          <a:xfrm>
            <a:off x="812800" y="5245100"/>
            <a:ext cx="16002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SessionId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ItemId FK</a:t>
            </a:r>
          </a:p>
          <a:p>
            <a:r>
              <a:rPr lang="en-US" sz="700">
                <a:solidFill>
                  <a:srgbClr val="111827"/>
                </a:solidFill>
                <a:latin typeface="Aptos" panose="020B0004020202020204" pitchFamily="34" charset="0"/>
              </a:rPr>
              <a:t>CreatedAtUtc</a:t>
            </a:r>
            <a:endParaRPr lang="bg-BG" sz="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A09B3F2-4453-D58B-8287-0367A167CF7F}"/>
              </a:ext>
            </a:extLst>
          </p:cNvPr>
          <p:cNvCxnSpPr/>
          <p:nvPr/>
        </p:nvCxnSpPr>
        <p:spPr>
          <a:xfrm flipV="1">
            <a:off x="2616200" y="2324100"/>
            <a:ext cx="457200" cy="2921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3029F14-6D7F-2EB3-CF4C-A772EEB1A581}"/>
              </a:ext>
            </a:extLst>
          </p:cNvPr>
          <p:cNvCxnSpPr/>
          <p:nvPr/>
        </p:nvCxnSpPr>
        <p:spPr>
          <a:xfrm>
            <a:off x="2616200" y="2997200"/>
            <a:ext cx="457200" cy="6350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E8481C9-37E6-AB49-C5FC-2CFC20449751}"/>
              </a:ext>
            </a:extLst>
          </p:cNvPr>
          <p:cNvCxnSpPr/>
          <p:nvPr/>
        </p:nvCxnSpPr>
        <p:spPr>
          <a:xfrm>
            <a:off x="4876800" y="2324100"/>
            <a:ext cx="584200" cy="2794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95674F6-70E2-1E9D-1694-6F0677AD6572}"/>
              </a:ext>
            </a:extLst>
          </p:cNvPr>
          <p:cNvCxnSpPr/>
          <p:nvPr/>
        </p:nvCxnSpPr>
        <p:spPr>
          <a:xfrm flipV="1">
            <a:off x="7366000" y="1993900"/>
            <a:ext cx="635000" cy="6731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D91AFFB-6F6D-D311-80C3-4B8598D26324}"/>
              </a:ext>
            </a:extLst>
          </p:cNvPr>
          <p:cNvCxnSpPr/>
          <p:nvPr/>
        </p:nvCxnSpPr>
        <p:spPr>
          <a:xfrm>
            <a:off x="7366000" y="2768600"/>
            <a:ext cx="635000" cy="4699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051ADB0-A568-9F55-E9C3-09F08A385D0C}"/>
              </a:ext>
            </a:extLst>
          </p:cNvPr>
          <p:cNvCxnSpPr/>
          <p:nvPr/>
        </p:nvCxnSpPr>
        <p:spPr>
          <a:xfrm>
            <a:off x="7366000" y="3124200"/>
            <a:ext cx="635000" cy="14478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9CEBD2-31B5-9599-6165-EA16D149AF4C}"/>
              </a:ext>
            </a:extLst>
          </p:cNvPr>
          <p:cNvCxnSpPr/>
          <p:nvPr/>
        </p:nvCxnSpPr>
        <p:spPr>
          <a:xfrm>
            <a:off x="6426200" y="3200400"/>
            <a:ext cx="0" cy="11176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2B62D38-FC66-985C-C28D-F81DAD68CFFF}"/>
              </a:ext>
            </a:extLst>
          </p:cNvPr>
          <p:cNvCxnSpPr/>
          <p:nvPr/>
        </p:nvCxnSpPr>
        <p:spPr>
          <a:xfrm flipH="1">
            <a:off x="4978400" y="4902200"/>
            <a:ext cx="508000" cy="4318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FCBFA3D-F073-DBF2-06DA-5868B0A24F4D}"/>
              </a:ext>
            </a:extLst>
          </p:cNvPr>
          <p:cNvCxnSpPr/>
          <p:nvPr/>
        </p:nvCxnSpPr>
        <p:spPr>
          <a:xfrm flipH="1">
            <a:off x="2514600" y="5334000"/>
            <a:ext cx="66040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FF3DFCC-46AA-E327-14E4-BCA1A6E9C087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FB58A1-FD92-BE51-6167-D7C25D092C86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914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32AF6-1763-C1C4-43C2-E2D62E09C540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СИГУРНОСТ И ДАННИ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D4DB5-B7E3-43FB-4E96-46E6D82662A3}"/>
              </a:ext>
            </a:extLst>
          </p:cNvPr>
          <p:cNvSpPr txBox="1"/>
          <p:nvPr/>
        </p:nvSpPr>
        <p:spPr>
          <a:xfrm>
            <a:off x="685800" y="698500"/>
            <a:ext cx="965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Основните таблици следват отделните процеси в приложението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A91D5-3BB9-5113-0CE0-B4FBFDB5C878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Структурата е избрана така, че социалният слой, сесиите и каталожните данни да не се смесват.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29AC3A-2BB7-FB43-335F-BAA4043D7DC4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5F964E5-655D-BCC7-346C-03C2E1F87AEF}"/>
              </a:ext>
            </a:extLst>
          </p:cNvPr>
          <p:cNvSpPr/>
          <p:nvPr/>
        </p:nvSpPr>
        <p:spPr>
          <a:xfrm>
            <a:off x="762000" y="1905000"/>
            <a:ext cx="2095500" cy="381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9BB31D-1AA5-4A82-5A8C-58B4B41C3BF7}"/>
              </a:ext>
            </a:extLst>
          </p:cNvPr>
          <p:cNvSpPr txBox="1"/>
          <p:nvPr/>
        </p:nvSpPr>
        <p:spPr>
          <a:xfrm>
            <a:off x="863600" y="2032000"/>
            <a:ext cx="1892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 b="1">
                <a:solidFill>
                  <a:srgbClr val="FFFFFF"/>
                </a:solidFill>
                <a:latin typeface="Aptos" panose="020B0004020202020204" pitchFamily="34" charset="0"/>
              </a:rPr>
              <a:t>Група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95B3AD-4200-1273-3498-82A25EDB3102}"/>
              </a:ext>
            </a:extLst>
          </p:cNvPr>
          <p:cNvSpPr/>
          <p:nvPr/>
        </p:nvSpPr>
        <p:spPr>
          <a:xfrm>
            <a:off x="2984500" y="1905000"/>
            <a:ext cx="2984500" cy="381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B43EB-6154-E9EE-5AEE-C27A9936BA51}"/>
              </a:ext>
            </a:extLst>
          </p:cNvPr>
          <p:cNvSpPr txBox="1"/>
          <p:nvPr/>
        </p:nvSpPr>
        <p:spPr>
          <a:xfrm>
            <a:off x="3086100" y="2032000"/>
            <a:ext cx="2781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 b="1">
                <a:solidFill>
                  <a:srgbClr val="FFFFFF"/>
                </a:solidFill>
                <a:latin typeface="Aptos" panose="020B0004020202020204" pitchFamily="34" charset="0"/>
              </a:rPr>
              <a:t>Какво пази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A481EF-7C04-B02F-E341-34CBABADF7D3}"/>
              </a:ext>
            </a:extLst>
          </p:cNvPr>
          <p:cNvSpPr/>
          <p:nvPr/>
        </p:nvSpPr>
        <p:spPr>
          <a:xfrm>
            <a:off x="6159500" y="1905000"/>
            <a:ext cx="4572000" cy="381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5F136-1A12-A3C9-AF2F-A89ACDAC9FC8}"/>
              </a:ext>
            </a:extLst>
          </p:cNvPr>
          <p:cNvSpPr txBox="1"/>
          <p:nvPr/>
        </p:nvSpPr>
        <p:spPr>
          <a:xfrm>
            <a:off x="6261100" y="2032000"/>
            <a:ext cx="4368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 b="1">
                <a:solidFill>
                  <a:srgbClr val="FFFFFF"/>
                </a:solidFill>
                <a:latin typeface="Aptos" panose="020B0004020202020204" pitchFamily="34" charset="0"/>
              </a:rPr>
              <a:t>Роля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3F8F2-017B-6ACD-DF3B-A8F603D7C124}"/>
              </a:ext>
            </a:extLst>
          </p:cNvPr>
          <p:cNvSpPr/>
          <p:nvPr/>
        </p:nvSpPr>
        <p:spPr>
          <a:xfrm>
            <a:off x="762000" y="2286000"/>
            <a:ext cx="2095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83FAB-E1D9-A38A-6AFE-38FA1763F3E7}"/>
              </a:ext>
            </a:extLst>
          </p:cNvPr>
          <p:cNvSpPr txBox="1"/>
          <p:nvPr/>
        </p:nvSpPr>
        <p:spPr>
          <a:xfrm>
            <a:off x="863600" y="2387600"/>
            <a:ext cx="1892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ApplicationUser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7E24A-10FA-7C09-6AB8-962680B7C1D7}"/>
              </a:ext>
            </a:extLst>
          </p:cNvPr>
          <p:cNvSpPr/>
          <p:nvPr/>
        </p:nvSpPr>
        <p:spPr>
          <a:xfrm>
            <a:off x="2984500" y="2286000"/>
            <a:ext cx="2984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031F1-FD60-3E3F-9E9A-7482E6022E5F}"/>
              </a:ext>
            </a:extLst>
          </p:cNvPr>
          <p:cNvSpPr txBox="1"/>
          <p:nvPr/>
        </p:nvSpPr>
        <p:spPr>
          <a:xfrm>
            <a:off x="3086100" y="2387600"/>
            <a:ext cx="2781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профил, </a:t>
            </a:r>
            <a:r>
              <a:rPr lang="en-US" sz="900">
                <a:solidFill>
                  <a:srgbClr val="111827"/>
                </a:solidFill>
                <a:latin typeface="Aptos" panose="020B0004020202020204" pitchFamily="34" charset="0"/>
              </a:rPr>
              <a:t>email, </a:t>
            </a:r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блокиране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B94E-0B30-6F96-B468-F0596DC7FF76}"/>
              </a:ext>
            </a:extLst>
          </p:cNvPr>
          <p:cNvSpPr/>
          <p:nvPr/>
        </p:nvSpPr>
        <p:spPr>
          <a:xfrm>
            <a:off x="6159500" y="2286000"/>
            <a:ext cx="4572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F726F-5C91-8596-311E-D63B08D1AC79}"/>
              </a:ext>
            </a:extLst>
          </p:cNvPr>
          <p:cNvSpPr txBox="1"/>
          <p:nvPr/>
        </p:nvSpPr>
        <p:spPr>
          <a:xfrm>
            <a:off x="6261100" y="2387600"/>
            <a:ext cx="4368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идентичност и достъп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7105C0-E8DF-EC03-8776-395485BC850C}"/>
              </a:ext>
            </a:extLst>
          </p:cNvPr>
          <p:cNvSpPr/>
          <p:nvPr/>
        </p:nvSpPr>
        <p:spPr>
          <a:xfrm>
            <a:off x="762000" y="2768600"/>
            <a:ext cx="2095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EAD097-500F-D4B4-8F37-1EF6248123C0}"/>
              </a:ext>
            </a:extLst>
          </p:cNvPr>
          <p:cNvSpPr txBox="1"/>
          <p:nvPr/>
        </p:nvSpPr>
        <p:spPr>
          <a:xfrm>
            <a:off x="863600" y="2870200"/>
            <a:ext cx="1892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Friendship / Request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91D05A-922D-2EC3-07EE-7281374DB75B}"/>
              </a:ext>
            </a:extLst>
          </p:cNvPr>
          <p:cNvSpPr/>
          <p:nvPr/>
        </p:nvSpPr>
        <p:spPr>
          <a:xfrm>
            <a:off x="2984500" y="2768600"/>
            <a:ext cx="2984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E00B7-8294-8A1E-4CCF-066E31821E5D}"/>
              </a:ext>
            </a:extLst>
          </p:cNvPr>
          <p:cNvSpPr txBox="1"/>
          <p:nvPr/>
        </p:nvSpPr>
        <p:spPr>
          <a:xfrm>
            <a:off x="3086100" y="2870200"/>
            <a:ext cx="2781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заявки и приети приятелства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8405DF-4176-F87A-473A-85B5315A68DF}"/>
              </a:ext>
            </a:extLst>
          </p:cNvPr>
          <p:cNvSpPr/>
          <p:nvPr/>
        </p:nvSpPr>
        <p:spPr>
          <a:xfrm>
            <a:off x="6159500" y="2768600"/>
            <a:ext cx="4572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375A29-EB0B-F1C1-9300-A01C5E25857E}"/>
              </a:ext>
            </a:extLst>
          </p:cNvPr>
          <p:cNvSpPr txBox="1"/>
          <p:nvPr/>
        </p:nvSpPr>
        <p:spPr>
          <a:xfrm>
            <a:off x="6261100" y="2870200"/>
            <a:ext cx="4368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избор на участници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0E4E60-8E96-EC6A-FF00-BE0A8C369339}"/>
              </a:ext>
            </a:extLst>
          </p:cNvPr>
          <p:cNvSpPr/>
          <p:nvPr/>
        </p:nvSpPr>
        <p:spPr>
          <a:xfrm>
            <a:off x="762000" y="3251200"/>
            <a:ext cx="2095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9E144F-E5A4-2971-80A3-D610FA03F46E}"/>
              </a:ext>
            </a:extLst>
          </p:cNvPr>
          <p:cNvSpPr txBox="1"/>
          <p:nvPr/>
        </p:nvSpPr>
        <p:spPr>
          <a:xfrm>
            <a:off x="863600" y="3352800"/>
            <a:ext cx="1892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Session + Invitation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4D4BBB-5EC8-9614-55B2-E50D41170B69}"/>
              </a:ext>
            </a:extLst>
          </p:cNvPr>
          <p:cNvSpPr/>
          <p:nvPr/>
        </p:nvSpPr>
        <p:spPr>
          <a:xfrm>
            <a:off x="2984500" y="3251200"/>
            <a:ext cx="2984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5F72B3-ECE5-4D0F-F6FB-474DCAC9CD14}"/>
              </a:ext>
            </a:extLst>
          </p:cNvPr>
          <p:cNvSpPr txBox="1"/>
          <p:nvPr/>
        </p:nvSpPr>
        <p:spPr>
          <a:xfrm>
            <a:off x="3086100" y="3352800"/>
            <a:ext cx="2781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сесии, покани и статуси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CB269-F509-7AF4-0428-8A5CFA741751}"/>
              </a:ext>
            </a:extLst>
          </p:cNvPr>
          <p:cNvSpPr/>
          <p:nvPr/>
        </p:nvSpPr>
        <p:spPr>
          <a:xfrm>
            <a:off x="6159500" y="3251200"/>
            <a:ext cx="4572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E1C42-1990-41EB-CCDF-0D55D457CD26}"/>
              </a:ext>
            </a:extLst>
          </p:cNvPr>
          <p:cNvSpPr txBox="1"/>
          <p:nvPr/>
        </p:nvSpPr>
        <p:spPr>
          <a:xfrm>
            <a:off x="6261100" y="3352800"/>
            <a:ext cx="4368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групов процес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E01349-B9E7-B304-AC36-51CF6E8F830E}"/>
              </a:ext>
            </a:extLst>
          </p:cNvPr>
          <p:cNvSpPr/>
          <p:nvPr/>
        </p:nvSpPr>
        <p:spPr>
          <a:xfrm>
            <a:off x="762000" y="3733800"/>
            <a:ext cx="2095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F9A19A-9EC0-6D69-CC2D-8B770C2558D3}"/>
              </a:ext>
            </a:extLst>
          </p:cNvPr>
          <p:cNvSpPr txBox="1"/>
          <p:nvPr/>
        </p:nvSpPr>
        <p:spPr>
          <a:xfrm>
            <a:off x="863600" y="3835400"/>
            <a:ext cx="1892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Filters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4A4C66-85F9-521C-7C28-2FB033AD9AB0}"/>
              </a:ext>
            </a:extLst>
          </p:cNvPr>
          <p:cNvSpPr/>
          <p:nvPr/>
        </p:nvSpPr>
        <p:spPr>
          <a:xfrm>
            <a:off x="2984500" y="3733800"/>
            <a:ext cx="2984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13B631-548A-BA3E-7212-96E8D48DEB81}"/>
              </a:ext>
            </a:extLst>
          </p:cNvPr>
          <p:cNvSpPr txBox="1"/>
          <p:nvPr/>
        </p:nvSpPr>
        <p:spPr>
          <a:xfrm>
            <a:off x="3086100" y="3835400"/>
            <a:ext cx="2781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персонални филтри по категория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403387-1CC2-2894-80B5-BF1211D285B2}"/>
              </a:ext>
            </a:extLst>
          </p:cNvPr>
          <p:cNvSpPr/>
          <p:nvPr/>
        </p:nvSpPr>
        <p:spPr>
          <a:xfrm>
            <a:off x="6159500" y="3733800"/>
            <a:ext cx="4572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B220C0-49C4-3683-1D1A-196285EF8860}"/>
              </a:ext>
            </a:extLst>
          </p:cNvPr>
          <p:cNvSpPr txBox="1"/>
          <p:nvPr/>
        </p:nvSpPr>
        <p:spPr>
          <a:xfrm>
            <a:off x="6261100" y="3835400"/>
            <a:ext cx="4368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обединяване на критерии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EEC74D-A3E3-F9B3-EAD4-9A04EFFD2CE1}"/>
              </a:ext>
            </a:extLst>
          </p:cNvPr>
          <p:cNvSpPr/>
          <p:nvPr/>
        </p:nvSpPr>
        <p:spPr>
          <a:xfrm>
            <a:off x="762000" y="4216400"/>
            <a:ext cx="2095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1EAFA3-40A2-0F29-62FA-D37E3130E28E}"/>
              </a:ext>
            </a:extLst>
          </p:cNvPr>
          <p:cNvSpPr txBox="1"/>
          <p:nvPr/>
        </p:nvSpPr>
        <p:spPr>
          <a:xfrm>
            <a:off x="863600" y="4318000"/>
            <a:ext cx="1892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Vote / Match</a:t>
            </a:r>
            <a:endParaRPr lang="bg-BG" sz="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0BC454-67A4-D747-E7C2-699B7087DCE6}"/>
              </a:ext>
            </a:extLst>
          </p:cNvPr>
          <p:cNvSpPr/>
          <p:nvPr/>
        </p:nvSpPr>
        <p:spPr>
          <a:xfrm>
            <a:off x="2984500" y="4216400"/>
            <a:ext cx="29845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C079A7-A1B5-F6BE-9EBF-84DBF6C5FE70}"/>
              </a:ext>
            </a:extLst>
          </p:cNvPr>
          <p:cNvSpPr txBox="1"/>
          <p:nvPr/>
        </p:nvSpPr>
        <p:spPr>
          <a:xfrm>
            <a:off x="3086100" y="4318000"/>
            <a:ext cx="27813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гласове и съвпадения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1A5977-D5EA-801A-9BA7-D1144BF68299}"/>
              </a:ext>
            </a:extLst>
          </p:cNvPr>
          <p:cNvSpPr/>
          <p:nvPr/>
        </p:nvSpPr>
        <p:spPr>
          <a:xfrm>
            <a:off x="6159500" y="4216400"/>
            <a:ext cx="4572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560527-F5D7-4C32-80DA-0A273984FA55}"/>
              </a:ext>
            </a:extLst>
          </p:cNvPr>
          <p:cNvSpPr txBox="1"/>
          <p:nvPr/>
        </p:nvSpPr>
        <p:spPr>
          <a:xfrm>
            <a:off x="6261100" y="4318000"/>
            <a:ext cx="4368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111827"/>
                </a:solidFill>
                <a:latin typeface="Aptos" panose="020B0004020202020204" pitchFamily="34" charset="0"/>
              </a:rPr>
              <a:t>история и резултати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6E863CE-2CE5-1562-278C-B4ECC1927447}"/>
              </a:ext>
            </a:extLst>
          </p:cNvPr>
          <p:cNvSpPr/>
          <p:nvPr/>
        </p:nvSpPr>
        <p:spPr>
          <a:xfrm>
            <a:off x="762000" y="5105400"/>
            <a:ext cx="10160000" cy="635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8913B5-A160-E7D5-1960-AD26861F078C}"/>
              </a:ext>
            </a:extLst>
          </p:cNvPr>
          <p:cNvSpPr txBox="1"/>
          <p:nvPr/>
        </p:nvSpPr>
        <p:spPr>
          <a:xfrm>
            <a:off x="1066800" y="5295900"/>
            <a:ext cx="152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600" b="1">
                <a:solidFill>
                  <a:srgbClr val="111827"/>
                </a:solidFill>
                <a:latin typeface="Aptos" panose="020B0004020202020204" pitchFamily="34" charset="0"/>
              </a:rPr>
              <a:t>Сигурност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13500D-A8A5-F828-42CB-7AF31B745692}"/>
              </a:ext>
            </a:extLst>
          </p:cNvPr>
          <p:cNvSpPr txBox="1"/>
          <p:nvPr/>
        </p:nvSpPr>
        <p:spPr>
          <a:xfrm>
            <a:off x="2603500" y="52959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>
                <a:solidFill>
                  <a:srgbClr val="111827"/>
                </a:solidFill>
                <a:latin typeface="Aptos" panose="020B0004020202020204" pitchFamily="34" charset="0"/>
              </a:rPr>
              <a:t>Паролите са хеширани от </a:t>
            </a:r>
            <a:r>
              <a:rPr lang="en-US" sz="1000">
                <a:solidFill>
                  <a:srgbClr val="111827"/>
                </a:solidFill>
                <a:latin typeface="Aptos" panose="020B0004020202020204" pitchFamily="34" charset="0"/>
              </a:rPr>
              <a:t>ASP.NET Identity. JWT token </a:t>
            </a:r>
            <a:r>
              <a:rPr lang="bg-BG" sz="1000">
                <a:solidFill>
                  <a:srgbClr val="111827"/>
                </a:solidFill>
                <a:latin typeface="Aptos" panose="020B0004020202020204" pitchFamily="34" charset="0"/>
              </a:rPr>
              <a:t>се пази в </a:t>
            </a:r>
            <a:r>
              <a:rPr lang="en-US" sz="1000">
                <a:solidFill>
                  <a:srgbClr val="111827"/>
                </a:solidFill>
                <a:latin typeface="Aptos" panose="020B0004020202020204" pitchFamily="34" charset="0"/>
              </a:rPr>
              <a:t>SecureStorage, </a:t>
            </a:r>
            <a:r>
              <a:rPr lang="bg-BG" sz="1000">
                <a:solidFill>
                  <a:srgbClr val="111827"/>
                </a:solidFill>
                <a:latin typeface="Aptos" panose="020B0004020202020204" pitchFamily="34" charset="0"/>
              </a:rPr>
              <a:t>а </a:t>
            </a:r>
            <a:r>
              <a:rPr lang="en-US" sz="1000">
                <a:solidFill>
                  <a:srgbClr val="111827"/>
                </a:solidFill>
                <a:latin typeface="Aptos" panose="020B0004020202020204" pitchFamily="34" charset="0"/>
              </a:rPr>
              <a:t>middleware </a:t>
            </a:r>
            <a:r>
              <a:rPr lang="bg-BG" sz="1000">
                <a:solidFill>
                  <a:srgbClr val="111827"/>
                </a:solidFill>
                <a:latin typeface="Aptos" panose="020B0004020202020204" pitchFamily="34" charset="0"/>
              </a:rPr>
              <a:t>спира блокирани потребители с 403.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4E22CE-626D-5DEA-438B-E88F377FA485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6B9FA2-CA3B-DCCA-E7BC-192F9B47D646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82194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B5C872-4B6C-2982-ACEF-1C30B694A3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122AB3-0B60-E217-EC06-E20C4AF49C8E}"/>
              </a:ext>
            </a:extLst>
          </p:cNvPr>
          <p:cNvSpPr/>
          <p:nvPr/>
        </p:nvSpPr>
        <p:spPr>
          <a:xfrm>
            <a:off x="8509000" y="-889000"/>
            <a:ext cx="4572000" cy="3302000"/>
          </a:xfrm>
          <a:prstGeom prst="rect">
            <a:avLst/>
          </a:prstGeom>
          <a:solidFill>
            <a:srgbClr val="25A1A9"/>
          </a:solidFill>
          <a:ln w="12700">
            <a:solidFill>
              <a:srgbClr val="25A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FF066-06A0-4D5B-1085-1E8AA0D1A397}"/>
              </a:ext>
            </a:extLst>
          </p:cNvPr>
          <p:cNvSpPr/>
          <p:nvPr/>
        </p:nvSpPr>
        <p:spPr>
          <a:xfrm>
            <a:off x="9461500" y="4572000"/>
            <a:ext cx="3302000" cy="2794000"/>
          </a:xfrm>
          <a:prstGeom prst="rect">
            <a:avLst/>
          </a:prstGeom>
          <a:solidFill>
            <a:srgbClr val="CF2BCE"/>
          </a:solidFill>
          <a:ln w="12700">
            <a:solidFill>
              <a:srgbClr val="CF2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8A611-FE16-A89F-FEE9-08064CEC8C42}"/>
              </a:ext>
            </a:extLst>
          </p:cNvPr>
          <p:cNvSpPr txBox="1"/>
          <p:nvPr/>
        </p:nvSpPr>
        <p:spPr>
          <a:xfrm>
            <a:off x="787400" y="1498600"/>
            <a:ext cx="2286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7200" b="1">
                <a:solidFill>
                  <a:srgbClr val="4DD6E1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B3181-DE37-173E-9A2B-0E578B23DE57}"/>
              </a:ext>
            </a:extLst>
          </p:cNvPr>
          <p:cNvSpPr txBox="1"/>
          <p:nvPr/>
        </p:nvSpPr>
        <p:spPr>
          <a:xfrm>
            <a:off x="787400" y="2603500"/>
            <a:ext cx="9398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4200" b="1">
                <a:solidFill>
                  <a:srgbClr val="FFFFFF"/>
                </a:solidFill>
                <a:latin typeface="Aptos" panose="020B0004020202020204" pitchFamily="34" charset="0"/>
              </a:rPr>
              <a:t>Реализация на приложението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EFCC1-60B5-02FD-4667-1C4EC68AD20D}"/>
              </a:ext>
            </a:extLst>
          </p:cNvPr>
          <p:cNvSpPr txBox="1"/>
          <p:nvPr/>
        </p:nvSpPr>
        <p:spPr>
          <a:xfrm>
            <a:off x="838200" y="36322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>
                <a:solidFill>
                  <a:srgbClr val="CAF2F7"/>
                </a:solidFill>
                <a:latin typeface="Aptos" panose="020B0004020202020204" pitchFamily="34" charset="0"/>
              </a:rPr>
              <a:t>Екрани, потребителски поток, филтри, swipe логика и профилни постижения.</a:t>
            </a:r>
            <a:endParaRPr lang="bg-BG">
              <a:solidFill>
                <a:srgbClr val="CAF2F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019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2DAA15-1407-E56B-3976-F9159932354C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ПОТОК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643CC-FB24-9F4A-331F-868460BB6AFB}"/>
              </a:ext>
            </a:extLst>
          </p:cNvPr>
          <p:cNvSpPr txBox="1"/>
          <p:nvPr/>
        </p:nvSpPr>
        <p:spPr>
          <a:xfrm>
            <a:off x="685800" y="698500"/>
            <a:ext cx="965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Потребителският сценарий следва естествена последователност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59285-4E50-0C5E-2DD6-C47662528073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Всеки екран води към следващата стъпка от общото решение.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CAAC18-1D83-98E2-48A8-1F19BAF58D7E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8E99EA-0CCC-CE0A-BFAC-B80227DF6ED9}"/>
              </a:ext>
            </a:extLst>
          </p:cNvPr>
          <p:cNvSpPr/>
          <p:nvPr/>
        </p:nvSpPr>
        <p:spPr>
          <a:xfrm>
            <a:off x="736600" y="2667000"/>
            <a:ext cx="1524000" cy="1041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41792-5F55-26FB-3142-D5C35ACA56DF}"/>
              </a:ext>
            </a:extLst>
          </p:cNvPr>
          <p:cNvSpPr txBox="1"/>
          <p:nvPr/>
        </p:nvSpPr>
        <p:spPr>
          <a:xfrm>
            <a:off x="889000" y="2844800"/>
            <a:ext cx="25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7E44EB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D72351-B417-FB14-C9F9-676567679B97}"/>
              </a:ext>
            </a:extLst>
          </p:cNvPr>
          <p:cNvSpPr txBox="1"/>
          <p:nvPr/>
        </p:nvSpPr>
        <p:spPr>
          <a:xfrm>
            <a:off x="1219200" y="2819400"/>
            <a:ext cx="825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00" b="1">
                <a:solidFill>
                  <a:srgbClr val="111827"/>
                </a:solidFill>
                <a:latin typeface="Aptos" panose="020B0004020202020204" pitchFamily="34" charset="0"/>
              </a:rPr>
              <a:t>Вход / регистрация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33960B-8550-BB00-9470-7FD07A621B2F}"/>
              </a:ext>
            </a:extLst>
          </p:cNvPr>
          <p:cNvCxnSpPr/>
          <p:nvPr/>
        </p:nvCxnSpPr>
        <p:spPr>
          <a:xfrm>
            <a:off x="2286000" y="3187700"/>
            <a:ext cx="381000" cy="0"/>
          </a:xfrm>
          <a:prstGeom prst="line">
            <a:avLst/>
          </a:prstGeom>
          <a:ln w="2540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7C286A-16D5-5A8E-D26D-58476C0789C3}"/>
              </a:ext>
            </a:extLst>
          </p:cNvPr>
          <p:cNvSpPr/>
          <p:nvPr/>
        </p:nvSpPr>
        <p:spPr>
          <a:xfrm>
            <a:off x="2590800" y="2667000"/>
            <a:ext cx="1524000" cy="1041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4A39AC-DB56-0A86-7653-A4352F4E5CEA}"/>
              </a:ext>
            </a:extLst>
          </p:cNvPr>
          <p:cNvSpPr txBox="1"/>
          <p:nvPr/>
        </p:nvSpPr>
        <p:spPr>
          <a:xfrm>
            <a:off x="2743200" y="2844800"/>
            <a:ext cx="25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7E44E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440999-82F4-CF72-E55F-7C512EF93CA3}"/>
              </a:ext>
            </a:extLst>
          </p:cNvPr>
          <p:cNvSpPr txBox="1"/>
          <p:nvPr/>
        </p:nvSpPr>
        <p:spPr>
          <a:xfrm>
            <a:off x="3073400" y="2819400"/>
            <a:ext cx="825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00" b="1">
                <a:solidFill>
                  <a:srgbClr val="111827"/>
                </a:solidFill>
                <a:latin typeface="Aptos" panose="020B0004020202020204" pitchFamily="34" charset="0"/>
              </a:rPr>
              <a:t>Добавяне на приятели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E5AAFD-0E07-393B-7653-0C873C97728C}"/>
              </a:ext>
            </a:extLst>
          </p:cNvPr>
          <p:cNvCxnSpPr/>
          <p:nvPr/>
        </p:nvCxnSpPr>
        <p:spPr>
          <a:xfrm>
            <a:off x="4140200" y="3187700"/>
            <a:ext cx="381000" cy="0"/>
          </a:xfrm>
          <a:prstGeom prst="line">
            <a:avLst/>
          </a:prstGeom>
          <a:ln w="2540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44C5FC-069B-B4F4-989E-C70B79CF4811}"/>
              </a:ext>
            </a:extLst>
          </p:cNvPr>
          <p:cNvSpPr/>
          <p:nvPr/>
        </p:nvSpPr>
        <p:spPr>
          <a:xfrm>
            <a:off x="4445000" y="2667000"/>
            <a:ext cx="1524000" cy="1041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2FCC90-907E-A5F6-D227-440D446B5E90}"/>
              </a:ext>
            </a:extLst>
          </p:cNvPr>
          <p:cNvSpPr txBox="1"/>
          <p:nvPr/>
        </p:nvSpPr>
        <p:spPr>
          <a:xfrm>
            <a:off x="4597400" y="2844800"/>
            <a:ext cx="25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7E44E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C31C61-A0E9-6E44-2267-C6387E8577B4}"/>
              </a:ext>
            </a:extLst>
          </p:cNvPr>
          <p:cNvSpPr txBox="1"/>
          <p:nvPr/>
        </p:nvSpPr>
        <p:spPr>
          <a:xfrm>
            <a:off x="4927600" y="2819400"/>
            <a:ext cx="825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00" b="1">
                <a:solidFill>
                  <a:srgbClr val="111827"/>
                </a:solidFill>
                <a:latin typeface="Aptos" panose="020B0004020202020204" pitchFamily="34" charset="0"/>
              </a:rPr>
              <a:t>Избор на категория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C96956-8C51-9F93-24C2-1649E2E254C9}"/>
              </a:ext>
            </a:extLst>
          </p:cNvPr>
          <p:cNvCxnSpPr/>
          <p:nvPr/>
        </p:nvCxnSpPr>
        <p:spPr>
          <a:xfrm>
            <a:off x="5994400" y="3187700"/>
            <a:ext cx="381000" cy="0"/>
          </a:xfrm>
          <a:prstGeom prst="line">
            <a:avLst/>
          </a:prstGeom>
          <a:ln w="2540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6E4845-CEB2-A8E6-0431-39CEF99CCE54}"/>
              </a:ext>
            </a:extLst>
          </p:cNvPr>
          <p:cNvSpPr/>
          <p:nvPr/>
        </p:nvSpPr>
        <p:spPr>
          <a:xfrm>
            <a:off x="6299200" y="2667000"/>
            <a:ext cx="1524000" cy="1041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57D63A-8735-DBCA-33BB-B6B57CA64791}"/>
              </a:ext>
            </a:extLst>
          </p:cNvPr>
          <p:cNvSpPr txBox="1"/>
          <p:nvPr/>
        </p:nvSpPr>
        <p:spPr>
          <a:xfrm>
            <a:off x="6451600" y="2844800"/>
            <a:ext cx="25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7E44EB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3411DE-5F47-3AF0-16F3-0F4B1F2D831E}"/>
              </a:ext>
            </a:extLst>
          </p:cNvPr>
          <p:cNvSpPr txBox="1"/>
          <p:nvPr/>
        </p:nvSpPr>
        <p:spPr>
          <a:xfrm>
            <a:off x="6781800" y="2819400"/>
            <a:ext cx="825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00" b="1">
                <a:solidFill>
                  <a:srgbClr val="111827"/>
                </a:solidFill>
                <a:latin typeface="Aptos" panose="020B0004020202020204" pitchFamily="34" charset="0"/>
              </a:rPr>
              <a:t>Покани + филтри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2D0A7C-D59E-A7E2-72EA-AB6938DBAA74}"/>
              </a:ext>
            </a:extLst>
          </p:cNvPr>
          <p:cNvCxnSpPr/>
          <p:nvPr/>
        </p:nvCxnSpPr>
        <p:spPr>
          <a:xfrm>
            <a:off x="7848600" y="3187700"/>
            <a:ext cx="381000" cy="0"/>
          </a:xfrm>
          <a:prstGeom prst="line">
            <a:avLst/>
          </a:prstGeom>
          <a:ln w="2540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9F5A40B-16CF-A037-8F77-BD48AEA512DF}"/>
              </a:ext>
            </a:extLst>
          </p:cNvPr>
          <p:cNvSpPr/>
          <p:nvPr/>
        </p:nvSpPr>
        <p:spPr>
          <a:xfrm>
            <a:off x="8153400" y="2667000"/>
            <a:ext cx="1524000" cy="1041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298ADE-112F-1F58-5557-22D0E703925C}"/>
              </a:ext>
            </a:extLst>
          </p:cNvPr>
          <p:cNvSpPr txBox="1"/>
          <p:nvPr/>
        </p:nvSpPr>
        <p:spPr>
          <a:xfrm>
            <a:off x="8305800" y="2844800"/>
            <a:ext cx="25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7E44EB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EC59A9-A94C-1AB2-98C2-8A696712F33A}"/>
              </a:ext>
            </a:extLst>
          </p:cNvPr>
          <p:cNvSpPr txBox="1"/>
          <p:nvPr/>
        </p:nvSpPr>
        <p:spPr>
          <a:xfrm>
            <a:off x="8636000" y="2819400"/>
            <a:ext cx="825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111827"/>
                </a:solidFill>
                <a:latin typeface="Aptos" panose="020B0004020202020204" pitchFamily="34" charset="0"/>
              </a:rPr>
              <a:t>Swipe </a:t>
            </a:r>
            <a:r>
              <a:rPr lang="bg-BG" sz="1200" b="1">
                <a:solidFill>
                  <a:srgbClr val="111827"/>
                </a:solidFill>
                <a:latin typeface="Aptos" panose="020B0004020202020204" pitchFamily="34" charset="0"/>
              </a:rPr>
              <a:t>гласуване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806000-6FA4-32E8-09FB-98FCCEF8D06F}"/>
              </a:ext>
            </a:extLst>
          </p:cNvPr>
          <p:cNvCxnSpPr/>
          <p:nvPr/>
        </p:nvCxnSpPr>
        <p:spPr>
          <a:xfrm>
            <a:off x="9702800" y="3187700"/>
            <a:ext cx="381000" cy="0"/>
          </a:xfrm>
          <a:prstGeom prst="line">
            <a:avLst/>
          </a:prstGeom>
          <a:ln w="25400">
            <a:solidFill>
              <a:srgbClr val="25A1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F8252D5-F368-88AB-0511-CA0DCD2E9E92}"/>
              </a:ext>
            </a:extLst>
          </p:cNvPr>
          <p:cNvSpPr/>
          <p:nvPr/>
        </p:nvSpPr>
        <p:spPr>
          <a:xfrm>
            <a:off x="10007600" y="2667000"/>
            <a:ext cx="1524000" cy="1041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8BA583-FCA7-8B66-AF66-34E73B039F03}"/>
              </a:ext>
            </a:extLst>
          </p:cNvPr>
          <p:cNvSpPr txBox="1"/>
          <p:nvPr/>
        </p:nvSpPr>
        <p:spPr>
          <a:xfrm>
            <a:off x="10160000" y="2844800"/>
            <a:ext cx="25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7E44EB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0296DD-2C6A-644A-E7F7-7727A81C0BAC}"/>
              </a:ext>
            </a:extLst>
          </p:cNvPr>
          <p:cNvSpPr txBox="1"/>
          <p:nvPr/>
        </p:nvSpPr>
        <p:spPr>
          <a:xfrm>
            <a:off x="10490200" y="2819400"/>
            <a:ext cx="825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111827"/>
                </a:solidFill>
                <a:latin typeface="Aptos" panose="020B0004020202020204" pitchFamily="34" charset="0"/>
              </a:rPr>
              <a:t>Match + </a:t>
            </a:r>
            <a:r>
              <a:rPr lang="bg-BG" sz="1200" b="1">
                <a:solidFill>
                  <a:srgbClr val="111827"/>
                </a:solidFill>
                <a:latin typeface="Aptos" panose="020B0004020202020204" pitchFamily="34" charset="0"/>
              </a:rPr>
              <a:t>история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6834F10-4F7C-B750-AA68-04D902619EF2}"/>
              </a:ext>
            </a:extLst>
          </p:cNvPr>
          <p:cNvSpPr/>
          <p:nvPr/>
        </p:nvSpPr>
        <p:spPr>
          <a:xfrm>
            <a:off x="1422400" y="4445000"/>
            <a:ext cx="9271000" cy="787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C7E71C-AAC1-3C07-9682-A9DDC2004439}"/>
              </a:ext>
            </a:extLst>
          </p:cNvPr>
          <p:cNvSpPr txBox="1"/>
          <p:nvPr/>
        </p:nvSpPr>
        <p:spPr>
          <a:xfrm>
            <a:off x="1727200" y="46736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111827"/>
                </a:solidFill>
                <a:latin typeface="Aptos" panose="020B0004020202020204" pitchFamily="34" charset="0"/>
              </a:rPr>
              <a:t>Груповата логика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B851E6-1842-F6E4-4A26-FEDF423876B1}"/>
              </a:ext>
            </a:extLst>
          </p:cNvPr>
          <p:cNvSpPr txBox="1"/>
          <p:nvPr/>
        </p:nvSpPr>
        <p:spPr>
          <a:xfrm>
            <a:off x="4000500" y="4673600"/>
            <a:ext cx="596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111827"/>
                </a:solidFill>
                <a:latin typeface="Aptos" panose="020B0004020202020204" pitchFamily="34" charset="0"/>
              </a:rPr>
              <a:t>Сесията не е самостоятелна: създателят избира приятели, те приемат поканата, задават свои филтри и след това всички гласуват.</a:t>
            </a:r>
            <a:endParaRPr lang="bg-BG" sz="12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2930AD-D051-4958-CA3F-81576E823EDF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704B67-F4DF-100E-009E-7398943E5014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0451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A3C91-B041-CA2F-BC7D-E6ED1301EB20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ЕКРАНИ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3F7D82-1DCE-641B-E545-87FC52D3B9B7}"/>
              </a:ext>
            </a:extLst>
          </p:cNvPr>
          <p:cNvSpPr txBox="1"/>
          <p:nvPr/>
        </p:nvSpPr>
        <p:spPr>
          <a:xfrm>
            <a:off x="685800" y="6985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Начало, приятели и създаване на сесия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30EC7-748B-A29C-A240-2CFD1A2F9918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Основните екрани са проектирани за бърз избор с големи touch зони и ясно разделение на действията.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B030C2-A15D-78DB-F854-9C0F9A22E475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C8DED5-4131-10E1-AAF7-8329226B665F}"/>
              </a:ext>
            </a:extLst>
          </p:cNvPr>
          <p:cNvSpPr/>
          <p:nvPr/>
        </p:nvSpPr>
        <p:spPr>
          <a:xfrm>
            <a:off x="889000" y="1905000"/>
            <a:ext cx="31115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049440-353B-26BC-0526-270EA30C0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310" y="2825553"/>
            <a:ext cx="1008880" cy="2045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26E2A5-F3DA-5116-6194-A2B331481029}"/>
              </a:ext>
            </a:extLst>
          </p:cNvPr>
          <p:cNvSpPr txBox="1"/>
          <p:nvPr/>
        </p:nvSpPr>
        <p:spPr>
          <a:xfrm>
            <a:off x="1143000" y="5765800"/>
            <a:ext cx="254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Начален екран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E89365-A100-7ECE-1690-D2A4814A5DA3}"/>
              </a:ext>
            </a:extLst>
          </p:cNvPr>
          <p:cNvSpPr/>
          <p:nvPr/>
        </p:nvSpPr>
        <p:spPr>
          <a:xfrm>
            <a:off x="4508500" y="1905000"/>
            <a:ext cx="31115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F9E300-5178-EAB2-E11B-B6D7D3ED7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078" y="2893955"/>
            <a:ext cx="930345" cy="19082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121EA6-24B7-DC78-370B-FC45CA4CAF4E}"/>
              </a:ext>
            </a:extLst>
          </p:cNvPr>
          <p:cNvSpPr txBox="1"/>
          <p:nvPr/>
        </p:nvSpPr>
        <p:spPr>
          <a:xfrm>
            <a:off x="4762500" y="5765800"/>
            <a:ext cx="254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Приятели екран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62E85C-65A0-3A49-EB36-8F48725FFF56}"/>
              </a:ext>
            </a:extLst>
          </p:cNvPr>
          <p:cNvSpPr/>
          <p:nvPr/>
        </p:nvSpPr>
        <p:spPr>
          <a:xfrm>
            <a:off x="8128000" y="1905000"/>
            <a:ext cx="31115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63088EF-1692-1A8E-FCBD-F1C382D3C3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938" y="2866122"/>
            <a:ext cx="955624" cy="19639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2F9FC54-24F2-7C66-71B9-A230A81598F0}"/>
              </a:ext>
            </a:extLst>
          </p:cNvPr>
          <p:cNvSpPr txBox="1"/>
          <p:nvPr/>
        </p:nvSpPr>
        <p:spPr>
          <a:xfrm>
            <a:off x="8382000" y="5765800"/>
            <a:ext cx="254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 panose="020B0004020202020204" pitchFamily="34" charset="0"/>
              </a:rPr>
              <a:t>Session </a:t>
            </a:r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екран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9A35CE-9D3F-728D-A3D8-6D8FD901D3AD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F7899C-CC38-D153-894B-16DEAB7314E7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08990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8E9867-4A5F-207E-7C99-C6296B3B5F82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ФУНКЦИИ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960435-4BCA-517D-7CB3-6778A97204F6}"/>
              </a:ext>
            </a:extLst>
          </p:cNvPr>
          <p:cNvSpPr txBox="1"/>
          <p:nvPr/>
        </p:nvSpPr>
        <p:spPr>
          <a:xfrm>
            <a:off x="685800" y="698500"/>
            <a:ext cx="965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Филтрите и историята превръщат избора в проследим процес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231B2-EF3F-ABD7-F39A-09DECC6F4443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Потребителят не просто гласува, а задава критерии и получава видим резултат.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FBD185-EAC1-2242-FDE4-30B0FC838201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D3EDF6-1FAD-07AC-9887-FEF5AAD8F852}"/>
              </a:ext>
            </a:extLst>
          </p:cNvPr>
          <p:cNvSpPr/>
          <p:nvPr/>
        </p:nvSpPr>
        <p:spPr>
          <a:xfrm>
            <a:off x="838200" y="2006600"/>
            <a:ext cx="3302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6C3F20-3326-D490-E70B-39409F733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95" y="2372073"/>
            <a:ext cx="2436210" cy="23932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F070B6-07A9-5EAA-2691-90CA46DA2499}"/>
              </a:ext>
            </a:extLst>
          </p:cNvPr>
          <p:cNvSpPr txBox="1"/>
          <p:nvPr/>
        </p:nvSpPr>
        <p:spPr>
          <a:xfrm>
            <a:off x="1092200" y="5143500"/>
            <a:ext cx="2413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600" b="1">
                <a:solidFill>
                  <a:srgbClr val="111827"/>
                </a:solidFill>
                <a:latin typeface="Aptos" panose="020B0004020202020204" pitchFamily="34" charset="0"/>
              </a:rPr>
              <a:t>Детайли за сесия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5B9FDE-D8A0-5CF9-30C1-40A9DB3D3F4E}"/>
              </a:ext>
            </a:extLst>
          </p:cNvPr>
          <p:cNvSpPr txBox="1"/>
          <p:nvPr/>
        </p:nvSpPr>
        <p:spPr>
          <a:xfrm>
            <a:off x="1092200" y="5461000"/>
            <a:ext cx="254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Показва участници, гласувания и използваните обединени филтри.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A502A7-6E4F-C4C7-90E8-D22141933767}"/>
              </a:ext>
            </a:extLst>
          </p:cNvPr>
          <p:cNvSpPr/>
          <p:nvPr/>
        </p:nvSpPr>
        <p:spPr>
          <a:xfrm>
            <a:off x="4572000" y="2006600"/>
            <a:ext cx="2984500" cy="3810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5F14E8-1B69-53E4-90D3-0E687BD3D78B}"/>
              </a:ext>
            </a:extLst>
          </p:cNvPr>
          <p:cNvSpPr txBox="1"/>
          <p:nvPr/>
        </p:nvSpPr>
        <p:spPr>
          <a:xfrm>
            <a:off x="4927600" y="23495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111827"/>
                </a:solidFill>
                <a:latin typeface="Aptos" panose="020B0004020202020204" pitchFamily="34" charset="0"/>
              </a:rPr>
              <a:t>Филтри по категория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5639B0-854F-E8FC-BE9D-48E88CDA34F8}"/>
              </a:ext>
            </a:extLst>
          </p:cNvPr>
          <p:cNvSpPr txBox="1"/>
          <p:nvPr/>
        </p:nvSpPr>
        <p:spPr>
          <a:xfrm>
            <a:off x="4927600" y="2895600"/>
            <a:ext cx="2159000" cy="17081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200">
                <a:solidFill>
                  <a:srgbClr val="111827"/>
                </a:solidFill>
                <a:latin typeface="Aptos" panose="020B0004020202020204" pitchFamily="34" charset="0"/>
              </a:rPr>
              <a:t>Филми: жанрове, рейтинг, година.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200">
                <a:solidFill>
                  <a:srgbClr val="111827"/>
                </a:solidFill>
                <a:latin typeface="Aptos" panose="020B0004020202020204" pitchFamily="34" charset="0"/>
              </a:rPr>
              <a:t>Ресторанти: град, квартал, кухня, рейтинг.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200">
                <a:solidFill>
                  <a:srgbClr val="111827"/>
                </a:solidFill>
                <a:latin typeface="Aptos" panose="020B0004020202020204" pitchFamily="34" charset="0"/>
              </a:rPr>
              <a:t>Рецепти: кухня, тип храна, съставки, сложност.</a:t>
            </a:r>
          </a:p>
          <a:p>
            <a:pPr marL="203200" indent="-152400">
              <a:spcAft>
                <a:spcPts val="600"/>
              </a:spcAft>
              <a:buFont typeface="+mj-lt"/>
              <a:buAutoNum type="arabicPeriod"/>
            </a:pPr>
            <a:r>
              <a:rPr lang="ru-RU" sz="1200">
                <a:solidFill>
                  <a:srgbClr val="111827"/>
                </a:solidFill>
                <a:latin typeface="Aptos" panose="020B0004020202020204" pitchFamily="34" charset="0"/>
              </a:rPr>
              <a:t>Игри: тип, играчи, времетраене, рейтинг.</a:t>
            </a:r>
            <a:endParaRPr lang="bg-BG" sz="12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15D57A-E553-94A5-CED7-8AF3E360F8EB}"/>
              </a:ext>
            </a:extLst>
          </p:cNvPr>
          <p:cNvSpPr/>
          <p:nvPr/>
        </p:nvSpPr>
        <p:spPr>
          <a:xfrm>
            <a:off x="8001000" y="2006600"/>
            <a:ext cx="3111500" cy="381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063AAD-F7C2-2184-881E-5837FB3FD1F3}"/>
              </a:ext>
            </a:extLst>
          </p:cNvPr>
          <p:cNvSpPr txBox="1"/>
          <p:nvPr/>
        </p:nvSpPr>
        <p:spPr>
          <a:xfrm>
            <a:off x="8356600" y="2349500"/>
            <a:ext cx="2159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b="1">
                <a:solidFill>
                  <a:srgbClr val="111827"/>
                </a:solidFill>
                <a:latin typeface="Aptos" panose="020B0004020202020204" pitchFamily="34" charset="0"/>
              </a:rPr>
              <a:t>Демо видеа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C12AF4-C327-9E1D-DC71-825844B2DA0B}"/>
              </a:ext>
            </a:extLst>
          </p:cNvPr>
          <p:cNvSpPr txBox="1"/>
          <p:nvPr/>
        </p:nvSpPr>
        <p:spPr>
          <a:xfrm>
            <a:off x="8356600" y="2895600"/>
            <a:ext cx="2159000" cy="12926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111827"/>
                </a:solidFill>
                <a:latin typeface="Aptos" panose="020B0004020202020204" pitchFamily="34" charset="0"/>
              </a:rPr>
              <a:t>В папката с материали са подготвени кратки видеа за филтрите, профила и историята. При представяне могат да се покажат след слайда или директно от приложението.</a:t>
            </a:r>
            <a:endParaRPr lang="bg-BG" sz="12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53BECF-C710-E546-2402-0371E39409A6}"/>
              </a:ext>
            </a:extLst>
          </p:cNvPr>
          <p:cNvSpPr txBox="1"/>
          <p:nvPr/>
        </p:nvSpPr>
        <p:spPr>
          <a:xfrm>
            <a:off x="8356600" y="45720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Файлове: филми, ресторанти, рецепти, настолни игри, профил, история.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A217B6-62BC-ECD8-03B3-530DE9311833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FB393A-2BAB-D10A-CE34-D4408D51426C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76383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28DEFE-C738-5B8F-500C-9E011F738386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ПРОФИЛ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31A03-CFCC-B88E-C1B7-12931875B5DD}"/>
              </a:ext>
            </a:extLst>
          </p:cNvPr>
          <p:cNvSpPr txBox="1"/>
          <p:nvPr/>
        </p:nvSpPr>
        <p:spPr>
          <a:xfrm>
            <a:off x="685800" y="6985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Значките показват активността на потребителя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B1D2B-E7A2-8124-B37A-BCF6035A6F18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Те визуализират напредък и насърчават използването на приложението.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779094-5EAD-832F-4489-8EC2FFB43872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29F652-1BAD-9035-8118-9338DEF1C05A}"/>
              </a:ext>
            </a:extLst>
          </p:cNvPr>
          <p:cNvSpPr/>
          <p:nvPr/>
        </p:nvSpPr>
        <p:spPr>
          <a:xfrm>
            <a:off x="762000" y="1968500"/>
            <a:ext cx="3556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7EFAB-D6C4-C3BB-0523-947F88302067}"/>
              </a:ext>
            </a:extLst>
          </p:cNvPr>
          <p:cNvSpPr txBox="1"/>
          <p:nvPr/>
        </p:nvSpPr>
        <p:spPr>
          <a:xfrm>
            <a:off x="1168400" y="2336800"/>
            <a:ext cx="2413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400" b="1">
                <a:solidFill>
                  <a:srgbClr val="111827"/>
                </a:solidFill>
                <a:latin typeface="Aptos" panose="020B0004020202020204" pitchFamily="34" charset="0"/>
              </a:rPr>
              <a:t>Профил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468C4-E988-1948-EB8F-E902B9A544C3}"/>
              </a:ext>
            </a:extLst>
          </p:cNvPr>
          <p:cNvSpPr txBox="1"/>
          <p:nvPr/>
        </p:nvSpPr>
        <p:spPr>
          <a:xfrm>
            <a:off x="1168400" y="2895600"/>
            <a:ext cx="2540000" cy="10002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300">
                <a:solidFill>
                  <a:srgbClr val="64748B"/>
                </a:solidFill>
                <a:latin typeface="Aptos" panose="020B0004020202020204" pitchFamily="34" charset="0"/>
              </a:rPr>
              <a:t>Потребителят може да редактира име, кратко описание и URL за профилна снимка. Показват се статистики за match-ове, сесии и действия.</a:t>
            </a:r>
            <a:endParaRPr lang="bg-BG" sz="13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D2618-FE4D-6073-4EE4-703624D9DBA7}"/>
              </a:ext>
            </a:extLst>
          </p:cNvPr>
          <p:cNvSpPr txBox="1"/>
          <p:nvPr/>
        </p:nvSpPr>
        <p:spPr>
          <a:xfrm>
            <a:off x="1168400" y="4318000"/>
            <a:ext cx="254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300" b="1">
                <a:solidFill>
                  <a:srgbClr val="111827"/>
                </a:solidFill>
                <a:latin typeface="Aptos" panose="020B0004020202020204" pitchFamily="34" charset="0"/>
              </a:rPr>
              <a:t>Постиженията се показват като значки и прогрес ленти.</a:t>
            </a:r>
            <a:endParaRPr lang="bg-BG" sz="13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94CA48-DFFC-7D7B-9318-43CC70AA9543}"/>
              </a:ext>
            </a:extLst>
          </p:cNvPr>
          <p:cNvSpPr/>
          <p:nvPr/>
        </p:nvSpPr>
        <p:spPr>
          <a:xfrm>
            <a:off x="4953000" y="2032000"/>
            <a:ext cx="5715000" cy="609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D92E89-A146-0649-7598-CA2400442B32}"/>
              </a:ext>
            </a:extLst>
          </p:cNvPr>
          <p:cNvSpPr txBox="1"/>
          <p:nvPr/>
        </p:nvSpPr>
        <p:spPr>
          <a:xfrm>
            <a:off x="5207000" y="21463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Reviewer Level 1</a:t>
            </a:r>
            <a:endParaRPr lang="bg-BG" sz="13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FF7DBC-38E0-C96E-35EC-7566510EF857}"/>
              </a:ext>
            </a:extLst>
          </p:cNvPr>
          <p:cNvSpPr txBox="1"/>
          <p:nvPr/>
        </p:nvSpPr>
        <p:spPr>
          <a:xfrm>
            <a:off x="7302500" y="21463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активност и създаване на решения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196DC7-A697-E84B-E615-612A38327A5C}"/>
              </a:ext>
            </a:extLst>
          </p:cNvPr>
          <p:cNvSpPr/>
          <p:nvPr/>
        </p:nvSpPr>
        <p:spPr>
          <a:xfrm>
            <a:off x="4953000" y="2768600"/>
            <a:ext cx="5715000" cy="609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02FC4-9DDD-F3FB-D054-9571992F007B}"/>
              </a:ext>
            </a:extLst>
          </p:cNvPr>
          <p:cNvSpPr txBox="1"/>
          <p:nvPr/>
        </p:nvSpPr>
        <p:spPr>
          <a:xfrm>
            <a:off x="5207000" y="28829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Active User</a:t>
            </a:r>
            <a:endParaRPr lang="bg-BG" sz="13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1FF796-E711-1EA9-9266-2D146E1B7699}"/>
              </a:ext>
            </a:extLst>
          </p:cNvPr>
          <p:cNvSpPr txBox="1"/>
          <p:nvPr/>
        </p:nvSpPr>
        <p:spPr>
          <a:xfrm>
            <a:off x="7302500" y="28829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00">
                <a:solidFill>
                  <a:srgbClr val="64748B"/>
                </a:solidFill>
                <a:latin typeface="Aptos" panose="020B0004020202020204" pitchFamily="34" charset="0"/>
              </a:rPr>
              <a:t>създаване на сесии и редовно гласуване</a:t>
            </a:r>
            <a:endParaRPr lang="bg-BG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EE5B0C3-CC4C-E1EB-1882-2FAB9651164A}"/>
              </a:ext>
            </a:extLst>
          </p:cNvPr>
          <p:cNvSpPr/>
          <p:nvPr/>
        </p:nvSpPr>
        <p:spPr>
          <a:xfrm>
            <a:off x="4953000" y="3505200"/>
            <a:ext cx="5715000" cy="609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556466-2E7B-8751-C1F5-FBBB25CD0CD8}"/>
              </a:ext>
            </a:extLst>
          </p:cNvPr>
          <p:cNvSpPr txBox="1"/>
          <p:nvPr/>
        </p:nvSpPr>
        <p:spPr>
          <a:xfrm>
            <a:off x="5207000" y="36195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Session Builder</a:t>
            </a:r>
            <a:endParaRPr lang="bg-BG" sz="13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74E82A-21A1-954D-1D30-BE00FAC6678C}"/>
              </a:ext>
            </a:extLst>
          </p:cNvPr>
          <p:cNvSpPr txBox="1"/>
          <p:nvPr/>
        </p:nvSpPr>
        <p:spPr>
          <a:xfrm>
            <a:off x="7302500" y="36195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>
                <a:solidFill>
                  <a:srgbClr val="64748B"/>
                </a:solidFill>
                <a:latin typeface="Aptos" panose="020B0004020202020204" pitchFamily="34" charset="0"/>
              </a:rPr>
              <a:t>прогрес към 50 сесии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32F2B7-B4C7-5D9E-F4E7-20CDF20DCC7A}"/>
              </a:ext>
            </a:extLst>
          </p:cNvPr>
          <p:cNvSpPr/>
          <p:nvPr/>
        </p:nvSpPr>
        <p:spPr>
          <a:xfrm>
            <a:off x="4953000" y="4241800"/>
            <a:ext cx="5715000" cy="609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1831D8-FF3B-5425-C35C-8EBCD7EB3AC9}"/>
              </a:ext>
            </a:extLst>
          </p:cNvPr>
          <p:cNvSpPr txBox="1"/>
          <p:nvPr/>
        </p:nvSpPr>
        <p:spPr>
          <a:xfrm>
            <a:off x="5207000" y="43561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Super User</a:t>
            </a:r>
            <a:endParaRPr lang="bg-BG" sz="13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8B3661-4E6D-D6DD-F957-B43B77A9C549}"/>
              </a:ext>
            </a:extLst>
          </p:cNvPr>
          <p:cNvSpPr txBox="1"/>
          <p:nvPr/>
        </p:nvSpPr>
        <p:spPr>
          <a:xfrm>
            <a:off x="7302500" y="43561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>
                <a:solidFill>
                  <a:srgbClr val="64748B"/>
                </a:solidFill>
                <a:latin typeface="Aptos" panose="020B0004020202020204" pitchFamily="34" charset="0"/>
              </a:rPr>
              <a:t>прогрес към 100 действия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0F7A09-697A-28DF-C60E-657A7247EBEC}"/>
              </a:ext>
            </a:extLst>
          </p:cNvPr>
          <p:cNvSpPr/>
          <p:nvPr/>
        </p:nvSpPr>
        <p:spPr>
          <a:xfrm>
            <a:off x="4953000" y="4978400"/>
            <a:ext cx="5715000" cy="609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57985-6B51-E160-25D4-5BB10BB652E8}"/>
              </a:ext>
            </a:extLst>
          </p:cNvPr>
          <p:cNvSpPr txBox="1"/>
          <p:nvPr/>
        </p:nvSpPr>
        <p:spPr>
          <a:xfrm>
            <a:off x="5207000" y="50927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Match Master</a:t>
            </a:r>
            <a:endParaRPr lang="bg-BG" sz="13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803ED0-F1FD-8461-D2BF-0D24220301AB}"/>
              </a:ext>
            </a:extLst>
          </p:cNvPr>
          <p:cNvSpPr txBox="1"/>
          <p:nvPr/>
        </p:nvSpPr>
        <p:spPr>
          <a:xfrm>
            <a:off x="7302500" y="50927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>
                <a:solidFill>
                  <a:srgbClr val="64748B"/>
                </a:solidFill>
                <a:latin typeface="Aptos" panose="020B0004020202020204" pitchFamily="34" charset="0"/>
              </a:rPr>
              <a:t>прогрес към 25 съвпадения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CD9561-0623-FC5A-0812-B0867E2B8DEA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F499E6-58B5-7E9E-A61A-B4BE81627B6C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29447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CD2AAF-C90D-34F8-65DD-B43A3140D1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8148FE-05E0-45E9-099D-E376D3BF03B7}"/>
              </a:ext>
            </a:extLst>
          </p:cNvPr>
          <p:cNvSpPr/>
          <p:nvPr/>
        </p:nvSpPr>
        <p:spPr>
          <a:xfrm>
            <a:off x="8509000" y="-889000"/>
            <a:ext cx="4572000" cy="3302000"/>
          </a:xfrm>
          <a:prstGeom prst="rect">
            <a:avLst/>
          </a:prstGeom>
          <a:solidFill>
            <a:srgbClr val="25A1A9"/>
          </a:solidFill>
          <a:ln w="12700">
            <a:solidFill>
              <a:srgbClr val="25A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9EBA3E-C090-54D7-4BEB-2C3810B7B2C8}"/>
              </a:ext>
            </a:extLst>
          </p:cNvPr>
          <p:cNvSpPr/>
          <p:nvPr/>
        </p:nvSpPr>
        <p:spPr>
          <a:xfrm>
            <a:off x="9461500" y="4572000"/>
            <a:ext cx="3302000" cy="2794000"/>
          </a:xfrm>
          <a:prstGeom prst="rect">
            <a:avLst/>
          </a:prstGeom>
          <a:solidFill>
            <a:srgbClr val="CF2BCE"/>
          </a:solidFill>
          <a:ln w="12700">
            <a:solidFill>
              <a:srgbClr val="CF2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7CE53-C86F-51B0-A768-EC3F924C5AF6}"/>
              </a:ext>
            </a:extLst>
          </p:cNvPr>
          <p:cNvSpPr txBox="1"/>
          <p:nvPr/>
        </p:nvSpPr>
        <p:spPr>
          <a:xfrm>
            <a:off x="787400" y="1498600"/>
            <a:ext cx="2286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7200" b="1">
                <a:solidFill>
                  <a:srgbClr val="4DD6E1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123AD2-CDA1-0064-1DCE-92BB2AB12911}"/>
              </a:ext>
            </a:extLst>
          </p:cNvPr>
          <p:cNvSpPr txBox="1"/>
          <p:nvPr/>
        </p:nvSpPr>
        <p:spPr>
          <a:xfrm>
            <a:off x="787400" y="2603500"/>
            <a:ext cx="9398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4200" b="1">
                <a:solidFill>
                  <a:srgbClr val="FFFFFF"/>
                </a:solidFill>
                <a:latin typeface="Aptos" panose="020B0004020202020204" pitchFamily="34" charset="0"/>
              </a:rPr>
              <a:t>Резултати и бъдещо развитие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4CE98-F708-88FE-9CC4-A3BF0AD80F85}"/>
              </a:ext>
            </a:extLst>
          </p:cNvPr>
          <p:cNvSpPr txBox="1"/>
          <p:nvPr/>
        </p:nvSpPr>
        <p:spPr>
          <a:xfrm>
            <a:off x="838200" y="36322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>
                <a:solidFill>
                  <a:srgbClr val="CAF2F7"/>
                </a:solidFill>
                <a:latin typeface="Aptos" panose="020B0004020202020204" pitchFamily="34" charset="0"/>
              </a:rPr>
              <a:t>Какво е постигнато и как системата може да бъде надградена.</a:t>
            </a:r>
            <a:endParaRPr lang="bg-BG">
              <a:solidFill>
                <a:srgbClr val="CAF2F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92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D540C3-1E69-F835-015D-5D2BE70E3086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РЕЗУЛТАТИ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FC2FE-2F48-7437-9784-889EB9D7238B}"/>
              </a:ext>
            </a:extLst>
          </p:cNvPr>
          <p:cNvSpPr txBox="1"/>
          <p:nvPr/>
        </p:nvSpPr>
        <p:spPr>
          <a:xfrm>
            <a:off x="685800" y="6985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Проектът е работещ клиент-сървър прототип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B6FF6-7F00-61B4-5731-23AEEB42C729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Системата може да бъде демонстрирана с реални акаунти, cloud база данни и инсталиран Android APK.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C29E14-1962-1676-A3FC-AD8119D06F48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5A86E0-81A9-5CF8-FFCC-D3E6F6D6B012}"/>
              </a:ext>
            </a:extLst>
          </p:cNvPr>
          <p:cNvSpPr/>
          <p:nvPr/>
        </p:nvSpPr>
        <p:spPr>
          <a:xfrm>
            <a:off x="889000" y="2032000"/>
            <a:ext cx="10160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FE53F-3DA6-C985-F1B6-5E97CB6AAA9A}"/>
              </a:ext>
            </a:extLst>
          </p:cNvPr>
          <p:cNvSpPr txBox="1"/>
          <p:nvPr/>
        </p:nvSpPr>
        <p:spPr>
          <a:xfrm>
            <a:off x="1168400" y="2159000"/>
            <a:ext cx="1841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 b="1">
                <a:solidFill>
                  <a:srgbClr val="25A1A9"/>
                </a:solidFill>
                <a:latin typeface="Aptos" panose="020B0004020202020204" pitchFamily="34" charset="0"/>
              </a:rPr>
              <a:t>Мобилно приложение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25531E-8A1C-364C-DBAB-4CEDECB449D7}"/>
              </a:ext>
            </a:extLst>
          </p:cNvPr>
          <p:cNvSpPr txBox="1"/>
          <p:nvPr/>
        </p:nvSpPr>
        <p:spPr>
          <a:xfrm>
            <a:off x="3111500" y="2159000"/>
            <a:ext cx="711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100">
                <a:solidFill>
                  <a:srgbClr val="111827"/>
                </a:solidFill>
                <a:latin typeface="Aptos" panose="020B0004020202020204" pitchFamily="34" charset="0"/>
              </a:rPr>
              <a:t>готови екрани за вход, регистрация, начало, приятели, сесии, swipe, история, профил и администрация</a:t>
            </a:r>
            <a:endParaRPr lang="bg-BG" sz="11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0245BA-39BE-2D33-CA79-A3DC2C9BAFBA}"/>
              </a:ext>
            </a:extLst>
          </p:cNvPr>
          <p:cNvSpPr/>
          <p:nvPr/>
        </p:nvSpPr>
        <p:spPr>
          <a:xfrm>
            <a:off x="889000" y="2768600"/>
            <a:ext cx="10160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16AFC-AE7C-19AE-134A-DE57C24E8219}"/>
              </a:ext>
            </a:extLst>
          </p:cNvPr>
          <p:cNvSpPr txBox="1"/>
          <p:nvPr/>
        </p:nvSpPr>
        <p:spPr>
          <a:xfrm>
            <a:off x="1168400" y="2895600"/>
            <a:ext cx="1841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25A1A9"/>
                </a:solidFill>
                <a:latin typeface="Aptos" panose="020B0004020202020204" pitchFamily="34" charset="0"/>
              </a:rPr>
              <a:t>Backend API</a:t>
            </a:r>
            <a:endParaRPr lang="bg-BG" sz="1400" b="1">
              <a:solidFill>
                <a:srgbClr val="25A1A9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750431-F7C3-D5AD-4018-9CFE37FE2593}"/>
              </a:ext>
            </a:extLst>
          </p:cNvPr>
          <p:cNvSpPr txBox="1"/>
          <p:nvPr/>
        </p:nvSpPr>
        <p:spPr>
          <a:xfrm>
            <a:off x="3111500" y="2895600"/>
            <a:ext cx="711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100">
                <a:solidFill>
                  <a:srgbClr val="111827"/>
                </a:solidFill>
                <a:latin typeface="Aptos" panose="020B0004020202020204" pitchFamily="34" charset="0"/>
              </a:rPr>
              <a:t>контролери за </a:t>
            </a:r>
            <a:r>
              <a:rPr lang="en-US" sz="1100">
                <a:solidFill>
                  <a:srgbClr val="111827"/>
                </a:solidFill>
                <a:latin typeface="Aptos" panose="020B0004020202020204" pitchFamily="34" charset="0"/>
              </a:rPr>
              <a:t>auth, profile, friends, sessions, filters, catalog </a:t>
            </a:r>
            <a:r>
              <a:rPr lang="bg-BG" sz="1100">
                <a:solidFill>
                  <a:srgbClr val="111827"/>
                </a:solidFill>
                <a:latin typeface="Aptos" panose="020B0004020202020204" pitchFamily="34" charset="0"/>
              </a:rPr>
              <a:t>и </a:t>
            </a:r>
            <a:r>
              <a:rPr lang="en-US" sz="1100">
                <a:solidFill>
                  <a:srgbClr val="111827"/>
                </a:solidFill>
                <a:latin typeface="Aptos" panose="020B0004020202020204" pitchFamily="34" charset="0"/>
              </a:rPr>
              <a:t>admin </a:t>
            </a:r>
            <a:r>
              <a:rPr lang="bg-BG" sz="1100">
                <a:solidFill>
                  <a:srgbClr val="111827"/>
                </a:solidFill>
                <a:latin typeface="Aptos" panose="020B0004020202020204" pitchFamily="34" charset="0"/>
              </a:rPr>
              <a:t>операции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9D586F-E1CA-41CC-AE57-934BE98C3847}"/>
              </a:ext>
            </a:extLst>
          </p:cNvPr>
          <p:cNvSpPr/>
          <p:nvPr/>
        </p:nvSpPr>
        <p:spPr>
          <a:xfrm>
            <a:off x="889000" y="3505200"/>
            <a:ext cx="10160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170D3F-B0B1-9B41-C9F6-F74619A3354A}"/>
              </a:ext>
            </a:extLst>
          </p:cNvPr>
          <p:cNvSpPr txBox="1"/>
          <p:nvPr/>
        </p:nvSpPr>
        <p:spPr>
          <a:xfrm>
            <a:off x="1168400" y="3632200"/>
            <a:ext cx="1841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 b="1">
                <a:solidFill>
                  <a:srgbClr val="25A1A9"/>
                </a:solidFill>
                <a:latin typeface="Aptos" panose="020B0004020202020204" pitchFamily="34" charset="0"/>
              </a:rPr>
              <a:t>База данни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763034-D25D-2F53-B7CB-5D37CEF06FCB}"/>
              </a:ext>
            </a:extLst>
          </p:cNvPr>
          <p:cNvSpPr txBox="1"/>
          <p:nvPr/>
        </p:nvSpPr>
        <p:spPr>
          <a:xfrm>
            <a:off x="3111500" y="3632200"/>
            <a:ext cx="711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100">
                <a:solidFill>
                  <a:srgbClr val="111827"/>
                </a:solidFill>
                <a:latin typeface="Aptos" panose="020B0004020202020204" pitchFamily="34" charset="0"/>
              </a:rPr>
              <a:t>PostgreSQL със структури за потребители, приятели, сесии, филтри, гласове, match и каталог</a:t>
            </a:r>
            <a:endParaRPr lang="bg-BG" sz="11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52C573-B596-A37E-E3FE-407B16838C4A}"/>
              </a:ext>
            </a:extLst>
          </p:cNvPr>
          <p:cNvSpPr/>
          <p:nvPr/>
        </p:nvSpPr>
        <p:spPr>
          <a:xfrm>
            <a:off x="889000" y="4241800"/>
            <a:ext cx="10160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0C02C9-DCE4-2196-FB61-C9B1ABCF13CF}"/>
              </a:ext>
            </a:extLst>
          </p:cNvPr>
          <p:cNvSpPr txBox="1"/>
          <p:nvPr/>
        </p:nvSpPr>
        <p:spPr>
          <a:xfrm>
            <a:off x="1168400" y="4368800"/>
            <a:ext cx="1841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 b="1">
                <a:solidFill>
                  <a:srgbClr val="25A1A9"/>
                </a:solidFill>
                <a:latin typeface="Aptos" panose="020B0004020202020204" pitchFamily="34" charset="0"/>
              </a:rPr>
              <a:t>Публикуване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C405B-043E-1E12-63A5-E603574846CF}"/>
              </a:ext>
            </a:extLst>
          </p:cNvPr>
          <p:cNvSpPr txBox="1"/>
          <p:nvPr/>
        </p:nvSpPr>
        <p:spPr>
          <a:xfrm>
            <a:off x="3111500" y="4368800"/>
            <a:ext cx="711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111827"/>
                </a:solidFill>
                <a:latin typeface="Aptos" panose="020B0004020202020204" pitchFamily="34" charset="0"/>
              </a:rPr>
              <a:t>backend </a:t>
            </a:r>
            <a:r>
              <a:rPr lang="bg-BG" sz="1100">
                <a:solidFill>
                  <a:srgbClr val="111827"/>
                </a:solidFill>
                <a:latin typeface="Aptos" panose="020B0004020202020204" pitchFamily="34" charset="0"/>
              </a:rPr>
              <a:t>в </a:t>
            </a:r>
            <a:r>
              <a:rPr lang="en-US" sz="1100">
                <a:solidFill>
                  <a:srgbClr val="111827"/>
                </a:solidFill>
                <a:latin typeface="Aptos" panose="020B0004020202020204" pitchFamily="34" charset="0"/>
              </a:rPr>
              <a:t>Render, </a:t>
            </a:r>
            <a:r>
              <a:rPr lang="bg-BG" sz="1100">
                <a:solidFill>
                  <a:srgbClr val="111827"/>
                </a:solidFill>
                <a:latin typeface="Aptos" panose="020B0004020202020204" pitchFamily="34" charset="0"/>
              </a:rPr>
              <a:t>база в </a:t>
            </a:r>
            <a:r>
              <a:rPr lang="en-US" sz="1100">
                <a:solidFill>
                  <a:srgbClr val="111827"/>
                </a:solidFill>
                <a:latin typeface="Aptos" panose="020B0004020202020204" pitchFamily="34" charset="0"/>
              </a:rPr>
              <a:t>Supabase, APK </a:t>
            </a:r>
            <a:r>
              <a:rPr lang="bg-BG" sz="1100">
                <a:solidFill>
                  <a:srgbClr val="111827"/>
                </a:solidFill>
                <a:latin typeface="Aptos" panose="020B0004020202020204" pitchFamily="34" charset="0"/>
              </a:rPr>
              <a:t>за инсталация чрез линк/</a:t>
            </a:r>
            <a:r>
              <a:rPr lang="en-US" sz="1100">
                <a:solidFill>
                  <a:srgbClr val="111827"/>
                </a:solidFill>
                <a:latin typeface="Aptos" panose="020B0004020202020204" pitchFamily="34" charset="0"/>
              </a:rPr>
              <a:t>QR</a:t>
            </a:r>
            <a:endParaRPr lang="bg-BG" sz="11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1A54BE-FFAF-38FE-3D3D-5D51590BB1E4}"/>
              </a:ext>
            </a:extLst>
          </p:cNvPr>
          <p:cNvSpPr/>
          <p:nvPr/>
        </p:nvSpPr>
        <p:spPr>
          <a:xfrm>
            <a:off x="889000" y="4978400"/>
            <a:ext cx="10160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5F21EB-4661-794B-296D-9D3C21BA1D1E}"/>
              </a:ext>
            </a:extLst>
          </p:cNvPr>
          <p:cNvSpPr txBox="1"/>
          <p:nvPr/>
        </p:nvSpPr>
        <p:spPr>
          <a:xfrm>
            <a:off x="1168400" y="5105400"/>
            <a:ext cx="1841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 b="1">
                <a:solidFill>
                  <a:srgbClr val="25A1A9"/>
                </a:solidFill>
                <a:latin typeface="Aptos" panose="020B0004020202020204" pitchFamily="34" charset="0"/>
              </a:rPr>
              <a:t>Тестване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075EE3-385E-62D6-6176-85597F7F9840}"/>
              </a:ext>
            </a:extLst>
          </p:cNvPr>
          <p:cNvSpPr txBox="1"/>
          <p:nvPr/>
        </p:nvSpPr>
        <p:spPr>
          <a:xfrm>
            <a:off x="3111500" y="5105400"/>
            <a:ext cx="711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100">
                <a:solidFill>
                  <a:srgbClr val="111827"/>
                </a:solidFill>
                <a:latin typeface="Aptos" panose="020B0004020202020204" pitchFamily="34" charset="0"/>
              </a:rPr>
              <a:t>проверка с два акаунта, покани, приемане, филтриране, гласуване и история</a:t>
            </a:r>
            <a:endParaRPr lang="bg-BG" sz="11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C8DC48-7D62-D314-496D-7643682B48B8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4E97AC-501A-5E30-C8F8-3B13C9B498AC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62301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D7F3C4-8212-8B7B-368E-81E9241AC0E5}"/>
              </a:ext>
            </a:extLst>
          </p:cNvPr>
          <p:cNvSpPr txBox="1"/>
          <p:nvPr/>
        </p:nvSpPr>
        <p:spPr>
          <a:xfrm>
            <a:off x="685800" y="4064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64748B"/>
                </a:solidFill>
                <a:latin typeface="Aptos" panose="020B0004020202020204" pitchFamily="34" charset="0"/>
              </a:rPr>
              <a:t>РАЗВИТИЕ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85205-02A6-397B-BD4B-A1F89D409F24}"/>
              </a:ext>
            </a:extLst>
          </p:cNvPr>
          <p:cNvSpPr txBox="1"/>
          <p:nvPr/>
        </p:nvSpPr>
        <p:spPr>
          <a:xfrm>
            <a:off x="685800" y="698500"/>
            <a:ext cx="965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000" b="1">
                <a:solidFill>
                  <a:srgbClr val="111827"/>
                </a:solidFill>
                <a:latin typeface="Aptos" panose="020B0004020202020204" pitchFamily="34" charset="0"/>
              </a:rPr>
              <a:t>Следващите стъпки превръщат прототипа в публичен продукт</a:t>
            </a:r>
            <a:endParaRPr lang="bg-BG" sz="30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C0A43C-6550-91A7-2D57-63BF56684D37}"/>
              </a:ext>
            </a:extLst>
          </p:cNvPr>
          <p:cNvSpPr txBox="1"/>
          <p:nvPr/>
        </p:nvSpPr>
        <p:spPr>
          <a:xfrm>
            <a:off x="711200" y="1333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200">
                <a:solidFill>
                  <a:srgbClr val="64748B"/>
                </a:solidFill>
                <a:latin typeface="Aptos" panose="020B0004020202020204" pitchFamily="34" charset="0"/>
              </a:rPr>
              <a:t>Архитектурата позволява постепенно добавяне на нови функции.</a:t>
            </a:r>
            <a:endParaRPr lang="bg-BG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7378C1-5F96-F643-4E1A-F13E2F774F5A}"/>
              </a:ext>
            </a:extLst>
          </p:cNvPr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F69EFD-66A3-515B-8429-D66FDB550356}"/>
              </a:ext>
            </a:extLst>
          </p:cNvPr>
          <p:cNvSpPr/>
          <p:nvPr/>
        </p:nvSpPr>
        <p:spPr>
          <a:xfrm>
            <a:off x="889000" y="1968500"/>
            <a:ext cx="495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21120-414A-846D-F875-3C88AD56A844}"/>
              </a:ext>
            </a:extLst>
          </p:cNvPr>
          <p:cNvSpPr txBox="1"/>
          <p:nvPr/>
        </p:nvSpPr>
        <p:spPr>
          <a:xfrm>
            <a:off x="1117600" y="2120900"/>
            <a:ext cx="330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 b="1">
                <a:solidFill>
                  <a:srgbClr val="111827"/>
                </a:solidFill>
                <a:latin typeface="Aptos" panose="020B0004020202020204" pitchFamily="34" charset="0"/>
              </a:rPr>
              <a:t>Разширяване на базата данни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361E3-0BE2-7F45-6FCC-F2A4327B4F46}"/>
              </a:ext>
            </a:extLst>
          </p:cNvPr>
          <p:cNvSpPr txBox="1"/>
          <p:nvPr/>
        </p:nvSpPr>
        <p:spPr>
          <a:xfrm>
            <a:off x="1117600" y="2400300"/>
            <a:ext cx="419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64748B"/>
                </a:solidFill>
                <a:latin typeface="Aptos" panose="020B0004020202020204" pitchFamily="34" charset="0"/>
              </a:rPr>
              <a:t>повече реални филми, ресторанти, рецепти и игри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329EE4-7798-8D59-6240-28FECF4EA204}"/>
              </a:ext>
            </a:extLst>
          </p:cNvPr>
          <p:cNvSpPr/>
          <p:nvPr/>
        </p:nvSpPr>
        <p:spPr>
          <a:xfrm>
            <a:off x="6350000" y="1968500"/>
            <a:ext cx="495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DE48B2-B055-2328-DB7D-24549B4AF690}"/>
              </a:ext>
            </a:extLst>
          </p:cNvPr>
          <p:cNvSpPr txBox="1"/>
          <p:nvPr/>
        </p:nvSpPr>
        <p:spPr>
          <a:xfrm>
            <a:off x="6578600" y="2120900"/>
            <a:ext cx="330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 b="1">
                <a:solidFill>
                  <a:srgbClr val="111827"/>
                </a:solidFill>
                <a:latin typeface="Aptos" panose="020B0004020202020204" pitchFamily="34" charset="0"/>
              </a:rPr>
              <a:t>Профилни снимки от устройство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3B5DA5-BFA7-CF49-392A-1DF16FD19131}"/>
              </a:ext>
            </a:extLst>
          </p:cNvPr>
          <p:cNvSpPr txBox="1"/>
          <p:nvPr/>
        </p:nvSpPr>
        <p:spPr>
          <a:xfrm>
            <a:off x="6578600" y="2400300"/>
            <a:ext cx="419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64748B"/>
                </a:solidFill>
                <a:latin typeface="Aptos" panose="020B0004020202020204" pitchFamily="34" charset="0"/>
              </a:rPr>
              <a:t>качване директно от телефона вместо само URL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8080F4-D094-6CFE-6B7D-740B33744C92}"/>
              </a:ext>
            </a:extLst>
          </p:cNvPr>
          <p:cNvSpPr/>
          <p:nvPr/>
        </p:nvSpPr>
        <p:spPr>
          <a:xfrm>
            <a:off x="889000" y="3060700"/>
            <a:ext cx="495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73F2B2-562C-3EEB-2190-CC7305BDDC14}"/>
              </a:ext>
            </a:extLst>
          </p:cNvPr>
          <p:cNvSpPr txBox="1"/>
          <p:nvPr/>
        </p:nvSpPr>
        <p:spPr>
          <a:xfrm>
            <a:off x="1117600" y="3213100"/>
            <a:ext cx="330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11827"/>
                </a:solidFill>
                <a:latin typeface="Aptos" panose="020B0004020202020204" pitchFamily="34" charset="0"/>
              </a:rPr>
              <a:t>Google Play / App Store</a:t>
            </a:r>
            <a:endParaRPr lang="bg-BG" sz="14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2E9CA5-39C0-A92E-CF95-5370C80ABE1D}"/>
              </a:ext>
            </a:extLst>
          </p:cNvPr>
          <p:cNvSpPr txBox="1"/>
          <p:nvPr/>
        </p:nvSpPr>
        <p:spPr>
          <a:xfrm>
            <a:off x="1117600" y="3492500"/>
            <a:ext cx="419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</a:rPr>
              <a:t>подписан release build, store listing и privacy policy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46F8FD-46DA-47E7-2DC9-172858D3A5E7}"/>
              </a:ext>
            </a:extLst>
          </p:cNvPr>
          <p:cNvSpPr/>
          <p:nvPr/>
        </p:nvSpPr>
        <p:spPr>
          <a:xfrm>
            <a:off x="6350000" y="3060700"/>
            <a:ext cx="495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030294-669F-2760-F049-CA89D4A0B9FE}"/>
              </a:ext>
            </a:extLst>
          </p:cNvPr>
          <p:cNvSpPr txBox="1"/>
          <p:nvPr/>
        </p:nvSpPr>
        <p:spPr>
          <a:xfrm>
            <a:off x="6578600" y="3213100"/>
            <a:ext cx="330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11827"/>
                </a:solidFill>
                <a:latin typeface="Aptos" panose="020B0004020202020204" pitchFamily="34" charset="0"/>
              </a:rPr>
              <a:t>Realtime </a:t>
            </a:r>
            <a:r>
              <a:rPr lang="bg-BG" sz="1400" b="1">
                <a:solidFill>
                  <a:srgbClr val="111827"/>
                </a:solidFill>
                <a:latin typeface="Aptos" panose="020B0004020202020204" pitchFamily="34" charset="0"/>
              </a:rPr>
              <a:t>известия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1B84C9-FB16-987C-98F3-5F6AE988BA6A}"/>
              </a:ext>
            </a:extLst>
          </p:cNvPr>
          <p:cNvSpPr txBox="1"/>
          <p:nvPr/>
        </p:nvSpPr>
        <p:spPr>
          <a:xfrm>
            <a:off x="6578600" y="3492500"/>
            <a:ext cx="419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64748B"/>
                </a:solidFill>
                <a:latin typeface="Aptos" panose="020B0004020202020204" pitchFamily="34" charset="0"/>
              </a:rPr>
              <a:t>покани и match резултати чрез push или SignalR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CE8BBA-BB6B-4A6A-610C-362B7A92C453}"/>
              </a:ext>
            </a:extLst>
          </p:cNvPr>
          <p:cNvSpPr/>
          <p:nvPr/>
        </p:nvSpPr>
        <p:spPr>
          <a:xfrm>
            <a:off x="889000" y="4152900"/>
            <a:ext cx="495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73D976-4A18-DB30-121D-94A1F5393204}"/>
              </a:ext>
            </a:extLst>
          </p:cNvPr>
          <p:cNvSpPr txBox="1"/>
          <p:nvPr/>
        </p:nvSpPr>
        <p:spPr>
          <a:xfrm>
            <a:off x="1117600" y="4305300"/>
            <a:ext cx="330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 b="1">
                <a:solidFill>
                  <a:srgbClr val="111827"/>
                </a:solidFill>
                <a:latin typeface="Aptos" panose="020B0004020202020204" pitchFamily="34" charset="0"/>
              </a:rPr>
              <a:t>По-богат </a:t>
            </a:r>
            <a:r>
              <a:rPr lang="en-US" sz="1400" b="1">
                <a:solidFill>
                  <a:srgbClr val="111827"/>
                </a:solidFill>
                <a:latin typeface="Aptos" panose="020B0004020202020204" pitchFamily="34" charset="0"/>
              </a:rPr>
              <a:t>admin </a:t>
            </a:r>
            <a:r>
              <a:rPr lang="bg-BG" sz="1400" b="1">
                <a:solidFill>
                  <a:srgbClr val="111827"/>
                </a:solidFill>
                <a:latin typeface="Aptos" panose="020B0004020202020204" pitchFamily="34" charset="0"/>
              </a:rPr>
              <a:t>панел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3DD399-C3AD-0D7A-B683-C67AD7C645EE}"/>
              </a:ext>
            </a:extLst>
          </p:cNvPr>
          <p:cNvSpPr txBox="1"/>
          <p:nvPr/>
        </p:nvSpPr>
        <p:spPr>
          <a:xfrm>
            <a:off x="1117600" y="4584700"/>
            <a:ext cx="419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900">
                <a:solidFill>
                  <a:srgbClr val="64748B"/>
                </a:solidFill>
                <a:latin typeface="Aptos" panose="020B0004020202020204" pitchFamily="34" charset="0"/>
              </a:rPr>
              <a:t>детайлен преглед на профили, сесии и каталог</a:t>
            </a:r>
            <a:endParaRPr lang="bg-BG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C0F63C6-4CB3-1ADF-7474-67B248D03538}"/>
              </a:ext>
            </a:extLst>
          </p:cNvPr>
          <p:cNvSpPr/>
          <p:nvPr/>
        </p:nvSpPr>
        <p:spPr>
          <a:xfrm>
            <a:off x="6350000" y="4152900"/>
            <a:ext cx="495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852302-C30D-873B-F546-B84FB31FACA0}"/>
              </a:ext>
            </a:extLst>
          </p:cNvPr>
          <p:cNvSpPr txBox="1"/>
          <p:nvPr/>
        </p:nvSpPr>
        <p:spPr>
          <a:xfrm>
            <a:off x="6578600" y="4305300"/>
            <a:ext cx="330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 b="1">
                <a:solidFill>
                  <a:srgbClr val="111827"/>
                </a:solidFill>
                <a:latin typeface="Aptos" panose="020B0004020202020204" pitchFamily="34" charset="0"/>
              </a:rPr>
              <a:t>Препоръчващ алгоритъм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75B74A-6FC6-3C51-C290-4A6E784A7EEE}"/>
              </a:ext>
            </a:extLst>
          </p:cNvPr>
          <p:cNvSpPr txBox="1"/>
          <p:nvPr/>
        </p:nvSpPr>
        <p:spPr>
          <a:xfrm>
            <a:off x="6578600" y="4584700"/>
            <a:ext cx="419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900">
                <a:solidFill>
                  <a:srgbClr val="64748B"/>
                </a:solidFill>
                <a:latin typeface="Aptos" panose="020B0004020202020204" pitchFamily="34" charset="0"/>
              </a:rPr>
              <a:t>подреждане според предишни предпочитания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C0FBD8-7E28-7F07-C9E3-B9D1EC90FF86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A7F28C-99AF-401A-5709-24E9A6BA1785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177439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761A9E-847C-45A4-081B-F526D71EC9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646"/>
          </a:solidFill>
          <a:ln w="12700">
            <a:solidFill>
              <a:srgbClr val="0B3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BA548-26B0-75CE-2088-6E2345345F9C}"/>
              </a:ext>
            </a:extLst>
          </p:cNvPr>
          <p:cNvSpPr txBox="1"/>
          <p:nvPr/>
        </p:nvSpPr>
        <p:spPr>
          <a:xfrm>
            <a:off x="787400" y="736600"/>
            <a:ext cx="1397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00" b="1">
                <a:solidFill>
                  <a:srgbClr val="4DD6E1"/>
                </a:solidFill>
                <a:latin typeface="Aptos" panose="020B0004020202020204" pitchFamily="34" charset="0"/>
              </a:rPr>
              <a:t>ФИНАЛ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9C27B-6979-AF24-9C49-0CE00032A1F0}"/>
              </a:ext>
            </a:extLst>
          </p:cNvPr>
          <p:cNvSpPr txBox="1"/>
          <p:nvPr/>
        </p:nvSpPr>
        <p:spPr>
          <a:xfrm>
            <a:off x="787400" y="1320800"/>
            <a:ext cx="7874000" cy="12926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4200" b="1">
                <a:solidFill>
                  <a:srgbClr val="FFFFFF"/>
                </a:solidFill>
                <a:latin typeface="Aptos" panose="020B0004020202020204" pitchFamily="34" charset="0"/>
              </a:rPr>
              <a:t>Демонстрация и линк към проекта</a:t>
            </a:r>
            <a:endParaRPr lang="bg-BG" sz="4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DF7E2-A13E-6081-274D-95EB44B65F1B}"/>
              </a:ext>
            </a:extLst>
          </p:cNvPr>
          <p:cNvSpPr txBox="1"/>
          <p:nvPr/>
        </p:nvSpPr>
        <p:spPr>
          <a:xfrm>
            <a:off x="838200" y="2463800"/>
            <a:ext cx="660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sv-SE" sz="1700">
                <a:solidFill>
                  <a:srgbClr val="D6E2E8"/>
                </a:solidFill>
                <a:latin typeface="Aptos" panose="020B0004020202020204" pitchFamily="34" charset="0"/>
              </a:rPr>
              <a:t>Backend: https://swipemate-api.onrender.com</a:t>
            </a:r>
            <a:endParaRPr lang="bg-BG" sz="1700">
              <a:solidFill>
                <a:srgbClr val="D6E2E8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B41C7-FC2E-59C7-7FED-A17BF885C76B}"/>
              </a:ext>
            </a:extLst>
          </p:cNvPr>
          <p:cNvSpPr txBox="1"/>
          <p:nvPr/>
        </p:nvSpPr>
        <p:spPr>
          <a:xfrm>
            <a:off x="838200" y="2921000"/>
            <a:ext cx="787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700">
                <a:solidFill>
                  <a:srgbClr val="D6E2E8"/>
                </a:solidFill>
                <a:latin typeface="Aptos" panose="020B0004020202020204" pitchFamily="34" charset="0"/>
              </a:rPr>
              <a:t>APK / GitHub / QR код: добавя се финалният линк преди представянето.</a:t>
            </a:r>
            <a:endParaRPr lang="bg-BG" sz="1700">
              <a:solidFill>
                <a:srgbClr val="D6E2E8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F45E1D-04DF-5BC9-62BD-F55DA8775E08}"/>
              </a:ext>
            </a:extLst>
          </p:cNvPr>
          <p:cNvSpPr/>
          <p:nvPr/>
        </p:nvSpPr>
        <p:spPr>
          <a:xfrm>
            <a:off x="8382000" y="1676400"/>
            <a:ext cx="2413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4FDDF-B249-7C57-F768-CA4B96005A38}"/>
              </a:ext>
            </a:extLst>
          </p:cNvPr>
          <p:cNvSpPr txBox="1"/>
          <p:nvPr/>
        </p:nvSpPr>
        <p:spPr>
          <a:xfrm>
            <a:off x="9169400" y="2387600"/>
            <a:ext cx="889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4800" b="1">
                <a:solidFill>
                  <a:srgbClr val="0B3646"/>
                </a:solidFill>
                <a:latin typeface="Aptos" panose="020B0004020202020204" pitchFamily="34" charset="0"/>
              </a:rPr>
              <a:t>QR</a:t>
            </a:r>
            <a:endParaRPr lang="bg-BG" sz="4800" b="1">
              <a:solidFill>
                <a:srgbClr val="0B3646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B00E33-E951-5FBF-D1AC-2733957CF296}"/>
              </a:ext>
            </a:extLst>
          </p:cNvPr>
          <p:cNvSpPr txBox="1"/>
          <p:nvPr/>
        </p:nvSpPr>
        <p:spPr>
          <a:xfrm>
            <a:off x="8864600" y="3403600"/>
            <a:ext cx="139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100">
                <a:solidFill>
                  <a:srgbClr val="64748B"/>
                </a:solidFill>
                <a:latin typeface="Aptos" panose="020B0004020202020204" pitchFamily="34" charset="0"/>
              </a:rPr>
              <a:t>Място за </a:t>
            </a:r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QR </a:t>
            </a:r>
            <a:r>
              <a:rPr lang="bg-BG" sz="1100">
                <a:solidFill>
                  <a:srgbClr val="64748B"/>
                </a:solidFill>
                <a:latin typeface="Aptos" panose="020B0004020202020204" pitchFamily="34" charset="0"/>
              </a:rPr>
              <a:t>код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89EB9-C870-813A-7346-3BDD64A87079}"/>
              </a:ext>
            </a:extLst>
          </p:cNvPr>
          <p:cNvSpPr txBox="1"/>
          <p:nvPr/>
        </p:nvSpPr>
        <p:spPr>
          <a:xfrm>
            <a:off x="838200" y="4927600"/>
            <a:ext cx="5461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800" b="1">
                <a:solidFill>
                  <a:srgbClr val="4DD6E1"/>
                </a:solidFill>
                <a:latin typeface="Aptos" panose="020B0004020202020204" pitchFamily="34" charset="0"/>
              </a:rPr>
              <a:t>Благодаря за вниманието!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B6C68-A535-171B-2380-CAD01C5F73F8}"/>
              </a:ext>
            </a:extLst>
          </p:cNvPr>
          <p:cNvSpPr txBox="1"/>
          <p:nvPr/>
        </p:nvSpPr>
        <p:spPr>
          <a:xfrm>
            <a:off x="838200" y="54610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>
                <a:solidFill>
                  <a:srgbClr val="FFFFFF"/>
                </a:solidFill>
                <a:latin typeface="Aptos" panose="020B0004020202020204" pitchFamily="34" charset="0"/>
              </a:rPr>
              <a:t>Въпроси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BD4C9-39C6-E758-4C3D-BEA5B596F178}"/>
              </a:ext>
            </a:extLst>
          </p:cNvPr>
          <p:cNvSpPr txBox="1"/>
          <p:nvPr/>
        </p:nvSpPr>
        <p:spPr>
          <a:xfrm>
            <a:off x="685800" y="65024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</a:rPr>
              <a:t>SwipeMate | </a:t>
            </a:r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805A65-1069-BAB6-8C48-595878A766B0}"/>
              </a:ext>
            </a:extLst>
          </p:cNvPr>
          <p:cNvSpPr txBox="1"/>
          <p:nvPr/>
        </p:nvSpPr>
        <p:spPr>
          <a:xfrm>
            <a:off x="11430000" y="650240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800">
                <a:solidFill>
                  <a:srgbClr val="64748B"/>
                </a:solidFill>
                <a:latin typeface="Aptos" panose="020B0004020202020204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832023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</Words>
  <Application>Microsoft Office PowerPoint</Application>
  <PresentationFormat>Custom</PresentationFormat>
  <Paragraphs>325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Ivailaf</dc:creator>
  <cp:lastModifiedBy>Ivailaf</cp:lastModifiedBy>
  <cp:revision>1</cp:revision>
  <dcterms:created xsi:type="dcterms:W3CDTF">2026-05-31T21:33:27Z</dcterms:created>
  <dcterms:modified xsi:type="dcterms:W3CDTF">2026-05-31T21:33:28Z</dcterms:modified>
</cp:coreProperties>
</file>